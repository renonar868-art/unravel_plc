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890.xml" ContentType="application/vnd.openxmlformats-officedocument.presentationml.tags+xml"/>
  <Override PartName="/ppt/tags/tag910.xml" ContentType="application/vnd.openxmlformats-officedocument.presentationml.tags+xml"/>
  <Override PartName="/ppt/tags/tag930.xml" ContentType="application/vnd.openxmlformats-officedocument.presentationml.tags+xml"/>
  <Override PartName="/ppt/tags/tag95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 id="2147483704" r:id="rId4"/>
  </p:sldMasterIdLst>
  <p:sldIdLst>
    <p:sldId id="600" r:id="rId5"/>
    <p:sldId id="257" r:id="rId6"/>
    <p:sldId id="521" r:id="rId7"/>
    <p:sldId id="287" r:id="rId8"/>
    <p:sldId id="258" r:id="rId9"/>
    <p:sldId id="288" r:id="rId10"/>
    <p:sldId id="289" r:id="rId11"/>
    <p:sldId id="306" r:id="rId12"/>
    <p:sldId id="290" r:id="rId13"/>
    <p:sldId id="291" r:id="rId14"/>
    <p:sldId id="292" r:id="rId15"/>
    <p:sldId id="293" r:id="rId16"/>
    <p:sldId id="259" r:id="rId17"/>
    <p:sldId id="377" r:id="rId18"/>
    <p:sldId id="294" r:id="rId19"/>
    <p:sldId id="260" r:id="rId20"/>
    <p:sldId id="261" r:id="rId21"/>
    <p:sldId id="295" r:id="rId22"/>
    <p:sldId id="296" r:id="rId23"/>
    <p:sldId id="262" r:id="rId24"/>
    <p:sldId id="263" r:id="rId25"/>
    <p:sldId id="264" r:id="rId26"/>
    <p:sldId id="265" r:id="rId27"/>
    <p:sldId id="266" r:id="rId28"/>
    <p:sldId id="267" r:id="rId29"/>
    <p:sldId id="298" r:id="rId30"/>
    <p:sldId id="523" r:id="rId31"/>
    <p:sldId id="297" r:id="rId32"/>
    <p:sldId id="299" r:id="rId33"/>
    <p:sldId id="684" r:id="rId34"/>
    <p:sldId id="300" r:id="rId35"/>
    <p:sldId id="268" r:id="rId36"/>
    <p:sldId id="321" r:id="rId37"/>
    <p:sldId id="301" r:id="rId38"/>
    <p:sldId id="302" r:id="rId39"/>
    <p:sldId id="270" r:id="rId40"/>
    <p:sldId id="271" r:id="rId41"/>
    <p:sldId id="272" r:id="rId42"/>
    <p:sldId id="322" r:id="rId43"/>
    <p:sldId id="378" r:id="rId44"/>
    <p:sldId id="379" r:id="rId45"/>
    <p:sldId id="380" r:id="rId46"/>
    <p:sldId id="278" r:id="rId47"/>
    <p:sldId id="482" r:id="rId48"/>
    <p:sldId id="483" r:id="rId49"/>
    <p:sldId id="454" r:id="rId50"/>
    <p:sldId id="427" r:id="rId51"/>
    <p:sldId id="428" r:id="rId52"/>
    <p:sldId id="429" r:id="rId53"/>
    <p:sldId id="430" r:id="rId54"/>
    <p:sldId id="431" r:id="rId55"/>
    <p:sldId id="432" r:id="rId56"/>
    <p:sldId id="433" r:id="rId57"/>
    <p:sldId id="434" r:id="rId58"/>
    <p:sldId id="435" r:id="rId59"/>
    <p:sldId id="436" r:id="rId60"/>
    <p:sldId id="437" r:id="rId61"/>
    <p:sldId id="526" r:id="rId62"/>
    <p:sldId id="742" r:id="rId63"/>
    <p:sldId id="307" r:id="rId64"/>
    <p:sldId id="280" r:id="rId65"/>
    <p:sldId id="309" r:id="rId66"/>
    <p:sldId id="519" r:id="rId67"/>
    <p:sldId id="520" r:id="rId68"/>
    <p:sldId id="773" r:id="rId69"/>
    <p:sldId id="310" r:id="rId70"/>
    <p:sldId id="281" r:id="rId71"/>
    <p:sldId id="311" r:id="rId72"/>
    <p:sldId id="312" r:id="rId73"/>
    <p:sldId id="282" r:id="rId74"/>
    <p:sldId id="313" r:id="rId75"/>
    <p:sldId id="527" r:id="rId76"/>
    <p:sldId id="283" r:id="rId77"/>
    <p:sldId id="314" r:id="rId78"/>
    <p:sldId id="681" r:id="rId79"/>
    <p:sldId id="682" r:id="rId80"/>
    <p:sldId id="683" r:id="rId81"/>
    <p:sldId id="512" r:id="rId82"/>
    <p:sldId id="511" r:id="rId83"/>
    <p:sldId id="315" r:id="rId84"/>
    <p:sldId id="513" r:id="rId85"/>
    <p:sldId id="685" r:id="rId86"/>
    <p:sldId id="686" r:id="rId87"/>
    <p:sldId id="687" r:id="rId88"/>
    <p:sldId id="743" r:id="rId89"/>
    <p:sldId id="688" r:id="rId90"/>
    <p:sldId id="689" r:id="rId91"/>
    <p:sldId id="745" r:id="rId92"/>
    <p:sldId id="525" r:id="rId93"/>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02" d="100"/>
          <a:sy n="102" d="100"/>
        </p:scale>
        <p:origin x="276" y="102"/>
      </p:cViewPr>
      <p:guideLst>
        <p:guide orient="horz" pos="2119"/>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5122" name="Group 2"/>
          <p:cNvGrpSpPr/>
          <p:nvPr/>
        </p:nvGrpSpPr>
        <p:grpSpPr>
          <a:xfrm>
            <a:off x="0" y="0"/>
            <a:ext cx="9144000" cy="6858000"/>
            <a:chOff x="0" y="0"/>
            <a:chExt cx="5760" cy="4320"/>
          </a:xfrm>
        </p:grpSpPr>
        <p:sp>
          <p:nvSpPr>
            <p:cNvPr id="5123"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sz="2400" dirty="0">
                <a:latin typeface="Times New Roman" panose="02020603050405020304" pitchFamily="18" charset="0"/>
                <a:ea typeface="宋体" panose="02010600030101010101" pitchFamily="2" charset="-122"/>
              </a:endParaRPr>
            </a:p>
          </p:txBody>
        </p:sp>
        <p:sp>
          <p:nvSpPr>
            <p:cNvPr id="5124" name="Rectangle 4"/>
            <p:cNvSpPr/>
            <p:nvPr/>
          </p:nvSpPr>
          <p:spPr>
            <a:xfrm>
              <a:off x="1081" y="1065"/>
              <a:ext cx="4679" cy="1596"/>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grpSp>
          <p:nvGrpSpPr>
            <p:cNvPr id="5125" name="Group 5"/>
            <p:cNvGrpSpPr/>
            <p:nvPr/>
          </p:nvGrpSpPr>
          <p:grpSpPr>
            <a:xfrm>
              <a:off x="0" y="672"/>
              <a:ext cx="1806" cy="1989"/>
              <a:chOff x="0" y="672"/>
              <a:chExt cx="1806" cy="1989"/>
            </a:xfrm>
          </p:grpSpPr>
          <p:sp>
            <p:nvSpPr>
              <p:cNvPr id="5126" name="Rectangle 6"/>
              <p:cNvSpPr/>
              <p:nvPr userDrawn="1"/>
            </p:nvSpPr>
            <p:spPr>
              <a:xfrm>
                <a:off x="361" y="2257"/>
                <a:ext cx="363" cy="404"/>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27" name="Rectangle 7"/>
              <p:cNvSpPr/>
              <p:nvPr userDrawn="1"/>
            </p:nvSpPr>
            <p:spPr>
              <a:xfrm>
                <a:off x="1081" y="1065"/>
                <a:ext cx="362" cy="405"/>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28" name="Rectangle 8"/>
              <p:cNvSpPr/>
              <p:nvPr userDrawn="1"/>
            </p:nvSpPr>
            <p:spPr>
              <a:xfrm>
                <a:off x="1437" y="672"/>
                <a:ext cx="369" cy="400"/>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29" name="Rectangle 9"/>
              <p:cNvSpPr/>
              <p:nvPr userDrawn="1"/>
            </p:nvSpPr>
            <p:spPr>
              <a:xfrm>
                <a:off x="719" y="2257"/>
                <a:ext cx="368" cy="404"/>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0" name="Rectangle 10"/>
              <p:cNvSpPr/>
              <p:nvPr userDrawn="1"/>
            </p:nvSpPr>
            <p:spPr>
              <a:xfrm>
                <a:off x="1437" y="1065"/>
                <a:ext cx="369" cy="405"/>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1" name="Rectangle 11"/>
              <p:cNvSpPr/>
              <p:nvPr userDrawn="1"/>
            </p:nvSpPr>
            <p:spPr>
              <a:xfrm>
                <a:off x="719" y="1464"/>
                <a:ext cx="368" cy="399"/>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2" name="Rectangle 12"/>
              <p:cNvSpPr/>
              <p:nvPr userDrawn="1"/>
            </p:nvSpPr>
            <p:spPr>
              <a:xfrm>
                <a:off x="0" y="1464"/>
                <a:ext cx="367" cy="399"/>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3" name="Rectangle 13"/>
              <p:cNvSpPr/>
              <p:nvPr userDrawn="1"/>
            </p:nvSpPr>
            <p:spPr>
              <a:xfrm>
                <a:off x="1081" y="1464"/>
                <a:ext cx="362" cy="399"/>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4" name="Rectangle 14"/>
              <p:cNvSpPr/>
              <p:nvPr userDrawn="1"/>
            </p:nvSpPr>
            <p:spPr>
              <a:xfrm>
                <a:off x="361" y="1857"/>
                <a:ext cx="363" cy="406"/>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5" name="Rectangle 15"/>
              <p:cNvSpPr/>
              <p:nvPr userDrawn="1"/>
            </p:nvSpPr>
            <p:spPr>
              <a:xfrm>
                <a:off x="719" y="1857"/>
                <a:ext cx="368" cy="406"/>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grpSp>
      </p:grpSp>
      <p:sp>
        <p:nvSpPr>
          <p:cNvPr id="4507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fontAlgn="base"/>
            <a:r>
              <a:rPr lang="zh-CN" altLang="en-US" strike="noStrike" noProof="0"/>
              <a:t>单击此处编辑母版标题样式</a:t>
            </a:r>
          </a:p>
        </p:txBody>
      </p:sp>
      <p:sp>
        <p:nvSpPr>
          <p:cNvPr id="4507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fontAlgn="base"/>
            <a:r>
              <a:rPr lang="zh-CN" altLang="en-US" strike="noStrike" noProof="0"/>
              <a:t>单击此处编辑母版副标题样式</a:t>
            </a:r>
          </a:p>
        </p:txBody>
      </p:sp>
      <p:sp>
        <p:nvSpPr>
          <p:cNvPr id="31" name="Rectangle 16"/>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055E1CC-0CFD-49A1-AFF6-63B5DF2F741B}"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4038600"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6146" name="Group 2"/>
          <p:cNvGrpSpPr/>
          <p:nvPr/>
        </p:nvGrpSpPr>
        <p:grpSpPr>
          <a:xfrm>
            <a:off x="0" y="0"/>
            <a:ext cx="9144000" cy="6858000"/>
            <a:chOff x="0" y="0"/>
            <a:chExt cx="5760" cy="4320"/>
          </a:xfrm>
        </p:grpSpPr>
        <p:sp>
          <p:nvSpPr>
            <p:cNvPr id="6147"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sz="2400" dirty="0">
                <a:latin typeface="Times New Roman" panose="02020603050405020304" pitchFamily="18" charset="0"/>
                <a:ea typeface="宋体" panose="02010600030101010101" pitchFamily="2" charset="-122"/>
              </a:endParaRPr>
            </a:p>
          </p:txBody>
        </p:sp>
        <p:sp>
          <p:nvSpPr>
            <p:cNvPr id="6148" name="Rectangle 4"/>
            <p:cNvSpPr/>
            <p:nvPr/>
          </p:nvSpPr>
          <p:spPr>
            <a:xfrm>
              <a:off x="1081" y="1065"/>
              <a:ext cx="4679" cy="1596"/>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grpSp>
          <p:nvGrpSpPr>
            <p:cNvPr id="6149" name="Group 5"/>
            <p:cNvGrpSpPr/>
            <p:nvPr/>
          </p:nvGrpSpPr>
          <p:grpSpPr>
            <a:xfrm>
              <a:off x="0" y="672"/>
              <a:ext cx="1806" cy="1989"/>
              <a:chOff x="0" y="672"/>
              <a:chExt cx="1806" cy="1989"/>
            </a:xfrm>
          </p:grpSpPr>
          <p:sp>
            <p:nvSpPr>
              <p:cNvPr id="6150" name="Rectangle 6"/>
              <p:cNvSpPr/>
              <p:nvPr userDrawn="1"/>
            </p:nvSpPr>
            <p:spPr>
              <a:xfrm>
                <a:off x="361" y="2257"/>
                <a:ext cx="363" cy="404"/>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6151" name="Rectangle 7"/>
              <p:cNvSpPr/>
              <p:nvPr userDrawn="1"/>
            </p:nvSpPr>
            <p:spPr>
              <a:xfrm>
                <a:off x="1081" y="1065"/>
                <a:ext cx="362" cy="405"/>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6152" name="Rectangle 8"/>
              <p:cNvSpPr/>
              <p:nvPr userDrawn="1"/>
            </p:nvSpPr>
            <p:spPr>
              <a:xfrm>
                <a:off x="1437" y="672"/>
                <a:ext cx="369" cy="400"/>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6153" name="Rectangle 9"/>
              <p:cNvSpPr/>
              <p:nvPr userDrawn="1"/>
            </p:nvSpPr>
            <p:spPr>
              <a:xfrm>
                <a:off x="719" y="2257"/>
                <a:ext cx="368" cy="404"/>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6154" name="Rectangle 10"/>
              <p:cNvSpPr/>
              <p:nvPr userDrawn="1"/>
            </p:nvSpPr>
            <p:spPr>
              <a:xfrm>
                <a:off x="1437" y="1065"/>
                <a:ext cx="369" cy="405"/>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6155" name="Rectangle 11"/>
              <p:cNvSpPr/>
              <p:nvPr userDrawn="1"/>
            </p:nvSpPr>
            <p:spPr>
              <a:xfrm>
                <a:off x="719" y="1464"/>
                <a:ext cx="368" cy="399"/>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6156" name="Rectangle 12"/>
              <p:cNvSpPr/>
              <p:nvPr userDrawn="1"/>
            </p:nvSpPr>
            <p:spPr>
              <a:xfrm>
                <a:off x="0" y="1464"/>
                <a:ext cx="367" cy="399"/>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6157" name="Rectangle 13"/>
              <p:cNvSpPr/>
              <p:nvPr userDrawn="1"/>
            </p:nvSpPr>
            <p:spPr>
              <a:xfrm>
                <a:off x="1081" y="1464"/>
                <a:ext cx="362" cy="399"/>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6158" name="Rectangle 14"/>
              <p:cNvSpPr/>
              <p:nvPr userDrawn="1"/>
            </p:nvSpPr>
            <p:spPr>
              <a:xfrm>
                <a:off x="361" y="1857"/>
                <a:ext cx="363" cy="406"/>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6159" name="Rectangle 15"/>
              <p:cNvSpPr/>
              <p:nvPr userDrawn="1"/>
            </p:nvSpPr>
            <p:spPr>
              <a:xfrm>
                <a:off x="719" y="1857"/>
                <a:ext cx="368" cy="406"/>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grpSp>
      </p:grpSp>
      <p:sp>
        <p:nvSpPr>
          <p:cNvPr id="4507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fontAlgn="base"/>
            <a:r>
              <a:rPr lang="zh-CN" altLang="en-US" strike="noStrike" noProof="0"/>
              <a:t>单击此处编辑母版标题样式</a:t>
            </a:r>
          </a:p>
        </p:txBody>
      </p:sp>
      <p:sp>
        <p:nvSpPr>
          <p:cNvPr id="4507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fontAlgn="base"/>
            <a:r>
              <a:rPr lang="zh-CN" altLang="en-US" strike="noStrike" noProof="0"/>
              <a:t>单击此处编辑母版副标题样式</a:t>
            </a:r>
          </a:p>
        </p:txBody>
      </p:sp>
      <p:sp>
        <p:nvSpPr>
          <p:cNvPr id="31" name="Rectangle 16"/>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8DA92E5-B8CA-4748-AD49-961DA30C9888}"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4038600"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7170" name="Group 2"/>
          <p:cNvGrpSpPr/>
          <p:nvPr/>
        </p:nvGrpSpPr>
        <p:grpSpPr>
          <a:xfrm>
            <a:off x="0" y="0"/>
            <a:ext cx="9144000" cy="6858000"/>
            <a:chOff x="0" y="0"/>
            <a:chExt cx="5760" cy="4320"/>
          </a:xfrm>
        </p:grpSpPr>
        <p:sp>
          <p:nvSpPr>
            <p:cNvPr id="7171"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sz="2400" dirty="0">
                <a:latin typeface="Times New Roman" panose="02020603050405020304" pitchFamily="18" charset="0"/>
                <a:ea typeface="宋体" panose="02010600030101010101" pitchFamily="2" charset="-122"/>
              </a:endParaRPr>
            </a:p>
          </p:txBody>
        </p:sp>
        <p:sp>
          <p:nvSpPr>
            <p:cNvPr id="7172" name="Rectangle 4"/>
            <p:cNvSpPr/>
            <p:nvPr/>
          </p:nvSpPr>
          <p:spPr>
            <a:xfrm>
              <a:off x="1081" y="1065"/>
              <a:ext cx="4679" cy="1596"/>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grpSp>
          <p:nvGrpSpPr>
            <p:cNvPr id="7173" name="Group 5"/>
            <p:cNvGrpSpPr/>
            <p:nvPr/>
          </p:nvGrpSpPr>
          <p:grpSpPr>
            <a:xfrm>
              <a:off x="0" y="672"/>
              <a:ext cx="1806" cy="1989"/>
              <a:chOff x="0" y="672"/>
              <a:chExt cx="1806" cy="1989"/>
            </a:xfrm>
          </p:grpSpPr>
          <p:sp>
            <p:nvSpPr>
              <p:cNvPr id="7174" name="Rectangle 6"/>
              <p:cNvSpPr/>
              <p:nvPr userDrawn="1"/>
            </p:nvSpPr>
            <p:spPr>
              <a:xfrm>
                <a:off x="361" y="2257"/>
                <a:ext cx="363" cy="404"/>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7175" name="Rectangle 7"/>
              <p:cNvSpPr/>
              <p:nvPr userDrawn="1"/>
            </p:nvSpPr>
            <p:spPr>
              <a:xfrm>
                <a:off x="1081" y="1065"/>
                <a:ext cx="362" cy="405"/>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7176" name="Rectangle 8"/>
              <p:cNvSpPr/>
              <p:nvPr userDrawn="1"/>
            </p:nvSpPr>
            <p:spPr>
              <a:xfrm>
                <a:off x="1437" y="672"/>
                <a:ext cx="369" cy="400"/>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7177" name="Rectangle 9"/>
              <p:cNvSpPr/>
              <p:nvPr userDrawn="1"/>
            </p:nvSpPr>
            <p:spPr>
              <a:xfrm>
                <a:off x="719" y="2257"/>
                <a:ext cx="368" cy="404"/>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7178" name="Rectangle 10"/>
              <p:cNvSpPr/>
              <p:nvPr userDrawn="1"/>
            </p:nvSpPr>
            <p:spPr>
              <a:xfrm>
                <a:off x="1437" y="1065"/>
                <a:ext cx="369" cy="405"/>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7179" name="Rectangle 11"/>
              <p:cNvSpPr/>
              <p:nvPr userDrawn="1"/>
            </p:nvSpPr>
            <p:spPr>
              <a:xfrm>
                <a:off x="719" y="1464"/>
                <a:ext cx="368" cy="399"/>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7180" name="Rectangle 12"/>
              <p:cNvSpPr/>
              <p:nvPr userDrawn="1"/>
            </p:nvSpPr>
            <p:spPr>
              <a:xfrm>
                <a:off x="0" y="1464"/>
                <a:ext cx="367" cy="399"/>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7181" name="Rectangle 13"/>
              <p:cNvSpPr/>
              <p:nvPr userDrawn="1"/>
            </p:nvSpPr>
            <p:spPr>
              <a:xfrm>
                <a:off x="1081" y="1464"/>
                <a:ext cx="362" cy="399"/>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7182" name="Rectangle 14"/>
              <p:cNvSpPr/>
              <p:nvPr userDrawn="1"/>
            </p:nvSpPr>
            <p:spPr>
              <a:xfrm>
                <a:off x="361" y="1857"/>
                <a:ext cx="363" cy="406"/>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7183" name="Rectangle 15"/>
              <p:cNvSpPr/>
              <p:nvPr userDrawn="1"/>
            </p:nvSpPr>
            <p:spPr>
              <a:xfrm>
                <a:off x="719" y="1857"/>
                <a:ext cx="368" cy="406"/>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grpSp>
      </p:grpSp>
      <p:sp>
        <p:nvSpPr>
          <p:cNvPr id="4507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fontAlgn="base"/>
            <a:r>
              <a:rPr lang="zh-CN" altLang="en-US" strike="noStrike" noProof="0"/>
              <a:t>单击此处编辑母版标题样式</a:t>
            </a:r>
          </a:p>
        </p:txBody>
      </p:sp>
      <p:sp>
        <p:nvSpPr>
          <p:cNvPr id="4507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fontAlgn="base"/>
            <a:r>
              <a:rPr lang="zh-CN" altLang="en-US" strike="noStrike" noProof="0"/>
              <a:t>单击此处编辑母版副标题样式</a:t>
            </a:r>
          </a:p>
        </p:txBody>
      </p:sp>
      <p:sp>
        <p:nvSpPr>
          <p:cNvPr id="31" name="Rectangle 16"/>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6A23494-0D10-4C1F-9B32-280A2C5C5963}"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4038600"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5122" name="Group 2"/>
          <p:cNvGrpSpPr/>
          <p:nvPr/>
        </p:nvGrpSpPr>
        <p:grpSpPr>
          <a:xfrm>
            <a:off x="0" y="0"/>
            <a:ext cx="9144000" cy="6858000"/>
            <a:chOff x="0" y="0"/>
            <a:chExt cx="5760" cy="4320"/>
          </a:xfrm>
        </p:grpSpPr>
        <p:sp>
          <p:nvSpPr>
            <p:cNvPr id="5123"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sz="2400" dirty="0">
                <a:latin typeface="Times New Roman" panose="02020603050405020304" pitchFamily="18" charset="0"/>
                <a:ea typeface="宋体" panose="02010600030101010101" pitchFamily="2" charset="-122"/>
              </a:endParaRPr>
            </a:p>
          </p:txBody>
        </p:sp>
        <p:sp>
          <p:nvSpPr>
            <p:cNvPr id="5124" name="Rectangle 4"/>
            <p:cNvSpPr/>
            <p:nvPr/>
          </p:nvSpPr>
          <p:spPr>
            <a:xfrm>
              <a:off x="1081" y="1065"/>
              <a:ext cx="4679" cy="1596"/>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grpSp>
          <p:nvGrpSpPr>
            <p:cNvPr id="5125" name="Group 5"/>
            <p:cNvGrpSpPr/>
            <p:nvPr/>
          </p:nvGrpSpPr>
          <p:grpSpPr>
            <a:xfrm>
              <a:off x="0" y="672"/>
              <a:ext cx="1806" cy="1989"/>
              <a:chOff x="0" y="672"/>
              <a:chExt cx="1806" cy="1989"/>
            </a:xfrm>
          </p:grpSpPr>
          <p:sp>
            <p:nvSpPr>
              <p:cNvPr id="5126" name="Rectangle 6"/>
              <p:cNvSpPr/>
              <p:nvPr userDrawn="1"/>
            </p:nvSpPr>
            <p:spPr>
              <a:xfrm>
                <a:off x="361" y="2257"/>
                <a:ext cx="363" cy="404"/>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27" name="Rectangle 7"/>
              <p:cNvSpPr/>
              <p:nvPr userDrawn="1"/>
            </p:nvSpPr>
            <p:spPr>
              <a:xfrm>
                <a:off x="1081" y="1065"/>
                <a:ext cx="362" cy="405"/>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28" name="Rectangle 8"/>
              <p:cNvSpPr/>
              <p:nvPr userDrawn="1"/>
            </p:nvSpPr>
            <p:spPr>
              <a:xfrm>
                <a:off x="1437" y="672"/>
                <a:ext cx="369" cy="400"/>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29" name="Rectangle 9"/>
              <p:cNvSpPr/>
              <p:nvPr userDrawn="1"/>
            </p:nvSpPr>
            <p:spPr>
              <a:xfrm>
                <a:off x="719" y="2257"/>
                <a:ext cx="368" cy="404"/>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0" name="Rectangle 10"/>
              <p:cNvSpPr/>
              <p:nvPr userDrawn="1"/>
            </p:nvSpPr>
            <p:spPr>
              <a:xfrm>
                <a:off x="1437" y="1065"/>
                <a:ext cx="369" cy="405"/>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1" name="Rectangle 11"/>
              <p:cNvSpPr/>
              <p:nvPr userDrawn="1"/>
            </p:nvSpPr>
            <p:spPr>
              <a:xfrm>
                <a:off x="719" y="1464"/>
                <a:ext cx="368" cy="399"/>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2" name="Rectangle 12"/>
              <p:cNvSpPr/>
              <p:nvPr userDrawn="1"/>
            </p:nvSpPr>
            <p:spPr>
              <a:xfrm>
                <a:off x="0" y="1464"/>
                <a:ext cx="367" cy="399"/>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3" name="Rectangle 13"/>
              <p:cNvSpPr/>
              <p:nvPr userDrawn="1"/>
            </p:nvSpPr>
            <p:spPr>
              <a:xfrm>
                <a:off x="1081" y="1464"/>
                <a:ext cx="362" cy="399"/>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4" name="Rectangle 14"/>
              <p:cNvSpPr/>
              <p:nvPr userDrawn="1"/>
            </p:nvSpPr>
            <p:spPr>
              <a:xfrm>
                <a:off x="361" y="1857"/>
                <a:ext cx="363" cy="406"/>
              </a:xfrm>
              <a:prstGeom prst="rect">
                <a:avLst/>
              </a:prstGeom>
              <a:solidFill>
                <a:schemeClr val="folHlink"/>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5135" name="Rectangle 15"/>
              <p:cNvSpPr/>
              <p:nvPr userDrawn="1"/>
            </p:nvSpPr>
            <p:spPr>
              <a:xfrm>
                <a:off x="719" y="1857"/>
                <a:ext cx="368" cy="406"/>
              </a:xfrm>
              <a:prstGeom prst="rect">
                <a:avLst/>
              </a:prstGeom>
              <a:solidFill>
                <a:schemeClr val="accent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grpSp>
      </p:grpSp>
      <p:sp>
        <p:nvSpPr>
          <p:cNvPr id="4507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fontAlgn="base"/>
            <a:r>
              <a:rPr lang="zh-CN" altLang="en-US" strike="noStrike" noProof="0"/>
              <a:t>单击此处编辑母版标题样式</a:t>
            </a:r>
          </a:p>
        </p:txBody>
      </p:sp>
      <p:sp>
        <p:nvSpPr>
          <p:cNvPr id="4507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fontAlgn="base"/>
            <a:r>
              <a:rPr lang="zh-CN" altLang="en-US" strike="noStrike" noProof="0"/>
              <a:t>单击此处编辑母版副标题样式</a:t>
            </a:r>
          </a:p>
        </p:txBody>
      </p:sp>
      <p:sp>
        <p:nvSpPr>
          <p:cNvPr id="31" name="Rectangle 16"/>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055E1CC-0CFD-49A1-AFF6-63B5DF2F741B}"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4038600"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035"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noProof="1" dirty="0">
                <a:latin typeface="Arial Black" panose="020B0A040201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grpSp>
        <p:nvGrpSpPr>
          <p:cNvPr id="1028" name="Group 4"/>
          <p:cNvGrpSpPr/>
          <p:nvPr/>
        </p:nvGrpSpPr>
        <p:grpSpPr>
          <a:xfrm>
            <a:off x="0" y="0"/>
            <a:ext cx="9144000" cy="546100"/>
            <a:chOff x="0" y="0"/>
            <a:chExt cx="5760" cy="344"/>
          </a:xfrm>
        </p:grpSpPr>
        <p:sp>
          <p:nvSpPr>
            <p:cNvPr id="1029"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sz="2400" dirty="0">
                <a:latin typeface="Times New Roman" panose="02020603050405020304" pitchFamily="18" charset="0"/>
                <a:ea typeface="宋体" panose="02010600030101010101" pitchFamily="2" charset="-122"/>
              </a:endParaRPr>
            </a:p>
          </p:txBody>
        </p:sp>
        <p:sp>
          <p:nvSpPr>
            <p:cNvPr id="1030"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1031" name="Rectangle 7"/>
            <p:cNvSpPr/>
            <p:nvPr/>
          </p:nvSpPr>
          <p:spPr>
            <a:xfrm>
              <a:off x="258" y="85"/>
              <a:ext cx="87" cy="89"/>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1032" name="Rectangle 8"/>
            <p:cNvSpPr/>
            <p:nvPr/>
          </p:nvSpPr>
          <p:spPr>
            <a:xfrm>
              <a:off x="345" y="0"/>
              <a:ext cx="88" cy="87"/>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1033" name="Rectangle 9"/>
            <p:cNvSpPr/>
            <p:nvPr/>
          </p:nvSpPr>
          <p:spPr>
            <a:xfrm>
              <a:off x="345" y="85"/>
              <a:ext cx="88" cy="89"/>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sp>
          <p:nvSpPr>
            <p:cNvPr id="1034" name="Rectangle 10"/>
            <p:cNvSpPr/>
            <p:nvPr/>
          </p:nvSpPr>
          <p:spPr>
            <a:xfrm>
              <a:off x="173" y="173"/>
              <a:ext cx="86" cy="87"/>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1035" name="Rectangle 11"/>
            <p:cNvSpPr/>
            <p:nvPr/>
          </p:nvSpPr>
          <p:spPr>
            <a:xfrm>
              <a:off x="83" y="86"/>
              <a:ext cx="89" cy="87"/>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1036" name="Rectangle 12"/>
            <p:cNvSpPr/>
            <p:nvPr/>
          </p:nvSpPr>
          <p:spPr>
            <a:xfrm>
              <a:off x="258" y="171"/>
              <a:ext cx="87" cy="87"/>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sp>
          <p:nvSpPr>
            <p:cNvPr id="1037" name="Rectangle 13"/>
            <p:cNvSpPr/>
            <p:nvPr/>
          </p:nvSpPr>
          <p:spPr>
            <a:xfrm>
              <a:off x="173" y="258"/>
              <a:ext cx="86" cy="86"/>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grpSp>
      <p:sp>
        <p:nvSpPr>
          <p:cNvPr id="1038"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p>
        </p:txBody>
      </p:sp>
      <p:sp>
        <p:nvSpPr>
          <p:cNvPr id="1039" name="Rectangle 15"/>
          <p:cNvSpPr>
            <a:spLocks noGrp="1"/>
          </p:cNvSpPr>
          <p:nvPr>
            <p:ph type="body"/>
          </p:nvPr>
        </p:nvSpPr>
        <p:spPr>
          <a:xfrm>
            <a:off x="457200" y="1981200"/>
            <a:ext cx="8229600" cy="38862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4048"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035"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noProof="1" dirty="0">
                <a:latin typeface="Arial Black" panose="020B0A040201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46F4F6C-8596-4963-B8B1-EBB40BBB35DF}"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grpSp>
        <p:nvGrpSpPr>
          <p:cNvPr id="2052" name="Group 4"/>
          <p:cNvGrpSpPr/>
          <p:nvPr/>
        </p:nvGrpSpPr>
        <p:grpSpPr>
          <a:xfrm>
            <a:off x="0" y="0"/>
            <a:ext cx="9144000" cy="546100"/>
            <a:chOff x="0" y="0"/>
            <a:chExt cx="5760" cy="344"/>
          </a:xfrm>
        </p:grpSpPr>
        <p:sp>
          <p:nvSpPr>
            <p:cNvPr id="2053"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sz="2400" dirty="0">
                <a:latin typeface="Times New Roman" panose="02020603050405020304" pitchFamily="18" charset="0"/>
                <a:ea typeface="宋体" panose="02010600030101010101" pitchFamily="2" charset="-122"/>
              </a:endParaRPr>
            </a:p>
          </p:txBody>
        </p:sp>
        <p:sp>
          <p:nvSpPr>
            <p:cNvPr id="2054"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2055" name="Rectangle 7"/>
            <p:cNvSpPr/>
            <p:nvPr/>
          </p:nvSpPr>
          <p:spPr>
            <a:xfrm>
              <a:off x="258" y="85"/>
              <a:ext cx="87" cy="89"/>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2056" name="Rectangle 8"/>
            <p:cNvSpPr/>
            <p:nvPr/>
          </p:nvSpPr>
          <p:spPr>
            <a:xfrm>
              <a:off x="345" y="0"/>
              <a:ext cx="88" cy="87"/>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2057" name="Rectangle 9"/>
            <p:cNvSpPr/>
            <p:nvPr/>
          </p:nvSpPr>
          <p:spPr>
            <a:xfrm>
              <a:off x="345" y="85"/>
              <a:ext cx="88" cy="89"/>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sp>
          <p:nvSpPr>
            <p:cNvPr id="2058" name="Rectangle 10"/>
            <p:cNvSpPr/>
            <p:nvPr/>
          </p:nvSpPr>
          <p:spPr>
            <a:xfrm>
              <a:off x="173" y="173"/>
              <a:ext cx="86" cy="87"/>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2059" name="Rectangle 11"/>
            <p:cNvSpPr/>
            <p:nvPr/>
          </p:nvSpPr>
          <p:spPr>
            <a:xfrm>
              <a:off x="83" y="86"/>
              <a:ext cx="89" cy="87"/>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2060" name="Rectangle 12"/>
            <p:cNvSpPr/>
            <p:nvPr/>
          </p:nvSpPr>
          <p:spPr>
            <a:xfrm>
              <a:off x="258" y="171"/>
              <a:ext cx="87" cy="87"/>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sp>
          <p:nvSpPr>
            <p:cNvPr id="2061" name="Rectangle 13"/>
            <p:cNvSpPr/>
            <p:nvPr/>
          </p:nvSpPr>
          <p:spPr>
            <a:xfrm>
              <a:off x="173" y="258"/>
              <a:ext cx="86" cy="86"/>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grpSp>
      <p:sp>
        <p:nvSpPr>
          <p:cNvPr id="2062"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p>
        </p:txBody>
      </p:sp>
      <p:sp>
        <p:nvSpPr>
          <p:cNvPr id="2063" name="Rectangle 15"/>
          <p:cNvSpPr>
            <a:spLocks noGrp="1"/>
          </p:cNvSpPr>
          <p:nvPr>
            <p:ph type="body"/>
          </p:nvPr>
        </p:nvSpPr>
        <p:spPr>
          <a:xfrm>
            <a:off x="457200" y="1981200"/>
            <a:ext cx="8229600" cy="38862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4048"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035"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noProof="1" dirty="0">
                <a:latin typeface="Arial Black" panose="020B0A040201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0C9D6C5-6588-48EA-ACA4-2664BFFDEF0C}"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grpSp>
        <p:nvGrpSpPr>
          <p:cNvPr id="3076" name="Group 4"/>
          <p:cNvGrpSpPr/>
          <p:nvPr/>
        </p:nvGrpSpPr>
        <p:grpSpPr>
          <a:xfrm>
            <a:off x="0" y="0"/>
            <a:ext cx="9144000" cy="546100"/>
            <a:chOff x="0" y="0"/>
            <a:chExt cx="5760" cy="344"/>
          </a:xfrm>
        </p:grpSpPr>
        <p:sp>
          <p:nvSpPr>
            <p:cNvPr id="3077"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sz="2400" dirty="0">
                <a:latin typeface="Times New Roman" panose="02020603050405020304" pitchFamily="18" charset="0"/>
                <a:ea typeface="宋体" panose="02010600030101010101" pitchFamily="2" charset="-122"/>
              </a:endParaRPr>
            </a:p>
          </p:txBody>
        </p:sp>
        <p:sp>
          <p:nvSpPr>
            <p:cNvPr id="3078"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3079" name="Rectangle 7"/>
            <p:cNvSpPr/>
            <p:nvPr/>
          </p:nvSpPr>
          <p:spPr>
            <a:xfrm>
              <a:off x="258" y="85"/>
              <a:ext cx="87" cy="89"/>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3080" name="Rectangle 8"/>
            <p:cNvSpPr/>
            <p:nvPr/>
          </p:nvSpPr>
          <p:spPr>
            <a:xfrm>
              <a:off x="345" y="0"/>
              <a:ext cx="88" cy="87"/>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3081" name="Rectangle 9"/>
            <p:cNvSpPr/>
            <p:nvPr/>
          </p:nvSpPr>
          <p:spPr>
            <a:xfrm>
              <a:off x="345" y="85"/>
              <a:ext cx="88" cy="89"/>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sp>
          <p:nvSpPr>
            <p:cNvPr id="3082" name="Rectangle 10"/>
            <p:cNvSpPr/>
            <p:nvPr/>
          </p:nvSpPr>
          <p:spPr>
            <a:xfrm>
              <a:off x="173" y="173"/>
              <a:ext cx="86" cy="87"/>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3083" name="Rectangle 11"/>
            <p:cNvSpPr/>
            <p:nvPr/>
          </p:nvSpPr>
          <p:spPr>
            <a:xfrm>
              <a:off x="83" y="86"/>
              <a:ext cx="89" cy="87"/>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3084" name="Rectangle 12"/>
            <p:cNvSpPr/>
            <p:nvPr/>
          </p:nvSpPr>
          <p:spPr>
            <a:xfrm>
              <a:off x="258" y="171"/>
              <a:ext cx="87" cy="87"/>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sp>
          <p:nvSpPr>
            <p:cNvPr id="3085" name="Rectangle 13"/>
            <p:cNvSpPr/>
            <p:nvPr/>
          </p:nvSpPr>
          <p:spPr>
            <a:xfrm>
              <a:off x="173" y="258"/>
              <a:ext cx="86" cy="86"/>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grpSp>
      <p:sp>
        <p:nvSpPr>
          <p:cNvPr id="3086"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p>
        </p:txBody>
      </p:sp>
      <p:sp>
        <p:nvSpPr>
          <p:cNvPr id="3087" name="Rectangle 15"/>
          <p:cNvSpPr>
            <a:spLocks noGrp="1"/>
          </p:cNvSpPr>
          <p:nvPr>
            <p:ph type="body"/>
          </p:nvPr>
        </p:nvSpPr>
        <p:spPr>
          <a:xfrm>
            <a:off x="457200" y="1981200"/>
            <a:ext cx="8229600" cy="38862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4048"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035"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noProof="1" dirty="0">
                <a:latin typeface="Arial Black" panose="020B0A040201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D522ADF-552E-4357-A2F6-D80ACBC2E92E}" type="slidenum">
              <a:rPr kumimoji="0" lang="en-US" altLang="zh-CN" sz="1200" b="0" i="0" u="none" strike="noStrike" kern="1200" cap="none" spc="0" normalizeH="0" baseline="0" noProof="1" dirty="0">
                <a:ln>
                  <a:noFill/>
                </a:ln>
                <a:solidFill>
                  <a:schemeClr val="tx1"/>
                </a:solidFill>
                <a:effectLst/>
                <a:uLnTx/>
                <a:uFillTx/>
                <a:latin typeface="Arial Black" panose="020B0A040201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Black" panose="020B0A04020102020204" pitchFamily="34" charset="0"/>
              <a:ea typeface="宋体" panose="02010600030101010101" pitchFamily="2" charset="-122"/>
              <a:cs typeface="+mn-cs"/>
            </a:endParaRPr>
          </a:p>
        </p:txBody>
      </p:sp>
      <p:grpSp>
        <p:nvGrpSpPr>
          <p:cNvPr id="1028" name="Group 4"/>
          <p:cNvGrpSpPr/>
          <p:nvPr/>
        </p:nvGrpSpPr>
        <p:grpSpPr>
          <a:xfrm>
            <a:off x="0" y="0"/>
            <a:ext cx="9144000" cy="546100"/>
            <a:chOff x="0" y="0"/>
            <a:chExt cx="5760" cy="344"/>
          </a:xfrm>
        </p:grpSpPr>
        <p:sp>
          <p:nvSpPr>
            <p:cNvPr id="1029"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sz="2400" dirty="0">
                <a:latin typeface="Times New Roman" panose="02020603050405020304" pitchFamily="18" charset="0"/>
                <a:ea typeface="宋体" panose="02010600030101010101" pitchFamily="2" charset="-122"/>
              </a:endParaRPr>
            </a:p>
          </p:txBody>
        </p:sp>
        <p:sp>
          <p:nvSpPr>
            <p:cNvPr id="1030"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1031" name="Rectangle 7"/>
            <p:cNvSpPr/>
            <p:nvPr/>
          </p:nvSpPr>
          <p:spPr>
            <a:xfrm>
              <a:off x="258" y="85"/>
              <a:ext cx="87" cy="89"/>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1032" name="Rectangle 8"/>
            <p:cNvSpPr/>
            <p:nvPr/>
          </p:nvSpPr>
          <p:spPr>
            <a:xfrm>
              <a:off x="345" y="0"/>
              <a:ext cx="88" cy="87"/>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1033" name="Rectangle 9"/>
            <p:cNvSpPr/>
            <p:nvPr/>
          </p:nvSpPr>
          <p:spPr>
            <a:xfrm>
              <a:off x="345" y="85"/>
              <a:ext cx="88" cy="89"/>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sp>
          <p:nvSpPr>
            <p:cNvPr id="1034" name="Rectangle 10"/>
            <p:cNvSpPr/>
            <p:nvPr/>
          </p:nvSpPr>
          <p:spPr>
            <a:xfrm>
              <a:off x="173" y="173"/>
              <a:ext cx="86" cy="87"/>
            </a:xfrm>
            <a:prstGeom prst="rect">
              <a:avLst/>
            </a:prstGeom>
            <a:solidFill>
              <a:schemeClr val="folHlink"/>
            </a:solidFill>
            <a:ln w="9525">
              <a:noFill/>
            </a:ln>
          </p:spPr>
          <p:txBody>
            <a:bodyPr anchor="t" anchorCtr="0"/>
            <a:lstStyle/>
            <a:p>
              <a:pPr lvl="0"/>
              <a:endParaRPr lang="zh-CN" altLang="zh-CN" dirty="0">
                <a:solidFill>
                  <a:schemeClr val="hlink"/>
                </a:solidFill>
                <a:latin typeface="Arial" panose="020B0604020202020204" pitchFamily="34" charset="0"/>
                <a:ea typeface="宋体" panose="02010600030101010101" pitchFamily="2" charset="-122"/>
              </a:endParaRPr>
            </a:p>
          </p:txBody>
        </p:sp>
        <p:sp>
          <p:nvSpPr>
            <p:cNvPr id="1035" name="Rectangle 11"/>
            <p:cNvSpPr/>
            <p:nvPr/>
          </p:nvSpPr>
          <p:spPr>
            <a:xfrm>
              <a:off x="83" y="86"/>
              <a:ext cx="89" cy="87"/>
            </a:xfrm>
            <a:prstGeom prst="rect">
              <a:avLst/>
            </a:prstGeom>
            <a:solidFill>
              <a:schemeClr val="bg2"/>
            </a:solidFill>
            <a:ln w="9525">
              <a:noFill/>
            </a:ln>
          </p:spPr>
          <p:txBody>
            <a:bodyPr anchor="t" anchorCtr="0"/>
            <a:lstStyle/>
            <a:p>
              <a:pPr lvl="0"/>
              <a:endParaRPr lang="zh-CN" altLang="zh-CN" sz="2400" dirty="0">
                <a:latin typeface="Times New Roman" panose="02020603050405020304" pitchFamily="18" charset="0"/>
                <a:ea typeface="宋体" panose="02010600030101010101" pitchFamily="2" charset="-122"/>
              </a:endParaRPr>
            </a:p>
          </p:txBody>
        </p:sp>
        <p:sp>
          <p:nvSpPr>
            <p:cNvPr id="1036" name="Rectangle 12"/>
            <p:cNvSpPr/>
            <p:nvPr/>
          </p:nvSpPr>
          <p:spPr>
            <a:xfrm>
              <a:off x="258" y="171"/>
              <a:ext cx="87" cy="87"/>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sp>
          <p:nvSpPr>
            <p:cNvPr id="1037" name="Rectangle 13"/>
            <p:cNvSpPr/>
            <p:nvPr/>
          </p:nvSpPr>
          <p:spPr>
            <a:xfrm>
              <a:off x="173" y="258"/>
              <a:ext cx="86" cy="86"/>
            </a:xfrm>
            <a:prstGeom prst="rect">
              <a:avLst/>
            </a:prstGeom>
            <a:solidFill>
              <a:schemeClr val="accent2"/>
            </a:solidFill>
            <a:ln w="9525">
              <a:noFill/>
            </a:ln>
          </p:spPr>
          <p:txBody>
            <a:bodyPr anchor="t" anchorCtr="0"/>
            <a:lstStyle/>
            <a:p>
              <a:pPr lvl="0"/>
              <a:endParaRPr lang="zh-CN" altLang="zh-CN" dirty="0">
                <a:solidFill>
                  <a:schemeClr val="accent2"/>
                </a:solidFill>
                <a:latin typeface="Arial" panose="020B0604020202020204" pitchFamily="34" charset="0"/>
                <a:ea typeface="宋体" panose="02010600030101010101" pitchFamily="2" charset="-122"/>
              </a:endParaRPr>
            </a:p>
          </p:txBody>
        </p:sp>
      </p:grpSp>
      <p:sp>
        <p:nvSpPr>
          <p:cNvPr id="1038"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p>
        </p:txBody>
      </p:sp>
      <p:sp>
        <p:nvSpPr>
          <p:cNvPr id="1039" name="Rectangle 15"/>
          <p:cNvSpPr>
            <a:spLocks noGrp="1"/>
          </p:cNvSpPr>
          <p:nvPr>
            <p:ph type="body"/>
          </p:nvPr>
        </p:nvSpPr>
        <p:spPr>
          <a:xfrm>
            <a:off x="457200" y="1981200"/>
            <a:ext cx="8229600" cy="38862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4048"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1.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18" Type="http://schemas.openxmlformats.org/officeDocument/2006/relationships/image" Target="../media/image1.png"/><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slideLayout" Target="../slideLayouts/slideLayout7.xml"/><Relationship Id="rId2" Type="http://schemas.openxmlformats.org/officeDocument/2006/relationships/tags" Target="../tags/tag18.xml"/><Relationship Id="rId16" Type="http://schemas.openxmlformats.org/officeDocument/2006/relationships/tags" Target="../tags/tag32.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5" Type="http://schemas.openxmlformats.org/officeDocument/2006/relationships/tags" Target="../tags/tag21.xml"/><Relationship Id="rId15" Type="http://schemas.openxmlformats.org/officeDocument/2006/relationships/tags" Target="../tags/tag31.xml"/><Relationship Id="rId10" Type="http://schemas.openxmlformats.org/officeDocument/2006/relationships/tags" Target="../tags/tag26.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tags" Target="../tags/tag45.xml"/><Relationship Id="rId18" Type="http://schemas.openxmlformats.org/officeDocument/2006/relationships/image" Target="../media/image1.png"/><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tags" Target="../tags/tag44.xml"/><Relationship Id="rId17" Type="http://schemas.openxmlformats.org/officeDocument/2006/relationships/slideLayout" Target="../slideLayouts/slideLayout7.xml"/><Relationship Id="rId2" Type="http://schemas.openxmlformats.org/officeDocument/2006/relationships/tags" Target="../tags/tag34.xml"/><Relationship Id="rId16" Type="http://schemas.openxmlformats.org/officeDocument/2006/relationships/tags" Target="../tags/tag48.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5" Type="http://schemas.openxmlformats.org/officeDocument/2006/relationships/tags" Target="../tags/tag4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s>
</file>

<file path=ppt/slides/_rels/slide59.xml.rels><?xml version="1.0" encoding="UTF-8" standalone="yes"?>
<Relationships xmlns="http://schemas.openxmlformats.org/package/2006/relationships"><Relationship Id="rId8" Type="http://schemas.openxmlformats.org/officeDocument/2006/relationships/tags" Target="../tags/tag56.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image" Target="../media/image1.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slideLayout" Target="../slideLayouts/slideLayout7.xml"/><Relationship Id="rId5" Type="http://schemas.openxmlformats.org/officeDocument/2006/relationships/tags" Target="../tags/tag53.xml"/><Relationship Id="rId10" Type="http://schemas.openxmlformats.org/officeDocument/2006/relationships/tags" Target="../tags/tag58.xml"/><Relationship Id="rId4" Type="http://schemas.openxmlformats.org/officeDocument/2006/relationships/tags" Target="../tags/tag52.xml"/><Relationship Id="rId9" Type="http://schemas.openxmlformats.org/officeDocument/2006/relationships/tags" Target="../tags/tag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tags" Target="../tags/tag66.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image" Target="../media/image1.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slideLayout" Target="../slideLayouts/slideLayout7.xml"/><Relationship Id="rId5" Type="http://schemas.openxmlformats.org/officeDocument/2006/relationships/tags" Target="../tags/tag63.xml"/><Relationship Id="rId10" Type="http://schemas.openxmlformats.org/officeDocument/2006/relationships/tags" Target="../tags/tag68.xml"/><Relationship Id="rId4" Type="http://schemas.openxmlformats.org/officeDocument/2006/relationships/tags" Target="../tags/tag62.xml"/><Relationship Id="rId9" Type="http://schemas.openxmlformats.org/officeDocument/2006/relationships/tags" Target="../tags/tag6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image" Target="../media/image1.png"/><Relationship Id="rId5" Type="http://schemas.openxmlformats.org/officeDocument/2006/relationships/tags" Target="../tags/tag73.xml"/><Relationship Id="rId10" Type="http://schemas.openxmlformats.org/officeDocument/2006/relationships/slideLayout" Target="../slideLayouts/slideLayout7.xml"/><Relationship Id="rId4" Type="http://schemas.openxmlformats.org/officeDocument/2006/relationships/tags" Target="../tags/tag72.xml"/><Relationship Id="rId9" Type="http://schemas.openxmlformats.org/officeDocument/2006/relationships/tags" Target="../tags/tag7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1.xml"/><Relationship Id="rId1" Type="http://schemas.openxmlformats.org/officeDocument/2006/relationships/vmlDrawing" Target="../drawings/vmlDrawing3.vml"/><Relationship Id="rId4" Type="http://schemas.openxmlformats.org/officeDocument/2006/relationships/image" Target="../media/image26.png"/></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2.xml"/><Relationship Id="rId1" Type="http://schemas.openxmlformats.org/officeDocument/2006/relationships/vmlDrawing" Target="../drawings/vmlDrawing4.vml"/><Relationship Id="rId5" Type="http://schemas.openxmlformats.org/officeDocument/2006/relationships/image" Target="../media/image28.png"/><Relationship Id="rId4" Type="http://schemas.openxmlformats.org/officeDocument/2006/relationships/image" Target="../media/image2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8.xml"/></Relationships>
</file>

<file path=ppt/slides/_rels/slide8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8.xml"/></Relationships>
</file>

<file path=ppt/slides/_rels/slide8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28.xml"/></Relationships>
</file>

<file path=ppt/slides/_rels/slide8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28.xml"/></Relationships>
</file>

<file path=ppt/slides/_rels/slide85.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8.xml"/></Relationships>
</file>

<file path=ppt/slides/_rels/slide8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8.xml"/></Relationships>
</file>

<file path=ppt/slides/_rels/slide87.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Layout" Target="../slideLayouts/slideLayout28.xml"/></Relationships>
</file>

<file path=ppt/slides/_rels/slide88.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tags" Target="../tags/tag90.xml"/><Relationship Id="rId18" Type="http://schemas.openxmlformats.org/officeDocument/2006/relationships/slideLayout" Target="../slideLayouts/slideLayout33.xml"/><Relationship Id="rId26" Type="http://schemas.openxmlformats.org/officeDocument/2006/relationships/image" Target="../media/image48.png"/><Relationship Id="rId3" Type="http://schemas.openxmlformats.org/officeDocument/2006/relationships/tags" Target="../tags/tag80.xml"/><Relationship Id="rId21" Type="http://schemas.openxmlformats.org/officeDocument/2006/relationships/tags" Target="../tags/tag910.xml"/><Relationship Id="rId7" Type="http://schemas.openxmlformats.org/officeDocument/2006/relationships/tags" Target="../tags/tag84.xml"/><Relationship Id="rId12" Type="http://schemas.openxmlformats.org/officeDocument/2006/relationships/tags" Target="../tags/tag89.xml"/><Relationship Id="rId17" Type="http://schemas.openxmlformats.org/officeDocument/2006/relationships/tags" Target="../tags/tag94.xml"/><Relationship Id="rId25" Type="http://schemas.openxmlformats.org/officeDocument/2006/relationships/tags" Target="../tags/tag950.xml"/><Relationship Id="rId2" Type="http://schemas.openxmlformats.org/officeDocument/2006/relationships/tags" Target="../tags/tag79.xml"/><Relationship Id="rId16" Type="http://schemas.openxmlformats.org/officeDocument/2006/relationships/tags" Target="../tags/tag93.xml"/><Relationship Id="rId20" Type="http://schemas.openxmlformats.org/officeDocument/2006/relationships/image" Target="../media/image45.png"/><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tags" Target="../tags/tag88.xml"/><Relationship Id="rId24" Type="http://schemas.openxmlformats.org/officeDocument/2006/relationships/image" Target="../media/image47.png"/><Relationship Id="rId5" Type="http://schemas.openxmlformats.org/officeDocument/2006/relationships/tags" Target="../tags/tag82.xml"/><Relationship Id="rId15" Type="http://schemas.openxmlformats.org/officeDocument/2006/relationships/tags" Target="../tags/tag92.xml"/><Relationship Id="rId23" Type="http://schemas.openxmlformats.org/officeDocument/2006/relationships/tags" Target="../tags/tag930.xml"/><Relationship Id="rId28" Type="http://schemas.openxmlformats.org/officeDocument/2006/relationships/image" Target="../media/image1.png"/><Relationship Id="rId10" Type="http://schemas.openxmlformats.org/officeDocument/2006/relationships/tags" Target="../tags/tag87.xml"/><Relationship Id="rId19" Type="http://schemas.openxmlformats.org/officeDocument/2006/relationships/tags" Target="../tags/tag890.xml"/><Relationship Id="rId4" Type="http://schemas.openxmlformats.org/officeDocument/2006/relationships/tags" Target="../tags/tag81.xml"/><Relationship Id="rId9" Type="http://schemas.openxmlformats.org/officeDocument/2006/relationships/tags" Target="../tags/tag86.xml"/><Relationship Id="rId14" Type="http://schemas.openxmlformats.org/officeDocument/2006/relationships/tags" Target="../tags/tag91.xml"/><Relationship Id="rId22" Type="http://schemas.openxmlformats.org/officeDocument/2006/relationships/image" Target="../media/image46.png"/><Relationship Id="rId27" Type="http://schemas.openxmlformats.org/officeDocument/2006/relationships/image" Target="../media/image43.emf"/></Relationships>
</file>

<file path=ppt/slides/_rels/slide89.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image" Target="../media/image1.pn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image" Target="../media/image32.png"/><Relationship Id="rId5" Type="http://schemas.openxmlformats.org/officeDocument/2006/relationships/tags" Target="../tags/tag99.xml"/><Relationship Id="rId10" Type="http://schemas.openxmlformats.org/officeDocument/2006/relationships/slideLayout" Target="../slideLayouts/slideLayout33.xml"/><Relationship Id="rId4" Type="http://schemas.openxmlformats.org/officeDocument/2006/relationships/tags" Target="../tags/tag98.xml"/><Relationship Id="rId9" Type="http://schemas.openxmlformats.org/officeDocument/2006/relationships/tags" Target="../tags/tag10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p:cNvSpPr>
          <p:nvPr>
            <p:ph type="ctrTitle"/>
          </p:nvPr>
        </p:nvSpPr>
        <p:spPr/>
        <p:txBody>
          <a:bodyPr anchor="ctr" anchorCtr="0"/>
          <a:lstStyle/>
          <a:p>
            <a:pPr>
              <a:buClrTx/>
              <a:buSzTx/>
              <a:buFontTx/>
            </a:pPr>
            <a:r>
              <a:rPr lang="zh-CN" altLang="en-US" b="1" dirty="0">
                <a:solidFill>
                  <a:srgbClr val="FFFFFF"/>
                </a:solidFill>
                <a:latin typeface="+mj-lt"/>
                <a:ea typeface="+mj-ea"/>
                <a:cs typeface="+mj-cs"/>
              </a:rPr>
              <a:t>第</a:t>
            </a:r>
            <a:r>
              <a:rPr lang="en-US" altLang="zh-CN" b="1" dirty="0">
                <a:solidFill>
                  <a:srgbClr val="FFFFFF"/>
                </a:solidFill>
                <a:latin typeface="+mj-lt"/>
                <a:ea typeface="+mj-ea"/>
                <a:cs typeface="+mj-cs"/>
              </a:rPr>
              <a:t>2</a:t>
            </a:r>
            <a:r>
              <a:rPr lang="zh-CN" altLang="en-US" b="1" dirty="0">
                <a:solidFill>
                  <a:srgbClr val="FFFFFF"/>
                </a:solidFill>
                <a:latin typeface="+mj-lt"/>
                <a:ea typeface="+mj-ea"/>
                <a:cs typeface="+mj-cs"/>
              </a:rPr>
              <a:t>章   可编程序控制器的基础知识</a:t>
            </a:r>
            <a:endParaRPr lang="zh-CN" altLang="en-US">
              <a:solidFill>
                <a:srgbClr val="FFFFFF"/>
              </a:solidFill>
              <a:latin typeface="+mj-lt"/>
              <a:ea typeface="+mj-ea"/>
              <a:cs typeface="+mj-cs"/>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p:cNvSpPr>
          <p:nvPr>
            <p:ph type="title"/>
          </p:nvPr>
        </p:nvSpPr>
        <p:spPr>
          <a:xfrm>
            <a:off x="395288" y="692150"/>
            <a:ext cx="8229600" cy="1371600"/>
          </a:xfrm>
        </p:spPr>
        <p:txBody>
          <a:bodyPr vert="horz" wrap="square" lIns="91440" tIns="45720" rIns="91440" bIns="45720" anchor="ctr" anchorCtr="0"/>
          <a:lstStyle/>
          <a:p>
            <a:pPr eaLnBrk="1" hangingPunct="1"/>
            <a:r>
              <a:rPr lang="zh-CN" altLang="en-US" sz="4000" b="1" dirty="0"/>
              <a:t>第</a:t>
            </a:r>
            <a:r>
              <a:rPr lang="en-US" altLang="zh-CN" sz="4000" b="1" dirty="0"/>
              <a:t>2</a:t>
            </a:r>
            <a:r>
              <a:rPr lang="zh-CN" altLang="en-US" sz="4000" b="1" dirty="0"/>
              <a:t>章   可编程序控制器的基础知识</a:t>
            </a:r>
          </a:p>
        </p:txBody>
      </p:sp>
      <p:sp>
        <p:nvSpPr>
          <p:cNvPr id="10242" name="Rectangle 3"/>
          <p:cNvSpPr>
            <a:spLocks noGrp="1"/>
          </p:cNvSpPr>
          <p:nvPr>
            <p:ph idx="1"/>
          </p:nvPr>
        </p:nvSpPr>
        <p:spPr>
          <a:xfrm>
            <a:off x="611188" y="2133600"/>
            <a:ext cx="8229600" cy="4724400"/>
          </a:xfrm>
        </p:spPr>
        <p:txBody>
          <a:bodyPr vert="horz" wrap="square" lIns="91440" tIns="45720" rIns="91440" bIns="45720" anchor="t" anchorCtr="0"/>
          <a:lstStyle/>
          <a:p>
            <a:pPr eaLnBrk="1" hangingPunct="1"/>
            <a:r>
              <a:rPr lang="en-US" altLang="zh-CN" b="1" dirty="0"/>
              <a:t>2.1   </a:t>
            </a:r>
            <a:r>
              <a:rPr lang="zh-CN" altLang="en-US" b="1" dirty="0"/>
              <a:t>可编程序控制器的组成</a:t>
            </a:r>
          </a:p>
          <a:p>
            <a:pPr eaLnBrk="1" hangingPunct="1"/>
            <a:r>
              <a:rPr lang="en-US" altLang="zh-CN" b="1" dirty="0"/>
              <a:t>2.2   </a:t>
            </a:r>
            <a:r>
              <a:rPr lang="zh-CN" altLang="en-US" b="1" dirty="0"/>
              <a:t>PLC的分类及性能指标</a:t>
            </a:r>
          </a:p>
          <a:p>
            <a:pPr eaLnBrk="1" hangingPunct="1"/>
            <a:r>
              <a:rPr lang="en-US" altLang="zh-CN" b="1" dirty="0"/>
              <a:t>2.3   </a:t>
            </a:r>
            <a:r>
              <a:rPr lang="zh-CN" altLang="en-US" b="1" dirty="0"/>
              <a:t>可编程控制器的工作原理</a:t>
            </a:r>
          </a:p>
          <a:p>
            <a:pPr eaLnBrk="1" hangingPunct="1"/>
            <a:r>
              <a:rPr lang="en-US" altLang="zh-CN" b="1" dirty="0"/>
              <a:t>2.4   </a:t>
            </a:r>
            <a:r>
              <a:rPr lang="zh-CN" altLang="en-US" b="1" dirty="0"/>
              <a:t>可编程控制器的编程语言</a:t>
            </a:r>
          </a:p>
          <a:p>
            <a:pPr eaLnBrk="1" hangingPunct="1"/>
            <a:endParaRPr lang="en-US" altLang="zh-CN" b="1"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文本框 4"/>
          <p:cNvSpPr txBox="1"/>
          <p:nvPr>
            <p:custDataLst>
              <p:tags r:id="rId2"/>
            </p:custDataLst>
          </p:nvPr>
        </p:nvSpPr>
        <p:spPr>
          <a:xfrm>
            <a:off x="914400" y="635000"/>
            <a:ext cx="7315200" cy="2143125"/>
          </a:xfrm>
          <a:prstGeom prst="rect">
            <a:avLst/>
          </a:prstGeom>
          <a:noFill/>
          <a:ln w="9525">
            <a:noFill/>
          </a:ln>
        </p:spPr>
        <p:txBody>
          <a:bodyPr anchor="ctr" anchorCtr="0"/>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PLC</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相对于继电器的优点</a:t>
            </a:r>
          </a:p>
        </p:txBody>
      </p:sp>
      <p:sp>
        <p:nvSpPr>
          <p:cNvPr id="11266" name="文本框 5"/>
          <p:cNvSpPr txBox="1"/>
          <p:nvPr>
            <p:custDataLst>
              <p:tags r:id="rId3"/>
            </p:custDataLst>
          </p:nvPr>
        </p:nvSpPr>
        <p:spPr>
          <a:xfrm>
            <a:off x="1828800" y="2786063"/>
            <a:ext cx="6400800" cy="642937"/>
          </a:xfrm>
          <a:prstGeom prst="rect">
            <a:avLst/>
          </a:prstGeom>
          <a:noFill/>
          <a:ln w="9525">
            <a:noFill/>
          </a:ln>
        </p:spPr>
        <p:txBody>
          <a:bodyPr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编程由电路布线设计完成，简单易懂</a:t>
            </a:r>
          </a:p>
        </p:txBody>
      </p:sp>
      <p:sp>
        <p:nvSpPr>
          <p:cNvPr id="11267" name="文本框 6"/>
          <p:cNvSpPr txBox="1"/>
          <p:nvPr>
            <p:custDataLst>
              <p:tags r:id="rId4"/>
            </p:custDataLst>
          </p:nvPr>
        </p:nvSpPr>
        <p:spPr>
          <a:xfrm>
            <a:off x="1828800" y="3643313"/>
            <a:ext cx="6400800" cy="642937"/>
          </a:xfrm>
          <a:prstGeom prst="rect">
            <a:avLst/>
          </a:prstGeom>
          <a:noFill/>
          <a:ln w="9525">
            <a:noFill/>
          </a:ln>
        </p:spPr>
        <p:txBody>
          <a:bodyPr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通用性好，接线简单</a:t>
            </a:r>
          </a:p>
        </p:txBody>
      </p:sp>
      <p:sp>
        <p:nvSpPr>
          <p:cNvPr id="11268" name="文本框 7"/>
          <p:cNvSpPr txBox="1"/>
          <p:nvPr>
            <p:custDataLst>
              <p:tags r:id="rId5"/>
            </p:custDataLst>
          </p:nvPr>
        </p:nvSpPr>
        <p:spPr>
          <a:xfrm>
            <a:off x="1828800" y="4500563"/>
            <a:ext cx="6400800" cy="642937"/>
          </a:xfrm>
          <a:prstGeom prst="rect">
            <a:avLst/>
          </a:prstGeom>
          <a:noFill/>
          <a:ln w="9525">
            <a:noFill/>
          </a:ln>
        </p:spPr>
        <p:txBody>
          <a:bodyPr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功能强，可进行模拟量控制</a:t>
            </a:r>
          </a:p>
        </p:txBody>
      </p:sp>
      <p:sp>
        <p:nvSpPr>
          <p:cNvPr id="11269" name="文本框 8"/>
          <p:cNvSpPr txBox="1"/>
          <p:nvPr>
            <p:custDataLst>
              <p:tags r:id="rId6"/>
            </p:custDataLst>
          </p:nvPr>
        </p:nvSpPr>
        <p:spPr>
          <a:xfrm>
            <a:off x="1828800" y="5357813"/>
            <a:ext cx="6400800" cy="642937"/>
          </a:xfrm>
          <a:prstGeom prst="rect">
            <a:avLst/>
          </a:prstGeom>
          <a:noFill/>
          <a:ln w="9525">
            <a:noFill/>
          </a:ln>
        </p:spPr>
        <p:txBody>
          <a:bodyPr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可靠性高，定时准确、定时范围宽</a:t>
            </a:r>
          </a:p>
        </p:txBody>
      </p:sp>
      <p:sp>
        <p:nvSpPr>
          <p:cNvPr id="10" name="矩形 9"/>
          <p:cNvSpPr>
            <a:spLocks noChangeAspect="1"/>
          </p:cNvSpPr>
          <p:nvPr>
            <p:custDataLst>
              <p:tags r:id="rId7"/>
            </p:custDataLst>
          </p:nvPr>
        </p:nvSpPr>
        <p:spPr>
          <a:xfrm>
            <a:off x="1114425" y="2849563"/>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spect="1"/>
          </p:cNvSpPr>
          <p:nvPr>
            <p:custDataLst>
              <p:tags r:id="rId8"/>
            </p:custDataLst>
          </p:nvPr>
        </p:nvSpPr>
        <p:spPr>
          <a:xfrm>
            <a:off x="1114425" y="370681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a:spLocks noChangeAspect="1"/>
          </p:cNvSpPr>
          <p:nvPr>
            <p:custDataLst>
              <p:tags r:id="rId9"/>
            </p:custDataLst>
          </p:nvPr>
        </p:nvSpPr>
        <p:spPr>
          <a:xfrm>
            <a:off x="1114425" y="456406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 name="矩形 12"/>
          <p:cNvSpPr>
            <a:spLocks noChangeAspect="1"/>
          </p:cNvSpPr>
          <p:nvPr>
            <p:custDataLst>
              <p:tags r:id="rId10"/>
            </p:custDataLst>
          </p:nvPr>
        </p:nvSpPr>
        <p:spPr>
          <a:xfrm>
            <a:off x="1114425" y="542131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 name="圆角矩形 13"/>
          <p:cNvSpPr/>
          <p:nvPr>
            <p:custDataLst>
              <p:tags r:id="rId11"/>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提交</a:t>
            </a:r>
          </a:p>
        </p:txBody>
      </p:sp>
      <p:grpSp>
        <p:nvGrpSpPr>
          <p:cNvPr id="11275" name="组合 18"/>
          <p:cNvGrpSpPr/>
          <p:nvPr/>
        </p:nvGrpSpPr>
        <p:grpSpPr>
          <a:xfrm>
            <a:off x="0" y="0"/>
            <a:ext cx="9144000" cy="635000"/>
            <a:chOff x="0" y="0"/>
            <a:chExt cx="9144000" cy="635000"/>
          </a:xfrm>
        </p:grpSpPr>
        <p:sp>
          <p:nvSpPr>
            <p:cNvPr id="15" name="TitleBackground"/>
            <p:cNvSpPr/>
            <p:nvPr>
              <p:custDataLst>
                <p:tags r:id="rId13"/>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ColorBlock"/>
            <p:cNvSpPr/>
            <p:nvPr>
              <p:custDataLst>
                <p:tags r:id="rId14"/>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278" name="TypeText"/>
            <p:cNvSpPr txBox="1"/>
            <p:nvPr>
              <p:custDataLst>
                <p:tags r:id="rId15"/>
              </p:custDataLst>
            </p:nvPr>
          </p:nvSpPr>
          <p:spPr>
            <a:xfrm>
              <a:off x="254000" y="0"/>
              <a:ext cx="1905000" cy="635000"/>
            </a:xfrm>
            <a:prstGeom prst="rect">
              <a:avLst/>
            </a:prstGeom>
            <a:noFill/>
            <a:ln w="9525">
              <a:noFill/>
            </a:ln>
          </p:spPr>
          <p:txBody>
            <a:bodyPr wrap="none"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多选题</a:t>
              </a:r>
            </a:p>
          </p:txBody>
        </p:sp>
        <p:sp>
          <p:nvSpPr>
            <p:cNvPr id="11279" name="TipText"/>
            <p:cNvSpPr txBox="1"/>
            <p:nvPr>
              <p:custDataLst>
                <p:tags r:id="rId16"/>
              </p:custDataLst>
            </p:nvPr>
          </p:nvSpPr>
          <p:spPr>
            <a:xfrm>
              <a:off x="1427480" y="109220"/>
              <a:ext cx="2286000" cy="508000"/>
            </a:xfrm>
            <a:prstGeom prst="rect">
              <a:avLst/>
            </a:prstGeom>
            <a:noFill/>
            <a:ln w="9525">
              <a:noFill/>
            </a:ln>
          </p:spPr>
          <p:txBody>
            <a:bodyPr wrap="none" anchor="ctr" anchorCtr="0"/>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11280" name="图片 3"/>
          <p:cNvPicPr/>
          <p:nvPr>
            <p:custDataLst>
              <p:tags r:id="rId12"/>
            </p:custDataLst>
          </p:nvPr>
        </p:nvPicPr>
        <p:blipFill>
          <a:blip r:embed="rId18"/>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Grp="1"/>
          </p:cNvSpPr>
          <p:nvPr>
            <p:ph idx="1"/>
          </p:nvPr>
        </p:nvSpPr>
        <p:spPr>
          <a:xfrm>
            <a:off x="395288" y="476250"/>
            <a:ext cx="8229600" cy="47244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§2.1   </a:t>
            </a:r>
            <a:r>
              <a:rPr lang="zh-CN" altLang="en-US" b="1" dirty="0">
                <a:latin typeface="Times New Roman" panose="02020603050405020304" pitchFamily="18" charset="0"/>
              </a:rPr>
              <a:t>可编程序控制器的组成结构</a:t>
            </a:r>
          </a:p>
          <a:p>
            <a:pPr eaLnBrk="1" hangingPunct="1">
              <a:buNone/>
            </a:pPr>
            <a:r>
              <a:rPr lang="zh-CN" altLang="en-US" b="1" dirty="0">
                <a:latin typeface="Times New Roman" panose="02020603050405020304" pitchFamily="18" charset="0"/>
              </a:rPr>
              <a:t>          </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是一种以微处理器为核心，综合了计算机技术、半导体存储技术、自动控制技术和通信技术的工业控制用的专用计算机，</a:t>
            </a:r>
            <a:r>
              <a:rPr lang="zh-CN" altLang="en-US" b="1" dirty="0">
                <a:latin typeface="Times New Roman" panose="02020603050405020304" pitchFamily="18" charset="0"/>
              </a:rPr>
              <a:t>其实际组成与微型计算机（简称微机）基本相同，也是由硬件系统和软件系统两大部分组成。</a:t>
            </a:r>
          </a:p>
          <a:p>
            <a:pPr eaLnBrk="1" hangingPunct="1">
              <a:buNone/>
            </a:pPr>
            <a:r>
              <a:rPr lang="zh-CN" altLang="en-US" b="1" dirty="0">
                <a:latin typeface="Times New Roman" panose="02020603050405020304" pitchFamily="18" charset="0"/>
              </a:rPr>
              <a:t>           图</a:t>
            </a:r>
            <a:r>
              <a:rPr lang="en-US" altLang="zh-CN" b="1" dirty="0">
                <a:latin typeface="Times New Roman" panose="02020603050405020304" pitchFamily="18" charset="0"/>
              </a:rPr>
              <a:t>2.1</a:t>
            </a:r>
            <a:r>
              <a:rPr lang="zh-CN" altLang="en-US" b="1" dirty="0">
                <a:latin typeface="Times New Roman" panose="02020603050405020304" pitchFamily="18" charset="0"/>
              </a:rPr>
              <a:t>所示为</a:t>
            </a:r>
            <a:r>
              <a:rPr lang="en-US" altLang="zh-CN" b="1" dirty="0">
                <a:latin typeface="Times New Roman" panose="02020603050405020304" pitchFamily="18" charset="0"/>
              </a:rPr>
              <a:t>PLC</a:t>
            </a:r>
            <a:r>
              <a:rPr lang="zh-CN" altLang="en-US" b="1" dirty="0">
                <a:latin typeface="Times New Roman" panose="02020603050405020304" pitchFamily="18" charset="0"/>
              </a:rPr>
              <a:t>的硬件系统框图，它是由主机、</a:t>
            </a:r>
            <a:r>
              <a:rPr lang="en-US" altLang="zh-CN" b="1" dirty="0">
                <a:latin typeface="Times New Roman" panose="02020603050405020304" pitchFamily="18" charset="0"/>
              </a:rPr>
              <a:t>I/O</a:t>
            </a:r>
            <a:r>
              <a:rPr lang="zh-CN" altLang="en-US" b="1" dirty="0">
                <a:latin typeface="Times New Roman" panose="02020603050405020304" pitchFamily="18" charset="0"/>
              </a:rPr>
              <a:t>扩展机及外部设备组成。</a:t>
            </a:r>
          </a:p>
          <a:p>
            <a:pPr eaLnBrk="1" hangingPunct="1">
              <a:buNone/>
            </a:pPr>
            <a:endParaRPr lang="en-US" altLang="zh-CN" b="1" dirty="0">
              <a:latin typeface="Times New Roman" panose="02020603050405020304" pitchFamily="18" charset="0"/>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Picture 4" descr="2-01"/>
          <p:cNvPicPr>
            <a:picLocks noChangeAspect="1"/>
          </p:cNvPicPr>
          <p:nvPr/>
        </p:nvPicPr>
        <p:blipFill>
          <a:blip r:embed="rId2"/>
          <a:stretch>
            <a:fillRect/>
          </a:stretch>
        </p:blipFill>
        <p:spPr>
          <a:xfrm>
            <a:off x="1371600" y="228600"/>
            <a:ext cx="6400800" cy="5534025"/>
          </a:xfrm>
          <a:prstGeom prst="rect">
            <a:avLst/>
          </a:prstGeom>
          <a:noFill/>
          <a:ln w="9525">
            <a:noFill/>
          </a:ln>
        </p:spPr>
      </p:pic>
      <p:sp>
        <p:nvSpPr>
          <p:cNvPr id="13314" name="Rectangle 5"/>
          <p:cNvSpPr/>
          <p:nvPr/>
        </p:nvSpPr>
        <p:spPr>
          <a:xfrm>
            <a:off x="2362200" y="5867400"/>
            <a:ext cx="4867275" cy="519113"/>
          </a:xfrm>
          <a:prstGeom prst="rect">
            <a:avLst/>
          </a:prstGeom>
          <a:noFill/>
          <a:ln w="9525">
            <a:noFill/>
          </a:ln>
        </p:spPr>
        <p:txBody>
          <a:bodyPr wrap="none" anchor="t" anchorCtr="0">
            <a:spAutoFit/>
          </a:bodyPr>
          <a:lstStyle/>
          <a:p>
            <a:r>
              <a:rPr lang="zh-CN" altLang="en-US" sz="2800" dirty="0">
                <a:latin typeface="Arial" panose="020B0604020202020204" pitchFamily="34" charset="0"/>
                <a:ea typeface="宋体" panose="02010600030101010101" pitchFamily="2" charset="-122"/>
              </a:rPr>
              <a:t>图</a:t>
            </a:r>
            <a:r>
              <a:rPr lang="en-US" altLang="zh-CN" sz="2800" dirty="0">
                <a:latin typeface="Arial" panose="020B0604020202020204" pitchFamily="34" charset="0"/>
                <a:ea typeface="宋体" panose="02010600030101010101" pitchFamily="2" charset="-122"/>
              </a:rPr>
              <a:t>2.1   PLC</a:t>
            </a:r>
            <a:r>
              <a:rPr lang="zh-CN" altLang="en-US" sz="2800" dirty="0">
                <a:latin typeface="Arial" panose="020B0604020202020204" pitchFamily="34" charset="0"/>
                <a:ea typeface="宋体" panose="02010600030101010101" pitchFamily="2" charset="-122"/>
              </a:rPr>
              <a:t>的硬件系统简化图</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p:cNvSpPr>
          <p:nvPr>
            <p:ph idx="1"/>
          </p:nvPr>
        </p:nvSpPr>
        <p:spPr>
          <a:xfrm>
            <a:off x="539750" y="620713"/>
            <a:ext cx="8229600" cy="47244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            </a:t>
            </a:r>
            <a:r>
              <a:rPr lang="zh-CN" altLang="en-US" b="1" dirty="0">
                <a:latin typeface="Times New Roman" panose="02020603050405020304" pitchFamily="18" charset="0"/>
              </a:rPr>
              <a:t>主机和扩展机采用微机的结构形式，其内部由运算器、控制器、存储器、输入单元、输出单元以及专门的接口电路等部分组成。</a:t>
            </a:r>
          </a:p>
          <a:p>
            <a:pPr eaLnBrk="1" hangingPunct="1">
              <a:buNone/>
            </a:pPr>
            <a:r>
              <a:rPr lang="zh-CN" altLang="en-US" b="1" dirty="0">
                <a:latin typeface="Times New Roman" panose="02020603050405020304" pitchFamily="18" charset="0"/>
              </a:rPr>
              <a:t>            </a:t>
            </a:r>
            <a:r>
              <a:rPr lang="zh-CN" altLang="en-US" b="1" dirty="0">
                <a:solidFill>
                  <a:srgbClr val="FF0000"/>
                </a:solidFill>
                <a:latin typeface="Times New Roman" panose="02020603050405020304" pitchFamily="18" charset="0"/>
              </a:rPr>
              <a:t>运算器和控制器集成在一片或几片大规模集成电路中，称之为微处理器或中央处理器，简称</a:t>
            </a:r>
            <a:r>
              <a:rPr lang="en-US" altLang="zh-CN" b="1" dirty="0">
                <a:solidFill>
                  <a:srgbClr val="FF0000"/>
                </a:solidFill>
                <a:latin typeface="Times New Roman" panose="02020603050405020304" pitchFamily="18" charset="0"/>
              </a:rPr>
              <a:t>CPU</a:t>
            </a:r>
            <a:r>
              <a:rPr lang="zh-CN" altLang="en-US" b="1" dirty="0">
                <a:solidFill>
                  <a:srgbClr val="FF0000"/>
                </a:solidFill>
                <a:latin typeface="Times New Roman" panose="02020603050405020304" pitchFamily="18" charset="0"/>
              </a:rPr>
              <a:t>。</a:t>
            </a:r>
            <a:r>
              <a:rPr lang="zh-CN" altLang="en-US" b="1" dirty="0">
                <a:latin typeface="Times New Roman" panose="02020603050405020304" pitchFamily="18" charset="0"/>
              </a:rPr>
              <a:t>主机内各部分之间均通过总线连接。</a:t>
            </a:r>
            <a:r>
              <a:rPr lang="zh-CN" altLang="en-US" b="1" dirty="0">
                <a:solidFill>
                  <a:srgbClr val="FF0000"/>
                </a:solidFill>
                <a:latin typeface="Times New Roman" panose="02020603050405020304" pitchFamily="18" charset="0"/>
              </a:rPr>
              <a:t>总线分电源总线、控制总线、地址总线和数据总线。</a:t>
            </a:r>
          </a:p>
          <a:p>
            <a:pPr eaLnBrk="1" hangingPunct="1">
              <a:buNone/>
            </a:pPr>
            <a:endParaRPr lang="en-US" altLang="zh-CN" b="1" dirty="0">
              <a:solidFill>
                <a:srgbClr val="FF0000"/>
              </a:solidFill>
              <a:latin typeface="Times New Roman" panose="02020603050405020304" pitchFamily="18" charset="0"/>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p:cNvSpPr>
          <p:nvPr>
            <p:ph idx="1"/>
          </p:nvPr>
        </p:nvSpPr>
        <p:spPr>
          <a:xfrm>
            <a:off x="395288" y="836613"/>
            <a:ext cx="8229600" cy="47244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2.1.1  </a:t>
            </a:r>
            <a:r>
              <a:rPr lang="zh-CN" altLang="en-US" b="1" dirty="0">
                <a:latin typeface="Times New Roman" panose="02020603050405020304" pitchFamily="18" charset="0"/>
              </a:rPr>
              <a:t>中央处理器（</a:t>
            </a:r>
            <a:r>
              <a:rPr lang="en-US" altLang="zh-CN" b="1" dirty="0">
                <a:latin typeface="Times New Roman" panose="02020603050405020304" pitchFamily="18" charset="0"/>
              </a:rPr>
              <a:t>CPU</a:t>
            </a:r>
            <a:r>
              <a:rPr lang="zh-CN" altLang="en-US" b="1" dirty="0">
                <a:latin typeface="Times New Roman" panose="02020603050405020304" pitchFamily="18" charset="0"/>
              </a:rPr>
              <a:t>）</a:t>
            </a:r>
          </a:p>
          <a:p>
            <a:pPr eaLnBrk="1" hangingPunct="1">
              <a:buNone/>
            </a:pPr>
            <a:r>
              <a:rPr lang="zh-CN" altLang="en-US" b="1" dirty="0">
                <a:latin typeface="Times New Roman" panose="02020603050405020304" pitchFamily="18" charset="0"/>
              </a:rPr>
              <a:t>           </a:t>
            </a:r>
            <a:r>
              <a:rPr lang="zh-CN" altLang="en-US" b="1" dirty="0">
                <a:solidFill>
                  <a:srgbClr val="FF0000"/>
                </a:solidFill>
                <a:latin typeface="Times New Roman" panose="02020603050405020304" pitchFamily="18" charset="0"/>
              </a:rPr>
              <a:t>中央处理器是</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的大脑，它是</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的运算、控制中心，用来实现逻辑运算、算术运算，并通过地址总线、数据总线和控制总线与存储单元、输入输出（</a:t>
            </a:r>
            <a:r>
              <a:rPr lang="en-US" altLang="zh-CN" b="1" dirty="0">
                <a:solidFill>
                  <a:srgbClr val="FF0000"/>
                </a:solidFill>
                <a:latin typeface="Times New Roman" panose="02020603050405020304" pitchFamily="18" charset="0"/>
              </a:rPr>
              <a:t>I/O</a:t>
            </a:r>
            <a:r>
              <a:rPr lang="zh-CN" altLang="en-US" b="1" dirty="0">
                <a:solidFill>
                  <a:srgbClr val="FF0000"/>
                </a:solidFill>
                <a:latin typeface="Times New Roman" panose="02020603050405020304" pitchFamily="18" charset="0"/>
              </a:rPr>
              <a:t>）接口电路相连接，对全机进行控制。</a:t>
            </a:r>
            <a:r>
              <a:rPr lang="en-US" altLang="zh-CN" b="1" dirty="0">
                <a:latin typeface="Times New Roman" panose="02020603050405020304" pitchFamily="18" charset="0"/>
              </a:rPr>
              <a:t>PLC</a:t>
            </a:r>
            <a:r>
              <a:rPr lang="zh-CN" altLang="en-US" b="1" dirty="0">
                <a:latin typeface="Times New Roman" panose="02020603050405020304" pitchFamily="18" charset="0"/>
              </a:rPr>
              <a:t>按照其系统程序所赋予的功能，完成以下</a:t>
            </a:r>
            <a:r>
              <a:rPr lang="en-US" altLang="zh-CN" b="1" dirty="0">
                <a:latin typeface="Times New Roman" panose="02020603050405020304" pitchFamily="18" charset="0"/>
              </a:rPr>
              <a:t>6</a:t>
            </a:r>
            <a:r>
              <a:rPr lang="zh-CN" altLang="en-US" b="1" dirty="0">
                <a:latin typeface="Times New Roman" panose="02020603050405020304" pitchFamily="18" charset="0"/>
              </a:rPr>
              <a:t>个任务。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Picture 2" descr="2-01"/>
          <p:cNvPicPr>
            <a:picLocks noChangeAspect="1"/>
          </p:cNvPicPr>
          <p:nvPr/>
        </p:nvPicPr>
        <p:blipFill>
          <a:blip r:embed="rId2"/>
          <a:stretch>
            <a:fillRect/>
          </a:stretch>
        </p:blipFill>
        <p:spPr>
          <a:xfrm>
            <a:off x="1247775" y="233363"/>
            <a:ext cx="6400800" cy="5534025"/>
          </a:xfrm>
          <a:prstGeom prst="rect">
            <a:avLst/>
          </a:prstGeom>
          <a:noFill/>
          <a:ln w="9525">
            <a:noFill/>
          </a:ln>
        </p:spPr>
      </p:pic>
      <p:sp>
        <p:nvSpPr>
          <p:cNvPr id="16386" name="Rectangle 3"/>
          <p:cNvSpPr/>
          <p:nvPr/>
        </p:nvSpPr>
        <p:spPr>
          <a:xfrm>
            <a:off x="2362200" y="5867400"/>
            <a:ext cx="4867275" cy="519113"/>
          </a:xfrm>
          <a:prstGeom prst="rect">
            <a:avLst/>
          </a:prstGeom>
          <a:noFill/>
          <a:ln w="9525">
            <a:noFill/>
          </a:ln>
        </p:spPr>
        <p:txBody>
          <a:bodyPr wrap="none" anchor="t" anchorCtr="0">
            <a:spAutoFit/>
          </a:bodyPr>
          <a:lstStyle/>
          <a:p>
            <a:r>
              <a:rPr lang="zh-CN" altLang="en-US" sz="2800" dirty="0">
                <a:latin typeface="Arial" panose="020B0604020202020204" pitchFamily="34" charset="0"/>
                <a:ea typeface="宋体" panose="02010600030101010101" pitchFamily="2" charset="-122"/>
              </a:rPr>
              <a:t>图</a:t>
            </a:r>
            <a:r>
              <a:rPr lang="en-US" altLang="zh-CN" sz="2800" dirty="0">
                <a:latin typeface="Arial" panose="020B0604020202020204" pitchFamily="34" charset="0"/>
                <a:ea typeface="宋体" panose="02010600030101010101" pitchFamily="2" charset="-122"/>
              </a:rPr>
              <a:t>2.1   PLC</a:t>
            </a:r>
            <a:r>
              <a:rPr lang="zh-CN" altLang="en-US" sz="2800" dirty="0">
                <a:latin typeface="Arial" panose="020B0604020202020204" pitchFamily="34" charset="0"/>
                <a:ea typeface="宋体" panose="02010600030101010101" pitchFamily="2" charset="-122"/>
              </a:rPr>
              <a:t>的硬件系统简化图</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idx="1"/>
          </p:nvPr>
        </p:nvSpPr>
        <p:spPr>
          <a:xfrm>
            <a:off x="395288" y="476250"/>
            <a:ext cx="8229600" cy="47244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2.1.2  </a:t>
            </a:r>
            <a:r>
              <a:rPr lang="zh-CN" altLang="en-US" b="1" dirty="0">
                <a:latin typeface="Times New Roman" panose="02020603050405020304" pitchFamily="18" charset="0"/>
              </a:rPr>
              <a:t>存储器</a:t>
            </a:r>
          </a:p>
          <a:p>
            <a:pPr eaLnBrk="1" hangingPunct="1">
              <a:buNone/>
            </a:pPr>
            <a:r>
              <a:rPr lang="zh-CN" altLang="en-US" b="1" dirty="0">
                <a:latin typeface="Times New Roman" panose="02020603050405020304" pitchFamily="18" charset="0"/>
              </a:rPr>
              <a:t>           </a:t>
            </a:r>
            <a:r>
              <a:rPr lang="zh-CN" altLang="en-US" b="1" dirty="0">
                <a:solidFill>
                  <a:srgbClr val="FF0000"/>
                </a:solidFill>
                <a:latin typeface="Times New Roman" panose="02020603050405020304" pitchFamily="18" charset="0"/>
              </a:rPr>
              <a:t>存储器（简称内存），用来存放程序和数据。</a:t>
            </a:r>
            <a:r>
              <a:rPr lang="zh-CN" altLang="en-US" b="1" dirty="0">
                <a:latin typeface="Times New Roman" panose="02020603050405020304" pitchFamily="18" charset="0"/>
              </a:rPr>
              <a:t>它包括可以随机存取的</a:t>
            </a:r>
            <a:r>
              <a:rPr lang="zh-CN" altLang="en-US" b="1" dirty="0">
                <a:solidFill>
                  <a:srgbClr val="FF0000"/>
                </a:solidFill>
                <a:latin typeface="Times New Roman" panose="02020603050405020304" pitchFamily="18" charset="0"/>
              </a:rPr>
              <a:t>随机存储器（简称</a:t>
            </a:r>
            <a:r>
              <a:rPr lang="en-US" altLang="zh-CN" b="1" dirty="0">
                <a:solidFill>
                  <a:srgbClr val="FF0000"/>
                </a:solidFill>
                <a:latin typeface="Times New Roman" panose="02020603050405020304" pitchFamily="18" charset="0"/>
              </a:rPr>
              <a:t>RAM</a:t>
            </a:r>
            <a:r>
              <a:rPr lang="zh-CN" altLang="en-US" b="1" dirty="0">
                <a:solidFill>
                  <a:srgbClr val="FF0000"/>
                </a:solidFill>
                <a:latin typeface="Times New Roman" panose="02020603050405020304" pitchFamily="18" charset="0"/>
              </a:rPr>
              <a:t>）</a:t>
            </a:r>
            <a:r>
              <a:rPr lang="zh-CN" altLang="en-US" b="1" dirty="0">
                <a:latin typeface="Times New Roman" panose="02020603050405020304" pitchFamily="18" charset="0"/>
              </a:rPr>
              <a:t>和在工作过程中只能读出不能写入的</a:t>
            </a:r>
            <a:r>
              <a:rPr lang="zh-CN" altLang="en-US" b="1" dirty="0">
                <a:solidFill>
                  <a:srgbClr val="FF0000"/>
                </a:solidFill>
                <a:latin typeface="Times New Roman" panose="02020603050405020304" pitchFamily="18" charset="0"/>
              </a:rPr>
              <a:t>只读存储器（简称</a:t>
            </a:r>
            <a:r>
              <a:rPr lang="en-US" altLang="zh-CN" b="1" dirty="0">
                <a:solidFill>
                  <a:srgbClr val="FF0000"/>
                </a:solidFill>
                <a:latin typeface="Times New Roman" panose="02020603050405020304" pitchFamily="18" charset="0"/>
              </a:rPr>
              <a:t>ROM</a:t>
            </a:r>
            <a:r>
              <a:rPr lang="zh-CN" altLang="en-US" b="1" dirty="0">
                <a:solidFill>
                  <a:srgbClr val="FF0000"/>
                </a:solidFill>
                <a:latin typeface="Times New Roman" panose="02020603050405020304" pitchFamily="18" charset="0"/>
              </a:rPr>
              <a:t>）</a:t>
            </a:r>
            <a:r>
              <a:rPr lang="zh-CN" altLang="en-US" b="1" dirty="0">
                <a:latin typeface="Times New Roman" panose="02020603050405020304" pitchFamily="18" charset="0"/>
              </a:rPr>
              <a:t>。</a:t>
            </a:r>
            <a:r>
              <a:rPr lang="en-US" altLang="zh-CN" b="1" dirty="0">
                <a:solidFill>
                  <a:srgbClr val="FF0000"/>
                </a:solidFill>
                <a:latin typeface="Times New Roman" panose="02020603050405020304" pitchFamily="18" charset="0"/>
              </a:rPr>
              <a:t>RAM</a:t>
            </a:r>
            <a:r>
              <a:rPr lang="zh-CN" altLang="en-US" b="1" dirty="0">
                <a:solidFill>
                  <a:srgbClr val="FF0000"/>
                </a:solidFill>
                <a:latin typeface="Times New Roman" panose="02020603050405020304" pitchFamily="18" charset="0"/>
              </a:rPr>
              <a:t>用来存放用户程序，</a:t>
            </a:r>
            <a:r>
              <a:rPr lang="en-US" altLang="zh-CN" b="1" dirty="0">
                <a:solidFill>
                  <a:srgbClr val="FF0000"/>
                </a:solidFill>
                <a:latin typeface="Times New Roman" panose="02020603050405020304" pitchFamily="18" charset="0"/>
              </a:rPr>
              <a:t>ROM</a:t>
            </a:r>
            <a:r>
              <a:rPr lang="zh-CN" altLang="en-US" b="1" dirty="0">
                <a:solidFill>
                  <a:srgbClr val="FF0000"/>
                </a:solidFill>
                <a:latin typeface="Times New Roman" panose="02020603050405020304" pitchFamily="18" charset="0"/>
              </a:rPr>
              <a:t>用来存放系统程序。</a:t>
            </a:r>
          </a:p>
          <a:p>
            <a:pPr eaLnBrk="1" hangingPunct="1">
              <a:buNone/>
            </a:pPr>
            <a:r>
              <a:rPr lang="zh-CN" altLang="en-US" b="1" dirty="0">
                <a:latin typeface="Times New Roman" panose="02020603050405020304" pitchFamily="18" charset="0"/>
              </a:rPr>
              <a:t>        另外还有</a:t>
            </a:r>
            <a:r>
              <a:rPr lang="en-US" altLang="zh-CN" b="1" dirty="0">
                <a:latin typeface="Times New Roman" panose="02020603050405020304" pitchFamily="18" charset="0"/>
              </a:rPr>
              <a:t>EPROM</a:t>
            </a:r>
            <a:r>
              <a:rPr lang="zh-CN" altLang="en-US" b="1" dirty="0">
                <a:latin typeface="Times New Roman" panose="02020603050405020304" pitchFamily="18" charset="0"/>
              </a:rPr>
              <a:t>和</a:t>
            </a:r>
            <a:r>
              <a:rPr lang="en-US" altLang="zh-CN" b="1" dirty="0">
                <a:latin typeface="Times New Roman" panose="02020603050405020304" pitchFamily="18" charset="0"/>
              </a:rPr>
              <a:t>EEPROM</a:t>
            </a:r>
            <a:r>
              <a:rPr lang="zh-CN" altLang="en-US" b="1" dirty="0">
                <a:latin typeface="Times New Roman" panose="02020603050405020304" pitchFamily="18" charset="0"/>
              </a:rPr>
              <a:t>两种存储器。</a:t>
            </a:r>
          </a:p>
          <a:p>
            <a:pPr eaLnBrk="1" hangingPunct="1">
              <a:buNone/>
            </a:pPr>
            <a:endParaRPr lang="en-US" altLang="zh-CN" b="1" dirty="0">
              <a:latin typeface="Times New Roman" panose="02020603050405020304" pitchFamily="18"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idx="1"/>
          </p:nvPr>
        </p:nvSpPr>
        <p:spPr>
          <a:xfrm>
            <a:off x="0" y="620713"/>
            <a:ext cx="8229600" cy="4724400"/>
          </a:xfrm>
        </p:spPr>
        <p:txBody>
          <a:bodyPr vert="horz" wrap="square" lIns="91440" tIns="45720" rIns="91440" bIns="45720" anchor="t" anchorCtr="0"/>
          <a:lstStyle/>
          <a:p>
            <a:pPr eaLnBrk="1" hangingPunct="1">
              <a:lnSpc>
                <a:spcPct val="90000"/>
              </a:lnSpc>
              <a:buNone/>
            </a:pPr>
            <a:r>
              <a:rPr lang="en-US" altLang="zh-CN" sz="2800" b="1" dirty="0">
                <a:latin typeface="Times New Roman" panose="02020603050405020304" pitchFamily="18" charset="0"/>
              </a:rPr>
              <a:t>2.1.3 </a:t>
            </a:r>
            <a:r>
              <a:rPr lang="zh-CN" altLang="en-US" sz="2800" b="1" dirty="0">
                <a:latin typeface="Times New Roman" panose="02020603050405020304" pitchFamily="18" charset="0"/>
              </a:rPr>
              <a:t>输入</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输出模块</a:t>
            </a:r>
          </a:p>
          <a:p>
            <a:pPr eaLnBrk="1" hangingPunct="1">
              <a:lnSpc>
                <a:spcPct val="90000"/>
              </a:lnSpc>
              <a:buNone/>
            </a:pPr>
            <a:r>
              <a:rPr lang="zh-CN" altLang="en-US" sz="2800" b="1" dirty="0">
                <a:latin typeface="Times New Roman" panose="02020603050405020304" pitchFamily="18" charset="0"/>
              </a:rPr>
              <a:t>           </a:t>
            </a:r>
            <a:r>
              <a:rPr lang="zh-CN" altLang="en-US" sz="2800" b="1" dirty="0">
                <a:solidFill>
                  <a:srgbClr val="FF0000"/>
                </a:solidFill>
                <a:latin typeface="Times New Roman" panose="02020603050405020304" pitchFamily="18" charset="0"/>
              </a:rPr>
              <a:t>输入</a:t>
            </a:r>
            <a:r>
              <a:rPr lang="en-US" altLang="zh-CN" sz="2800" b="1" dirty="0">
                <a:solidFill>
                  <a:srgbClr val="FF0000"/>
                </a:solidFill>
                <a:latin typeface="Times New Roman" panose="02020603050405020304" pitchFamily="18" charset="0"/>
              </a:rPr>
              <a:t>/</a:t>
            </a:r>
            <a:r>
              <a:rPr lang="zh-CN" altLang="en-US" sz="2800" b="1" dirty="0">
                <a:solidFill>
                  <a:srgbClr val="FF0000"/>
                </a:solidFill>
                <a:latin typeface="Times New Roman" panose="02020603050405020304" pitchFamily="18" charset="0"/>
              </a:rPr>
              <a:t>输出（简称</a:t>
            </a:r>
            <a:r>
              <a:rPr lang="en-US" altLang="zh-CN" sz="2800" b="1" dirty="0">
                <a:solidFill>
                  <a:srgbClr val="FF0000"/>
                </a:solidFill>
                <a:latin typeface="Times New Roman" panose="02020603050405020304" pitchFamily="18" charset="0"/>
              </a:rPr>
              <a:t>I/O</a:t>
            </a:r>
            <a:r>
              <a:rPr lang="zh-CN" altLang="en-US" sz="2800" b="1" dirty="0">
                <a:solidFill>
                  <a:srgbClr val="FF0000"/>
                </a:solidFill>
                <a:latin typeface="Times New Roman" panose="02020603050405020304" pitchFamily="18" charset="0"/>
              </a:rPr>
              <a:t>）模块是</a:t>
            </a:r>
            <a:r>
              <a:rPr lang="en-US" altLang="zh-CN" sz="2800" b="1" dirty="0">
                <a:solidFill>
                  <a:srgbClr val="FF0000"/>
                </a:solidFill>
                <a:latin typeface="Times New Roman" panose="02020603050405020304" pitchFamily="18" charset="0"/>
              </a:rPr>
              <a:t>CPU</a:t>
            </a:r>
            <a:r>
              <a:rPr lang="zh-CN" altLang="en-US" sz="2800" b="1" dirty="0">
                <a:solidFill>
                  <a:srgbClr val="FF0000"/>
                </a:solidFill>
                <a:latin typeface="Times New Roman" panose="02020603050405020304" pitchFamily="18" charset="0"/>
              </a:rPr>
              <a:t>与现场输入设备（如限位开关、操作按钮、选择开关、行程开关等）、输出设备（如驱动电磁阀、接触器、电机等）或其他外部设备之间连接的桥梁。</a:t>
            </a:r>
          </a:p>
          <a:p>
            <a:pPr eaLnBrk="1" hangingPunct="1">
              <a:lnSpc>
                <a:spcPct val="90000"/>
              </a:lnSpc>
              <a:buNone/>
            </a:pPr>
            <a:r>
              <a:rPr lang="zh-CN" altLang="en-US" sz="2800" b="1" dirty="0">
                <a:latin typeface="Times New Roman" panose="02020603050405020304" pitchFamily="18" charset="0"/>
              </a:rPr>
              <a:t>           </a:t>
            </a:r>
            <a:r>
              <a:rPr lang="zh-CN" altLang="en-US" sz="2800" b="1" dirty="0">
                <a:solidFill>
                  <a:srgbClr val="FF0000"/>
                </a:solidFill>
                <a:latin typeface="Times New Roman" panose="02020603050405020304" pitchFamily="18" charset="0"/>
              </a:rPr>
              <a:t>通过各种输入</a:t>
            </a:r>
            <a:r>
              <a:rPr lang="en-US" altLang="zh-CN" sz="2800" b="1" dirty="0">
                <a:solidFill>
                  <a:srgbClr val="FF0000"/>
                </a:solidFill>
                <a:latin typeface="Times New Roman" panose="02020603050405020304" pitchFamily="18" charset="0"/>
              </a:rPr>
              <a:t>/</a:t>
            </a:r>
            <a:r>
              <a:rPr lang="zh-CN" altLang="en-US" sz="2800" b="1" dirty="0">
                <a:solidFill>
                  <a:srgbClr val="FF0000"/>
                </a:solidFill>
                <a:latin typeface="Times New Roman" panose="02020603050405020304" pitchFamily="18" charset="0"/>
              </a:rPr>
              <a:t>输出（</a:t>
            </a:r>
            <a:r>
              <a:rPr lang="en-US" altLang="zh-CN" sz="2800" b="1" dirty="0">
                <a:solidFill>
                  <a:srgbClr val="FF0000"/>
                </a:solidFill>
                <a:latin typeface="Times New Roman" panose="02020603050405020304" pitchFamily="18" charset="0"/>
              </a:rPr>
              <a:t>I/O</a:t>
            </a:r>
            <a:r>
              <a:rPr lang="zh-CN" altLang="en-US" sz="2800" b="1" dirty="0">
                <a:solidFill>
                  <a:srgbClr val="FF0000"/>
                </a:solidFill>
                <a:latin typeface="Times New Roman" panose="02020603050405020304" pitchFamily="18" charset="0"/>
              </a:rPr>
              <a:t>）接口模块，可编程控制器既可检测到所需的过程信息，又可将处理后的结果传送给外部过程，驱动各种执行机构，实现工业生产过程的控制。</a:t>
            </a:r>
          </a:p>
          <a:p>
            <a:pPr eaLnBrk="1" hangingPunct="1">
              <a:lnSpc>
                <a:spcPct val="90000"/>
              </a:lnSpc>
              <a:buNone/>
            </a:pPr>
            <a:r>
              <a:rPr lang="zh-CN" altLang="en-US" sz="2800" b="1" dirty="0">
                <a:latin typeface="Times New Roman" panose="02020603050405020304" pitchFamily="18" charset="0"/>
              </a:rPr>
              <a:t>           </a:t>
            </a:r>
            <a:r>
              <a:rPr lang="en-US" altLang="zh-CN" sz="2800" b="1" dirty="0">
                <a:solidFill>
                  <a:srgbClr val="FF0000"/>
                </a:solidFill>
                <a:latin typeface="Times New Roman" panose="02020603050405020304" pitchFamily="18" charset="0"/>
              </a:rPr>
              <a:t>PLC</a:t>
            </a:r>
            <a:r>
              <a:rPr lang="zh-CN" altLang="en-US" sz="2800" b="1" dirty="0">
                <a:solidFill>
                  <a:srgbClr val="FF0000"/>
                </a:solidFill>
                <a:latin typeface="Times New Roman" panose="02020603050405020304" pitchFamily="18" charset="0"/>
              </a:rPr>
              <a:t>的</a:t>
            </a:r>
            <a:r>
              <a:rPr lang="en-US" altLang="zh-CN" sz="2800" b="1" dirty="0">
                <a:solidFill>
                  <a:srgbClr val="FF0000"/>
                </a:solidFill>
                <a:latin typeface="Times New Roman" panose="02020603050405020304" pitchFamily="18" charset="0"/>
              </a:rPr>
              <a:t>CPU</a:t>
            </a:r>
            <a:r>
              <a:rPr lang="zh-CN" altLang="en-US" sz="2800" b="1" dirty="0">
                <a:solidFill>
                  <a:srgbClr val="FF0000"/>
                </a:solidFill>
                <a:latin typeface="Times New Roman" panose="02020603050405020304" pitchFamily="18" charset="0"/>
              </a:rPr>
              <a:t>所处理的只能是标准电平</a:t>
            </a:r>
            <a:r>
              <a:rPr lang="zh-CN" altLang="en-US" sz="2800" b="1" dirty="0">
                <a:latin typeface="Times New Roman" panose="02020603050405020304" pitchFamily="18" charset="0"/>
              </a:rPr>
              <a:t>，正是通过</a:t>
            </a:r>
            <a:r>
              <a:rPr lang="en-US" altLang="zh-CN" sz="2800" b="1" dirty="0">
                <a:latin typeface="Times New Roman" panose="02020603050405020304" pitchFamily="18" charset="0"/>
              </a:rPr>
              <a:t>I/O</a:t>
            </a:r>
            <a:r>
              <a:rPr lang="zh-CN" altLang="en-US" sz="2800" b="1" dirty="0">
                <a:latin typeface="Times New Roman" panose="02020603050405020304" pitchFamily="18" charset="0"/>
              </a:rPr>
              <a:t>接口实现了这种信号电平的转换。同时，为了防止引起误动作，在</a:t>
            </a:r>
            <a:r>
              <a:rPr lang="en-US" altLang="zh-CN" sz="2800" b="1" dirty="0">
                <a:latin typeface="Times New Roman" panose="02020603050405020304" pitchFamily="18" charset="0"/>
              </a:rPr>
              <a:t>CPU</a:t>
            </a:r>
            <a:r>
              <a:rPr lang="zh-CN" altLang="en-US" sz="2800" b="1" dirty="0">
                <a:latin typeface="Times New Roman" panose="02020603050405020304" pitchFamily="18" charset="0"/>
              </a:rPr>
              <a:t>与</a:t>
            </a:r>
            <a:r>
              <a:rPr lang="en-US" altLang="zh-CN" sz="2800" b="1" dirty="0">
                <a:latin typeface="Times New Roman" panose="02020603050405020304" pitchFamily="18" charset="0"/>
              </a:rPr>
              <a:t>I/O</a:t>
            </a:r>
            <a:r>
              <a:rPr lang="zh-CN" altLang="en-US" sz="2800" b="1" dirty="0">
                <a:latin typeface="Times New Roman" panose="02020603050405020304" pitchFamily="18" charset="0"/>
              </a:rPr>
              <a:t>模块之间采用了</a:t>
            </a:r>
            <a:r>
              <a:rPr lang="zh-CN" altLang="en-US" sz="2800" b="1" dirty="0">
                <a:solidFill>
                  <a:srgbClr val="FF0000"/>
                </a:solidFill>
                <a:latin typeface="Times New Roman" panose="02020603050405020304" pitchFamily="18" charset="0"/>
              </a:rPr>
              <a:t>光电隔离措施</a:t>
            </a:r>
            <a:r>
              <a:rPr lang="zh-CN" altLang="en-US" sz="2800" b="1" dirty="0">
                <a:latin typeface="Times New Roman" panose="02020603050405020304" pitchFamily="18" charset="0"/>
              </a:rPr>
              <a:t>。一般还具有</a:t>
            </a:r>
            <a:r>
              <a:rPr lang="zh-CN" altLang="en-US" sz="2800" b="1" dirty="0">
                <a:solidFill>
                  <a:srgbClr val="FF0000"/>
                </a:solidFill>
                <a:latin typeface="Times New Roman" panose="02020603050405020304" pitchFamily="18" charset="0"/>
              </a:rPr>
              <a:t>滤波</a:t>
            </a:r>
            <a:r>
              <a:rPr lang="zh-CN" altLang="en-US" sz="2800" b="1" dirty="0">
                <a:latin typeface="Times New Roman" panose="02020603050405020304" pitchFamily="18" charset="0"/>
              </a:rPr>
              <a:t>功能，提高抗干扰性。</a:t>
            </a:r>
          </a:p>
          <a:p>
            <a:pPr eaLnBrk="1" hangingPunct="1">
              <a:lnSpc>
                <a:spcPct val="90000"/>
              </a:lnSpc>
              <a:buNone/>
            </a:pPr>
            <a:endParaRPr lang="en-US" altLang="zh-CN" sz="2800" b="1" dirty="0">
              <a:latin typeface="Times New Roman" panose="02020603050405020304" pitchFamily="18" charset="0"/>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idx="1"/>
          </p:nvPr>
        </p:nvSpPr>
        <p:spPr>
          <a:xfrm>
            <a:off x="395288" y="476250"/>
            <a:ext cx="8229600" cy="4724400"/>
          </a:xfrm>
        </p:spPr>
        <p:txBody>
          <a:bodyPr vert="horz" wrap="square" lIns="91440" tIns="45720" rIns="91440" bIns="45720" anchor="t" anchorCtr="0"/>
          <a:lstStyle/>
          <a:p>
            <a:pPr eaLnBrk="1" hangingPunct="1">
              <a:lnSpc>
                <a:spcPct val="90000"/>
              </a:lnSpc>
              <a:buNone/>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为了适应各种各样的过程信号，相应地有许多</a:t>
            </a:r>
            <a:r>
              <a:rPr lang="en-US" altLang="zh-CN" sz="2800" b="1" dirty="0">
                <a:latin typeface="Times New Roman" panose="02020603050405020304" pitchFamily="18" charset="0"/>
              </a:rPr>
              <a:t>I/O</a:t>
            </a:r>
            <a:r>
              <a:rPr lang="zh-CN" altLang="en-US" sz="2800" b="1" dirty="0">
                <a:latin typeface="Times New Roman" panose="02020603050405020304" pitchFamily="18" charset="0"/>
              </a:rPr>
              <a:t>接口模块。</a:t>
            </a:r>
            <a:r>
              <a:rPr lang="zh-CN" altLang="en-US" sz="2800" b="1" dirty="0">
                <a:solidFill>
                  <a:srgbClr val="FF0000"/>
                </a:solidFill>
                <a:latin typeface="Times New Roman" panose="02020603050405020304" pitchFamily="18" charset="0"/>
              </a:rPr>
              <a:t>它们包括开关量输入</a:t>
            </a:r>
            <a:r>
              <a:rPr lang="en-US" altLang="zh-CN" sz="2800" b="1" dirty="0">
                <a:solidFill>
                  <a:srgbClr val="FF0000"/>
                </a:solidFill>
                <a:latin typeface="Times New Roman" panose="02020603050405020304" pitchFamily="18" charset="0"/>
              </a:rPr>
              <a:t>/</a:t>
            </a:r>
            <a:r>
              <a:rPr lang="zh-CN" altLang="en-US" sz="2800" b="1" dirty="0">
                <a:solidFill>
                  <a:srgbClr val="FF0000"/>
                </a:solidFill>
                <a:latin typeface="Times New Roman" panose="02020603050405020304" pitchFamily="18" charset="0"/>
              </a:rPr>
              <a:t>输出模块、模拟量输入</a:t>
            </a:r>
            <a:r>
              <a:rPr lang="en-US" altLang="zh-CN" sz="2800" b="1" dirty="0">
                <a:solidFill>
                  <a:srgbClr val="FF0000"/>
                </a:solidFill>
                <a:latin typeface="Times New Roman" panose="02020603050405020304" pitchFamily="18" charset="0"/>
              </a:rPr>
              <a:t>/</a:t>
            </a:r>
            <a:r>
              <a:rPr lang="zh-CN" altLang="en-US" sz="2800" b="1" dirty="0">
                <a:solidFill>
                  <a:srgbClr val="FF0000"/>
                </a:solidFill>
                <a:latin typeface="Times New Roman" panose="02020603050405020304" pitchFamily="18" charset="0"/>
              </a:rPr>
              <a:t>输出模块，</a:t>
            </a:r>
            <a:r>
              <a:rPr lang="zh-CN" altLang="en-US" sz="2800" b="1" dirty="0">
                <a:latin typeface="Times New Roman" panose="02020603050405020304" pitchFamily="18" charset="0"/>
              </a:rPr>
              <a:t>在这些模块中又包含了各种不同信号电平的模块，下面分别介绍各种模块的基本原理。</a:t>
            </a:r>
          </a:p>
          <a:p>
            <a:pPr eaLnBrk="1" hangingPunct="1">
              <a:lnSpc>
                <a:spcPct val="90000"/>
              </a:lnSpc>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）开关量输入模块</a:t>
            </a:r>
          </a:p>
          <a:p>
            <a:pPr eaLnBrk="1" hangingPunct="1">
              <a:lnSpc>
                <a:spcPct val="90000"/>
              </a:lnSpc>
              <a:buNone/>
            </a:pPr>
            <a:r>
              <a:rPr lang="zh-CN" altLang="en-US" sz="2800" b="1" dirty="0">
                <a:latin typeface="Times New Roman" panose="02020603050405020304" pitchFamily="18" charset="0"/>
              </a:rPr>
              <a:t>    </a:t>
            </a:r>
            <a:r>
              <a:rPr lang="zh-CN" altLang="en-US" sz="2800" b="1" dirty="0">
                <a:solidFill>
                  <a:srgbClr val="FF0000"/>
                </a:solidFill>
                <a:latin typeface="Times New Roman" panose="02020603050405020304" pitchFamily="18" charset="0"/>
              </a:rPr>
              <a:t>开关量输入模块的作用是接收现场的开关信号，并将输入的高电平信号转换为</a:t>
            </a:r>
            <a:r>
              <a:rPr lang="en-US" altLang="zh-CN" sz="2800" b="1" dirty="0">
                <a:solidFill>
                  <a:srgbClr val="FF0000"/>
                </a:solidFill>
                <a:latin typeface="Times New Roman" panose="02020603050405020304" pitchFamily="18" charset="0"/>
              </a:rPr>
              <a:t>PLC</a:t>
            </a:r>
            <a:r>
              <a:rPr lang="zh-CN" altLang="en-US" sz="2800" b="1" dirty="0">
                <a:solidFill>
                  <a:srgbClr val="FF0000"/>
                </a:solidFill>
                <a:latin typeface="Times New Roman" panose="02020603050405020304" pitchFamily="18" charset="0"/>
              </a:rPr>
              <a:t>内部所需要的低电平信号。</a:t>
            </a:r>
            <a:r>
              <a:rPr lang="zh-CN" altLang="en-US" sz="2800" b="1" dirty="0">
                <a:latin typeface="Times New Roman" panose="02020603050405020304" pitchFamily="18" charset="0"/>
              </a:rPr>
              <a:t>开关量输入模块根据使用的电源不同，分为直流输入模块、交流输入模块和交直流输入模块三种。</a:t>
            </a:r>
            <a:r>
              <a:rPr lang="zh-CN" altLang="en-US" sz="2800" b="1" dirty="0">
                <a:solidFill>
                  <a:srgbClr val="FF0000"/>
                </a:solidFill>
                <a:latin typeface="Times New Roman" panose="02020603050405020304" pitchFamily="18" charset="0"/>
              </a:rPr>
              <a:t>外部输入器件可以是无源器件</a:t>
            </a:r>
            <a:r>
              <a:rPr lang="zh-CN" altLang="en-US" sz="2800" b="1" dirty="0">
                <a:latin typeface="Times New Roman" panose="02020603050405020304" pitchFamily="18" charset="0"/>
              </a:rPr>
              <a:t>，如按钮、行程开关、主令开关等；外部输入器件</a:t>
            </a:r>
            <a:r>
              <a:rPr lang="zh-CN" altLang="en-US" sz="2800" b="1" dirty="0">
                <a:solidFill>
                  <a:srgbClr val="FF0000"/>
                </a:solidFill>
                <a:latin typeface="Times New Roman" panose="02020603050405020304" pitchFamily="18" charset="0"/>
              </a:rPr>
              <a:t>也可以是有源器件</a:t>
            </a:r>
            <a:r>
              <a:rPr lang="zh-CN" altLang="en-US" sz="2800" b="1" dirty="0">
                <a:latin typeface="Times New Roman" panose="02020603050405020304" pitchFamily="18" charset="0"/>
              </a:rPr>
              <a:t>，如集电极开路的晶体管接近开关、光电开关等。</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idx="1"/>
          </p:nvPr>
        </p:nvSpPr>
        <p:spPr>
          <a:xfrm>
            <a:off x="395288" y="476250"/>
            <a:ext cx="8229600" cy="4724400"/>
          </a:xfrm>
        </p:spPr>
        <p:txBody>
          <a:bodyPr vert="horz" wrap="square" lIns="91440" tIns="45720" rIns="91440" bIns="45720" anchor="t" anchorCtr="0"/>
          <a:lstStyle/>
          <a:p>
            <a:pPr eaLnBrk="1" hangingPunct="1">
              <a:buNone/>
            </a:pPr>
            <a:r>
              <a:rPr lang="en-US" altLang="zh-CN" sz="2800" b="1" dirty="0">
                <a:latin typeface="Times New Roman" panose="02020603050405020304" pitchFamily="18" charset="0"/>
              </a:rPr>
              <a:t>1</a:t>
            </a:r>
            <a:r>
              <a:rPr lang="zh-CN" altLang="en-US" sz="2800" b="1" dirty="0">
                <a:latin typeface="Times New Roman" panose="02020603050405020304" pitchFamily="18" charset="0"/>
              </a:rPr>
              <a:t>）直流输入模块</a:t>
            </a:r>
          </a:p>
          <a:p>
            <a:pPr eaLnBrk="1" hangingPunct="1">
              <a:buNone/>
            </a:pPr>
            <a:r>
              <a:rPr lang="zh-CN" altLang="en-US" sz="2800" b="1" dirty="0">
                <a:latin typeface="Times New Roman" panose="02020603050405020304" pitchFamily="18" charset="0"/>
              </a:rPr>
              <a:t>    直流输入模块的电路原理如图</a:t>
            </a:r>
            <a:r>
              <a:rPr lang="en-US" altLang="zh-CN" sz="2800" b="1" dirty="0">
                <a:latin typeface="Times New Roman" panose="02020603050405020304" pitchFamily="18" charset="0"/>
              </a:rPr>
              <a:t>2.2</a:t>
            </a:r>
            <a:r>
              <a:rPr lang="zh-CN" altLang="en-US" sz="2800" b="1" dirty="0">
                <a:latin typeface="Times New Roman" panose="02020603050405020304" pitchFamily="18" charset="0"/>
              </a:rPr>
              <a:t>所示。输 入点数有</a:t>
            </a:r>
            <a:r>
              <a:rPr lang="en-US" altLang="zh-CN" sz="2800" b="1" dirty="0">
                <a:latin typeface="Times New Roman" panose="02020603050405020304" pitchFamily="18" charset="0"/>
              </a:rPr>
              <a:t>8</a:t>
            </a:r>
            <a:r>
              <a:rPr lang="zh-CN" altLang="en-US" sz="2800" b="1" dirty="0">
                <a:latin typeface="Times New Roman" panose="02020603050405020304" pitchFamily="18" charset="0"/>
              </a:rPr>
              <a:t>点、</a:t>
            </a:r>
            <a:r>
              <a:rPr lang="en-US" altLang="zh-CN" sz="2800" b="1" dirty="0">
                <a:latin typeface="Times New Roman" panose="02020603050405020304" pitchFamily="18" charset="0"/>
              </a:rPr>
              <a:t>16</a:t>
            </a:r>
            <a:r>
              <a:rPr lang="zh-CN" altLang="en-US" sz="2800" b="1" dirty="0">
                <a:latin typeface="Times New Roman" panose="02020603050405020304" pitchFamily="18" charset="0"/>
              </a:rPr>
              <a:t>点、</a:t>
            </a:r>
            <a:r>
              <a:rPr lang="en-US" altLang="zh-CN" sz="2800" b="1" dirty="0">
                <a:latin typeface="Times New Roman" panose="02020603050405020304" pitchFamily="18" charset="0"/>
              </a:rPr>
              <a:t>24</a:t>
            </a:r>
            <a:r>
              <a:rPr lang="zh-CN" altLang="en-US" sz="2800" b="1" dirty="0">
                <a:latin typeface="Times New Roman" panose="02020603050405020304" pitchFamily="18" charset="0"/>
              </a:rPr>
              <a:t>点或</a:t>
            </a:r>
            <a:r>
              <a:rPr lang="en-US" altLang="zh-CN" sz="2800" b="1" dirty="0">
                <a:latin typeface="Times New Roman" panose="02020603050405020304" pitchFamily="18" charset="0"/>
              </a:rPr>
              <a:t>32</a:t>
            </a:r>
            <a:r>
              <a:rPr lang="zh-CN" altLang="en-US" sz="2800" b="1" dirty="0">
                <a:latin typeface="Times New Roman" panose="02020603050405020304" pitchFamily="18" charset="0"/>
              </a:rPr>
              <a:t>点等。</a:t>
            </a:r>
            <a:r>
              <a:rPr lang="zh-CN" altLang="en-US" sz="2800" b="1" dirty="0">
                <a:solidFill>
                  <a:srgbClr val="FF0000"/>
                </a:solidFill>
                <a:latin typeface="Times New Roman" panose="02020603050405020304" pitchFamily="18" charset="0"/>
              </a:rPr>
              <a:t>这些输入点有一个公共端子，即有一个公共汇集点，因此又称直流汇点输入方式。</a:t>
            </a:r>
          </a:p>
          <a:p>
            <a:pPr eaLnBrk="1" hangingPunct="1">
              <a:buNone/>
            </a:pPr>
            <a:r>
              <a:rPr lang="zh-CN" altLang="en-US" sz="2800" b="1" dirty="0">
                <a:latin typeface="Times New Roman" panose="02020603050405020304" pitchFamily="18" charset="0"/>
              </a:rPr>
              <a:t>    输入信号一般经过光电隔离，并经滤波后才被送入输入选择器。</a:t>
            </a:r>
            <a:r>
              <a:rPr lang="zh-CN" altLang="en-US" sz="2800" b="1" dirty="0">
                <a:solidFill>
                  <a:srgbClr val="FF0000"/>
                </a:solidFill>
                <a:latin typeface="Times New Roman" panose="02020603050405020304" pitchFamily="18" charset="0"/>
              </a:rPr>
              <a:t>输入选择器根据</a:t>
            </a:r>
            <a:r>
              <a:rPr lang="en-US" altLang="zh-CN" sz="2800" b="1" dirty="0">
                <a:solidFill>
                  <a:srgbClr val="FF0000"/>
                </a:solidFill>
                <a:latin typeface="Times New Roman" panose="02020603050405020304" pitchFamily="18" charset="0"/>
              </a:rPr>
              <a:t>PLC</a:t>
            </a:r>
            <a:r>
              <a:rPr lang="zh-CN" altLang="en-US" sz="2800" b="1" dirty="0">
                <a:solidFill>
                  <a:srgbClr val="FF0000"/>
                </a:solidFill>
                <a:latin typeface="Times New Roman" panose="02020603050405020304" pitchFamily="18" charset="0"/>
              </a:rPr>
              <a:t>的指令，通过</a:t>
            </a:r>
            <a:r>
              <a:rPr lang="en-US" altLang="zh-CN" sz="2800" b="1" dirty="0">
                <a:solidFill>
                  <a:srgbClr val="FF0000"/>
                </a:solidFill>
                <a:latin typeface="Times New Roman" panose="02020603050405020304" pitchFamily="18" charset="0"/>
              </a:rPr>
              <a:t>I/O</a:t>
            </a:r>
            <a:r>
              <a:rPr lang="zh-CN" altLang="en-US" sz="2800" b="1" dirty="0">
                <a:solidFill>
                  <a:srgbClr val="FF0000"/>
                </a:solidFill>
                <a:latin typeface="Times New Roman" panose="02020603050405020304" pitchFamily="18" charset="0"/>
              </a:rPr>
              <a:t>的地址总线和控制作用，使被选通的某点输入信号，经过</a:t>
            </a:r>
            <a:r>
              <a:rPr lang="en-US" altLang="zh-CN" sz="2800" b="1" dirty="0">
                <a:solidFill>
                  <a:srgbClr val="FF0000"/>
                </a:solidFill>
                <a:latin typeface="Times New Roman" panose="02020603050405020304" pitchFamily="18" charset="0"/>
              </a:rPr>
              <a:t>I/O</a:t>
            </a:r>
            <a:r>
              <a:rPr lang="zh-CN" altLang="en-US" sz="2800" b="1" dirty="0">
                <a:solidFill>
                  <a:srgbClr val="FF0000"/>
                </a:solidFill>
                <a:latin typeface="Times New Roman" panose="02020603050405020304" pitchFamily="18" charset="0"/>
              </a:rPr>
              <a:t>数据总线进入用户程序的数据存储区，以供</a:t>
            </a:r>
            <a:r>
              <a:rPr lang="en-US" altLang="zh-CN" sz="2800" b="1" dirty="0">
                <a:solidFill>
                  <a:srgbClr val="FF0000"/>
                </a:solidFill>
                <a:latin typeface="Times New Roman" panose="02020603050405020304" pitchFamily="18" charset="0"/>
              </a:rPr>
              <a:t>CPU</a:t>
            </a:r>
            <a:r>
              <a:rPr lang="zh-CN" altLang="en-US" sz="2800" b="1" dirty="0">
                <a:solidFill>
                  <a:srgbClr val="FF0000"/>
                </a:solidFill>
                <a:latin typeface="Times New Roman" panose="02020603050405020304" pitchFamily="18" charset="0"/>
              </a:rPr>
              <a:t>做逻辑或数值运算用。</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9" name="Picture 4" descr="2-02"/>
          <p:cNvPicPr>
            <a:picLocks noChangeAspect="1"/>
          </p:cNvPicPr>
          <p:nvPr/>
        </p:nvPicPr>
        <p:blipFill>
          <a:blip r:embed="rId2"/>
          <a:stretch>
            <a:fillRect/>
          </a:stretch>
        </p:blipFill>
        <p:spPr>
          <a:xfrm>
            <a:off x="609600" y="609600"/>
            <a:ext cx="7848600" cy="4591050"/>
          </a:xfrm>
          <a:prstGeom prst="rect">
            <a:avLst/>
          </a:prstGeom>
          <a:noFill/>
          <a:ln w="9525">
            <a:noFill/>
          </a:ln>
        </p:spPr>
      </p:pic>
      <p:sp>
        <p:nvSpPr>
          <p:cNvPr id="22530" name="Rectangle 5"/>
          <p:cNvSpPr/>
          <p:nvPr/>
        </p:nvSpPr>
        <p:spPr>
          <a:xfrm>
            <a:off x="1752600" y="5410200"/>
            <a:ext cx="5556250"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2.2   </a:t>
            </a:r>
            <a:r>
              <a:rPr lang="zh-CN" altLang="en-US" sz="3200" dirty="0">
                <a:latin typeface="Arial" panose="020B0604020202020204" pitchFamily="34" charset="0"/>
                <a:ea typeface="宋体" panose="02010600030101010101" pitchFamily="2" charset="-122"/>
              </a:rPr>
              <a:t>直流输入模块电路原理</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idx="1"/>
          </p:nvPr>
        </p:nvSpPr>
        <p:spPr>
          <a:xfrm>
            <a:off x="395288" y="836613"/>
            <a:ext cx="8229600" cy="4724400"/>
          </a:xfrm>
        </p:spPr>
        <p:txBody>
          <a:bodyPr vert="horz" wrap="square" lIns="91440" tIns="45720" rIns="91440" bIns="45720" anchor="t" anchorCtr="0"/>
          <a:lstStyle/>
          <a:p>
            <a:pPr eaLnBrk="1" hangingPunct="1">
              <a:lnSpc>
                <a:spcPct val="90000"/>
              </a:lnSpc>
              <a:buNone/>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补充：光电耦合器</a:t>
            </a:r>
          </a:p>
          <a:p>
            <a:pPr eaLnBrk="1" hangingPunct="1">
              <a:lnSpc>
                <a:spcPct val="90000"/>
              </a:lnSpc>
              <a:buNone/>
            </a:pPr>
            <a:r>
              <a:rPr lang="zh-CN" altLang="en-US" sz="2800" b="1" dirty="0">
                <a:latin typeface="Times New Roman" panose="02020603050405020304" pitchFamily="18" charset="0"/>
              </a:rPr>
              <a:t>    无论是开关量输入</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输出通道、模拟量输入</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输出通道，如果</a:t>
            </a:r>
            <a:r>
              <a:rPr lang="en-US" altLang="zh-CN" sz="2800" b="1" dirty="0">
                <a:latin typeface="Times New Roman" panose="02020603050405020304" pitchFamily="18" charset="0"/>
              </a:rPr>
              <a:t>A/D</a:t>
            </a:r>
            <a:r>
              <a:rPr lang="zh-CN" altLang="en-US" sz="2800" b="1" dirty="0">
                <a:latin typeface="Times New Roman" panose="02020603050405020304" pitchFamily="18" charset="0"/>
              </a:rPr>
              <a:t>或</a:t>
            </a:r>
            <a:r>
              <a:rPr lang="en-US" altLang="zh-CN" sz="2800" b="1" dirty="0">
                <a:latin typeface="Times New Roman" panose="02020603050405020304" pitchFamily="18" charset="0"/>
              </a:rPr>
              <a:t>D/A</a:t>
            </a:r>
            <a:r>
              <a:rPr lang="zh-CN" altLang="en-US" sz="2800" b="1" dirty="0">
                <a:latin typeface="Times New Roman" panose="02020603050405020304" pitchFamily="18" charset="0"/>
              </a:rPr>
              <a:t>通道直接与被控对象相连，容易通过公共地线引入干扰，必须采取隔离措施。通常采用光电耦合器，使两者之间只有光的联系，达到隔离的目的。</a:t>
            </a:r>
          </a:p>
          <a:p>
            <a:pPr eaLnBrk="1" hangingPunct="1">
              <a:lnSpc>
                <a:spcPct val="90000"/>
              </a:lnSpc>
              <a:buNone/>
            </a:pPr>
            <a:r>
              <a:rPr lang="zh-CN" altLang="en-US" sz="2800" b="1" dirty="0">
                <a:latin typeface="Times New Roman" panose="02020603050405020304" pitchFamily="18" charset="0"/>
              </a:rPr>
              <a:t>    光电耦合器由发光二极管和光敏三极管封装在同一管壳内组成，发光二极管和光敏三极管的输出具有类似普通三极管的输入</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输出特性。利用光电耦合器的线性区，可使</a:t>
            </a:r>
            <a:r>
              <a:rPr lang="en-US" altLang="zh-CN" sz="2800" b="1" dirty="0">
                <a:latin typeface="Times New Roman" panose="02020603050405020304" pitchFamily="18" charset="0"/>
              </a:rPr>
              <a:t>A/D</a:t>
            </a:r>
            <a:r>
              <a:rPr lang="zh-CN" altLang="en-US" sz="2800" b="1" dirty="0">
                <a:latin typeface="Times New Roman" panose="02020603050405020304" pitchFamily="18" charset="0"/>
              </a:rPr>
              <a:t>或</a:t>
            </a:r>
            <a:r>
              <a:rPr lang="en-US" altLang="zh-CN" sz="2800" b="1" dirty="0">
                <a:latin typeface="Times New Roman" panose="02020603050405020304" pitchFamily="18" charset="0"/>
              </a:rPr>
              <a:t>D/A</a:t>
            </a:r>
            <a:r>
              <a:rPr lang="zh-CN" altLang="en-US" sz="2800" b="1" dirty="0">
                <a:latin typeface="Times New Roman" panose="02020603050405020304" pitchFamily="18" charset="0"/>
              </a:rPr>
              <a:t>转换器的输入变为相应的输出，避免了公共地线所引起的干扰。</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idx="1"/>
          </p:nvPr>
        </p:nvSpPr>
        <p:spPr>
          <a:xfrm>
            <a:off x="323850" y="765175"/>
            <a:ext cx="8229600" cy="47244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a:t>
            </a:r>
            <a:r>
              <a:rPr lang="zh-CN" altLang="en-US" b="1" dirty="0">
                <a:latin typeface="Times New Roman" panose="02020603050405020304" pitchFamily="18" charset="0"/>
              </a:rPr>
              <a:t>）交流输入模块</a:t>
            </a:r>
          </a:p>
          <a:p>
            <a:pPr eaLnBrk="1" hangingPunct="1">
              <a:buNone/>
            </a:pPr>
            <a:r>
              <a:rPr lang="zh-CN" altLang="en-US" b="1" dirty="0">
                <a:latin typeface="Times New Roman" panose="02020603050405020304" pitchFamily="18" charset="0"/>
              </a:rPr>
              <a:t>    </a:t>
            </a:r>
            <a:r>
              <a:rPr lang="zh-CN" altLang="en-US" b="1" dirty="0">
                <a:solidFill>
                  <a:srgbClr val="FF0000"/>
                </a:solidFill>
                <a:latin typeface="Times New Roman" panose="02020603050405020304" pitchFamily="18" charset="0"/>
              </a:rPr>
              <a:t>对于交流输入模块，当各输入电路有一个公共端子时，称为交流汇点输入方式，</a:t>
            </a:r>
            <a:r>
              <a:rPr lang="zh-CN" altLang="en-US" b="1" dirty="0">
                <a:latin typeface="Times New Roman" panose="02020603050405020304" pitchFamily="18" charset="0"/>
              </a:rPr>
              <a:t>其电路原理如图</a:t>
            </a:r>
            <a:r>
              <a:rPr lang="en-US" altLang="zh-CN" b="1" dirty="0">
                <a:latin typeface="Times New Roman" panose="02020603050405020304" pitchFamily="18" charset="0"/>
              </a:rPr>
              <a:t>2.3</a:t>
            </a:r>
            <a:r>
              <a:rPr lang="zh-CN" altLang="en-US" b="1" dirty="0">
                <a:latin typeface="Times New Roman" panose="02020603050405020304" pitchFamily="18" charset="0"/>
              </a:rPr>
              <a:t>所示。</a:t>
            </a:r>
            <a:r>
              <a:rPr lang="zh-CN" altLang="en-US" b="1" dirty="0">
                <a:solidFill>
                  <a:srgbClr val="FF0000"/>
                </a:solidFill>
                <a:latin typeface="Times New Roman" panose="02020603050405020304" pitchFamily="18" charset="0"/>
              </a:rPr>
              <a:t>当各输入电路信号各自独立、互不影响、没有公共端子时，称为交流分隔输入方式，</a:t>
            </a:r>
            <a:r>
              <a:rPr lang="zh-CN" altLang="en-US" b="1" dirty="0">
                <a:latin typeface="Times New Roman" panose="02020603050405020304" pitchFamily="18" charset="0"/>
              </a:rPr>
              <a:t>其电路原理如图</a:t>
            </a:r>
            <a:r>
              <a:rPr lang="en-US" altLang="zh-CN" b="1" dirty="0">
                <a:latin typeface="Times New Roman" panose="02020603050405020304" pitchFamily="18" charset="0"/>
              </a:rPr>
              <a:t>2.4</a:t>
            </a:r>
            <a:r>
              <a:rPr lang="zh-CN" altLang="en-US" b="1" dirty="0">
                <a:latin typeface="Times New Roman" panose="02020603050405020304" pitchFamily="18" charset="0"/>
              </a:rPr>
              <a:t>所示。</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4" descr="2-03"/>
          <p:cNvPicPr>
            <a:picLocks noChangeAspect="1"/>
          </p:cNvPicPr>
          <p:nvPr/>
        </p:nvPicPr>
        <p:blipFill>
          <a:blip r:embed="rId2"/>
          <a:stretch>
            <a:fillRect/>
          </a:stretch>
        </p:blipFill>
        <p:spPr>
          <a:xfrm>
            <a:off x="685800" y="685800"/>
            <a:ext cx="8001000" cy="4584700"/>
          </a:xfrm>
          <a:prstGeom prst="rect">
            <a:avLst/>
          </a:prstGeom>
          <a:noFill/>
          <a:ln w="9525">
            <a:noFill/>
          </a:ln>
        </p:spPr>
      </p:pic>
      <p:sp>
        <p:nvSpPr>
          <p:cNvPr id="25602" name="Rectangle 5"/>
          <p:cNvSpPr/>
          <p:nvPr/>
        </p:nvSpPr>
        <p:spPr>
          <a:xfrm>
            <a:off x="1752600" y="5562600"/>
            <a:ext cx="6777038" cy="584200"/>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2.3   </a:t>
            </a:r>
            <a:r>
              <a:rPr lang="zh-CN" altLang="en-US" sz="3200" dirty="0">
                <a:latin typeface="Arial" panose="020B0604020202020204" pitchFamily="34" charset="0"/>
                <a:ea typeface="宋体" panose="02010600030101010101" pitchFamily="2" charset="-122"/>
              </a:rPr>
              <a:t>交流汇点输入模块电路原理图</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6"/>
          <p:cNvSpPr/>
          <p:nvPr/>
        </p:nvSpPr>
        <p:spPr>
          <a:xfrm>
            <a:off x="1143000" y="5715000"/>
            <a:ext cx="6775450"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2.4   </a:t>
            </a:r>
            <a:r>
              <a:rPr lang="zh-CN" altLang="en-US" sz="3200" dirty="0">
                <a:latin typeface="Arial" panose="020B0604020202020204" pitchFamily="34" charset="0"/>
                <a:ea typeface="宋体" panose="02010600030101010101" pitchFamily="2" charset="-122"/>
              </a:rPr>
              <a:t>交流分隔输入方式电路原理图</a:t>
            </a:r>
          </a:p>
        </p:txBody>
      </p:sp>
      <p:graphicFrame>
        <p:nvGraphicFramePr>
          <p:cNvPr id="26626" name="Object 7"/>
          <p:cNvGraphicFramePr>
            <a:graphicFrameLocks noGrp="1" noChangeAspect="1"/>
          </p:cNvGraphicFramePr>
          <p:nvPr>
            <p:ph/>
          </p:nvPr>
        </p:nvGraphicFramePr>
        <p:xfrm>
          <a:off x="395288" y="836613"/>
          <a:ext cx="8229600" cy="4949825"/>
        </p:xfrm>
        <a:graphic>
          <a:graphicData uri="http://schemas.openxmlformats.org/presentationml/2006/ole">
            <mc:AlternateContent xmlns:mc="http://schemas.openxmlformats.org/markup-compatibility/2006">
              <mc:Choice xmlns:v="urn:schemas-microsoft-com:vml" Requires="v">
                <p:oleObj spid="_x0000_s3082" r:id="rId3" imgW="8343900" imgH="5019675" progId="Paint.Picture">
                  <p:embed/>
                </p:oleObj>
              </mc:Choice>
              <mc:Fallback>
                <p:oleObj r:id="rId3" imgW="8343900" imgH="5019675" progId="Paint.Picture">
                  <p:embed/>
                  <p:pic>
                    <p:nvPicPr>
                      <p:cNvPr id="0" name="图片 3075"/>
                      <p:cNvPicPr/>
                      <p:nvPr/>
                    </p:nvPicPr>
                    <p:blipFill>
                      <a:blip r:embed="rId4"/>
                      <a:stretch>
                        <a:fillRect/>
                      </a:stretch>
                    </p:blipFill>
                    <p:spPr>
                      <a:xfrm>
                        <a:off x="395288" y="836613"/>
                        <a:ext cx="8229600" cy="4949825"/>
                      </a:xfrm>
                      <a:prstGeom prst="rect">
                        <a:avLst/>
                      </a:prstGeom>
                      <a:noFill/>
                      <a:ln w="38100">
                        <a:miter/>
                      </a:ln>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idx="1"/>
          </p:nvPr>
        </p:nvSpPr>
        <p:spPr>
          <a:xfrm>
            <a:off x="395288" y="476250"/>
            <a:ext cx="4537075" cy="4724400"/>
          </a:xfrm>
        </p:spPr>
        <p:txBody>
          <a:bodyPr vert="horz" wrap="square" lIns="91440" tIns="45720" rIns="91440" bIns="45720" anchor="t" anchorCtr="0"/>
          <a:lstStyle/>
          <a:p>
            <a:pPr eaLnBrk="1" hangingPunct="1">
              <a:lnSpc>
                <a:spcPct val="90000"/>
              </a:lnSpc>
              <a:buNone/>
            </a:pPr>
            <a:r>
              <a:rPr lang="en-US" altLang="zh-CN" b="1" dirty="0">
                <a:latin typeface="Times New Roman" panose="02020603050405020304" pitchFamily="18" charset="0"/>
              </a:rPr>
              <a:t>3</a:t>
            </a:r>
            <a:r>
              <a:rPr lang="zh-CN" altLang="en-US" b="1" dirty="0">
                <a:latin typeface="Times New Roman" panose="02020603050405020304" pitchFamily="18" charset="0"/>
              </a:rPr>
              <a:t>）交直流输入模块</a:t>
            </a:r>
          </a:p>
          <a:p>
            <a:pPr eaLnBrk="1" hangingPunct="1">
              <a:lnSpc>
                <a:spcPct val="90000"/>
              </a:lnSpc>
              <a:buNone/>
            </a:pPr>
            <a:r>
              <a:rPr lang="zh-CN" altLang="en-US" b="1" dirty="0">
                <a:latin typeface="Times New Roman" panose="02020603050405020304" pitchFamily="18" charset="0"/>
              </a:rPr>
              <a:t>           交直流输入模块的电路结构与直流输入模块和交流输入模块最大的不同在于其光电耦合器，如图</a:t>
            </a:r>
            <a:r>
              <a:rPr lang="en-US" altLang="zh-CN" b="1" dirty="0">
                <a:latin typeface="Times New Roman" panose="02020603050405020304" pitchFamily="18" charset="0"/>
              </a:rPr>
              <a:t>2.5</a:t>
            </a:r>
            <a:r>
              <a:rPr lang="zh-CN" altLang="en-US" b="1" dirty="0">
                <a:latin typeface="Times New Roman" panose="02020603050405020304" pitchFamily="18" charset="0"/>
              </a:rPr>
              <a:t>所示。模块所使用的电源可以是交流电源，也可以是直流电源。</a:t>
            </a:r>
          </a:p>
        </p:txBody>
      </p:sp>
      <p:pic>
        <p:nvPicPr>
          <p:cNvPr id="27650" name="Picture 3" descr="2-05"/>
          <p:cNvPicPr>
            <a:picLocks noChangeAspect="1"/>
          </p:cNvPicPr>
          <p:nvPr/>
        </p:nvPicPr>
        <p:blipFill>
          <a:blip r:embed="rId2"/>
          <a:stretch>
            <a:fillRect/>
          </a:stretch>
        </p:blipFill>
        <p:spPr>
          <a:xfrm>
            <a:off x="5219700" y="836613"/>
            <a:ext cx="3600450" cy="2836862"/>
          </a:xfrm>
          <a:prstGeom prst="rect">
            <a:avLst/>
          </a:prstGeom>
          <a:noFill/>
          <a:ln w="9525">
            <a:noFill/>
          </a:ln>
        </p:spPr>
      </p:pic>
      <p:sp>
        <p:nvSpPr>
          <p:cNvPr id="27651" name="Rectangle 4"/>
          <p:cNvSpPr/>
          <p:nvPr/>
        </p:nvSpPr>
        <p:spPr>
          <a:xfrm>
            <a:off x="5292725" y="3933825"/>
            <a:ext cx="3524250"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2.5   </a:t>
            </a:r>
            <a:r>
              <a:rPr lang="zh-CN" altLang="en-US" sz="3200" dirty="0">
                <a:latin typeface="Arial" panose="020B0604020202020204" pitchFamily="34" charset="0"/>
                <a:ea typeface="宋体" panose="02010600030101010101" pitchFamily="2" charset="-122"/>
              </a:rPr>
              <a:t>光电耦合器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idx="1"/>
          </p:nvPr>
        </p:nvSpPr>
        <p:spPr>
          <a:xfrm>
            <a:off x="323850" y="1125538"/>
            <a:ext cx="8229600" cy="47244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    </a:t>
            </a:r>
            <a:r>
              <a:rPr lang="zh-CN" altLang="en-US" b="1" dirty="0">
                <a:latin typeface="Times New Roman" panose="02020603050405020304" pitchFamily="18" charset="0"/>
              </a:rPr>
              <a:t>以上三种模块是</a:t>
            </a:r>
            <a:r>
              <a:rPr lang="en-US" altLang="zh-CN" b="1" dirty="0">
                <a:latin typeface="Times New Roman" panose="02020603050405020304" pitchFamily="18" charset="0"/>
              </a:rPr>
              <a:t>PLC</a:t>
            </a:r>
            <a:r>
              <a:rPr lang="zh-CN" altLang="en-US" b="1" dirty="0">
                <a:latin typeface="Times New Roman" panose="02020603050405020304" pitchFamily="18" charset="0"/>
              </a:rPr>
              <a:t>常用的</a:t>
            </a:r>
            <a:r>
              <a:rPr lang="en-US" altLang="zh-CN" b="1" dirty="0">
                <a:latin typeface="Times New Roman" panose="02020603050405020304" pitchFamily="18" charset="0"/>
              </a:rPr>
              <a:t>I/O</a:t>
            </a:r>
            <a:r>
              <a:rPr lang="zh-CN" altLang="en-US" b="1" dirty="0">
                <a:latin typeface="Times New Roman" panose="02020603050405020304" pitchFamily="18" charset="0"/>
              </a:rPr>
              <a:t>模块，为了让读者对汇点式和分隔式的概念有更深的理解，图</a:t>
            </a:r>
            <a:r>
              <a:rPr lang="en-US" altLang="zh-CN" b="1" dirty="0">
                <a:latin typeface="Times New Roman" panose="02020603050405020304" pitchFamily="18" charset="0"/>
              </a:rPr>
              <a:t>2.6</a:t>
            </a:r>
            <a:r>
              <a:rPr lang="zh-CN" altLang="en-US" b="1" dirty="0">
                <a:latin typeface="Times New Roman" panose="02020603050405020304" pitchFamily="18" charset="0"/>
              </a:rPr>
              <a:t>和图</a:t>
            </a:r>
            <a:r>
              <a:rPr lang="en-US" altLang="zh-CN" b="1" dirty="0">
                <a:latin typeface="Times New Roman" panose="02020603050405020304" pitchFamily="18" charset="0"/>
              </a:rPr>
              <a:t>2.7</a:t>
            </a:r>
            <a:r>
              <a:rPr lang="zh-CN" altLang="en-US" b="1" dirty="0">
                <a:latin typeface="Times New Roman" panose="02020603050405020304" pitchFamily="18" charset="0"/>
              </a:rPr>
              <a:t>分别给出了汇点式直流输入模块、交流输入模块的外部接线图及分隔式输入模块的外部接线图。</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4" descr="2-06"/>
          <p:cNvPicPr>
            <a:picLocks noChangeAspect="1"/>
          </p:cNvPicPr>
          <p:nvPr/>
        </p:nvPicPr>
        <p:blipFill>
          <a:blip r:embed="rId2"/>
          <a:stretch>
            <a:fillRect/>
          </a:stretch>
        </p:blipFill>
        <p:spPr>
          <a:xfrm>
            <a:off x="1600200" y="228600"/>
            <a:ext cx="5638800" cy="5197475"/>
          </a:xfrm>
          <a:prstGeom prst="rect">
            <a:avLst/>
          </a:prstGeom>
          <a:noFill/>
          <a:ln w="9525">
            <a:noFill/>
          </a:ln>
        </p:spPr>
      </p:pic>
      <p:sp>
        <p:nvSpPr>
          <p:cNvPr id="29698" name="Rectangle 5"/>
          <p:cNvSpPr/>
          <p:nvPr/>
        </p:nvSpPr>
        <p:spPr>
          <a:xfrm>
            <a:off x="2286000" y="5486400"/>
            <a:ext cx="4572000" cy="1160463"/>
          </a:xfrm>
          <a:prstGeom prst="rect">
            <a:avLst/>
          </a:prstGeom>
          <a:noFill/>
          <a:ln w="9525">
            <a:noFill/>
          </a:ln>
        </p:spPr>
        <p:txBody>
          <a:bodyPr anchor="t" anchorCtr="0">
            <a:spAutoFit/>
          </a:bodyPr>
          <a:lstStyle/>
          <a:p>
            <a:pPr algn="ctr">
              <a:spcBef>
                <a:spcPct val="50000"/>
              </a:spcBef>
            </a:pPr>
            <a:r>
              <a:rPr lang="zh-CN" altLang="en-US" sz="2800" dirty="0">
                <a:latin typeface="Arial" panose="020B0604020202020204" pitchFamily="34" charset="0"/>
                <a:ea typeface="宋体" panose="02010600030101010101" pitchFamily="2" charset="-122"/>
              </a:rPr>
              <a:t>图</a:t>
            </a:r>
            <a:r>
              <a:rPr lang="en-US" altLang="zh-CN" sz="2800" dirty="0">
                <a:latin typeface="Arial" panose="020B0604020202020204" pitchFamily="34" charset="0"/>
                <a:ea typeface="宋体" panose="02010600030101010101" pitchFamily="2" charset="-122"/>
              </a:rPr>
              <a:t>2.6   </a:t>
            </a:r>
            <a:r>
              <a:rPr lang="zh-CN" altLang="en-US" sz="2800" dirty="0">
                <a:latin typeface="Arial" panose="020B0604020202020204" pitchFamily="34" charset="0"/>
                <a:ea typeface="宋体" panose="02010600030101010101" pitchFamily="2" charset="-122"/>
              </a:rPr>
              <a:t>汇点式输入接线</a:t>
            </a:r>
          </a:p>
          <a:p>
            <a:pPr algn="ctr">
              <a:spcBef>
                <a:spcPct val="50000"/>
              </a:spcBef>
            </a:pPr>
            <a:r>
              <a:rPr lang="en-US" altLang="zh-CN" sz="2800" dirty="0">
                <a:latin typeface="Arial" panose="020B0604020202020204" pitchFamily="34" charset="0"/>
                <a:ea typeface="宋体" panose="02010600030101010101" pitchFamily="2" charset="-122"/>
              </a:rPr>
              <a:t>(a)</a:t>
            </a:r>
            <a:r>
              <a:rPr lang="zh-CN" altLang="en-US" sz="2800" dirty="0">
                <a:latin typeface="Arial" panose="020B0604020202020204" pitchFamily="34" charset="0"/>
                <a:ea typeface="宋体" panose="02010600030101010101" pitchFamily="2" charset="-122"/>
              </a:rPr>
              <a:t>直流模块；</a:t>
            </a:r>
            <a:r>
              <a:rPr lang="en-US" altLang="zh-CN" sz="2800" dirty="0">
                <a:latin typeface="Arial" panose="020B0604020202020204" pitchFamily="34" charset="0"/>
                <a:ea typeface="宋体" panose="02010600030101010101" pitchFamily="2" charset="-122"/>
              </a:rPr>
              <a:t>(b)</a:t>
            </a:r>
            <a:r>
              <a:rPr lang="zh-CN" altLang="en-US" sz="2800" dirty="0">
                <a:latin typeface="Arial" panose="020B0604020202020204" pitchFamily="34" charset="0"/>
                <a:ea typeface="宋体" panose="02010600030101010101" pitchFamily="2" charset="-122"/>
              </a:rPr>
              <a:t>交流模块</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5"/>
          <p:cNvSpPr/>
          <p:nvPr/>
        </p:nvSpPr>
        <p:spPr>
          <a:xfrm>
            <a:off x="2590800" y="5715000"/>
            <a:ext cx="4337050"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2.7   </a:t>
            </a:r>
            <a:r>
              <a:rPr lang="zh-CN" altLang="en-US" sz="3200" dirty="0">
                <a:latin typeface="Arial" panose="020B0604020202020204" pitchFamily="34" charset="0"/>
                <a:ea typeface="宋体" panose="02010600030101010101" pitchFamily="2" charset="-122"/>
              </a:rPr>
              <a:t>分隔式输入接线</a:t>
            </a:r>
          </a:p>
        </p:txBody>
      </p:sp>
      <p:graphicFrame>
        <p:nvGraphicFramePr>
          <p:cNvPr id="30722" name="Object 6"/>
          <p:cNvGraphicFramePr>
            <a:graphicFrameLocks noGrp="1" noChangeAspect="1"/>
          </p:cNvGraphicFramePr>
          <p:nvPr>
            <p:ph/>
          </p:nvPr>
        </p:nvGraphicFramePr>
        <p:xfrm>
          <a:off x="2916238" y="404813"/>
          <a:ext cx="3497262" cy="5410200"/>
        </p:xfrm>
        <a:graphic>
          <a:graphicData uri="http://schemas.openxmlformats.org/presentationml/2006/ole">
            <mc:AlternateContent xmlns:mc="http://schemas.openxmlformats.org/markup-compatibility/2006">
              <mc:Choice xmlns:v="urn:schemas-microsoft-com:vml" Requires="v">
                <p:oleObj spid="_x0000_s4101" r:id="rId3" imgW="3552825" imgH="5495925" progId="Paint.Picture">
                  <p:embed/>
                </p:oleObj>
              </mc:Choice>
              <mc:Fallback>
                <p:oleObj r:id="rId3" imgW="3552825" imgH="5495925" progId="Paint.Picture">
                  <p:embed/>
                  <p:pic>
                    <p:nvPicPr>
                      <p:cNvPr id="0" name="图片 3076"/>
                      <p:cNvPicPr/>
                      <p:nvPr/>
                    </p:nvPicPr>
                    <p:blipFill>
                      <a:blip r:embed="rId4"/>
                      <a:stretch>
                        <a:fillRect/>
                      </a:stretch>
                    </p:blipFill>
                    <p:spPr>
                      <a:xfrm>
                        <a:off x="2916238" y="404813"/>
                        <a:ext cx="3497262" cy="5410200"/>
                      </a:xfrm>
                      <a:prstGeom prst="rect">
                        <a:avLst/>
                      </a:prstGeom>
                      <a:noFill/>
                      <a:ln w="38100">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3"/>
          <p:cNvSpPr>
            <a:spLocks noGrp="1"/>
          </p:cNvSpPr>
          <p:nvPr>
            <p:ph idx="1"/>
          </p:nvPr>
        </p:nvSpPr>
        <p:spPr>
          <a:xfrm>
            <a:off x="457200" y="533400"/>
            <a:ext cx="8229600" cy="5592763"/>
          </a:xfrm>
        </p:spPr>
        <p:txBody>
          <a:bodyPr vert="horz" wrap="square" lIns="91440" tIns="45720" rIns="91440" bIns="45720" anchor="t" anchorCtr="0"/>
          <a:lstStyle/>
          <a:p>
            <a:pPr eaLnBrk="1" hangingPunct="1">
              <a:lnSpc>
                <a:spcPct val="90000"/>
              </a:lnSpc>
              <a:buNone/>
            </a:pPr>
            <a:r>
              <a:rPr lang="zh-CN" altLang="en-US" b="1" dirty="0"/>
              <a:t>（</a:t>
            </a:r>
            <a:r>
              <a:rPr lang="en-US" altLang="zh-CN" b="1" dirty="0"/>
              <a:t>2</a:t>
            </a:r>
            <a:r>
              <a:rPr lang="zh-CN" altLang="en-US" b="1" dirty="0"/>
              <a:t>）开关量输出模块的基本原理</a:t>
            </a:r>
          </a:p>
          <a:p>
            <a:pPr eaLnBrk="1" hangingPunct="1">
              <a:lnSpc>
                <a:spcPct val="90000"/>
              </a:lnSpc>
              <a:buNone/>
            </a:pPr>
            <a:r>
              <a:rPr lang="zh-CN" altLang="en-US" b="1" dirty="0"/>
              <a:t>           </a:t>
            </a:r>
            <a:r>
              <a:rPr lang="zh-CN" altLang="en-US" b="1" dirty="0">
                <a:solidFill>
                  <a:srgbClr val="FF0000"/>
                </a:solidFill>
              </a:rPr>
              <a:t>开关量输出模块的作用是将</a:t>
            </a:r>
            <a:r>
              <a:rPr lang="en-US" altLang="zh-CN" b="1" dirty="0">
                <a:solidFill>
                  <a:srgbClr val="FF0000"/>
                </a:solidFill>
              </a:rPr>
              <a:t>PLC</a:t>
            </a:r>
            <a:r>
              <a:rPr lang="zh-CN" altLang="en-US" b="1" dirty="0">
                <a:solidFill>
                  <a:srgbClr val="FF0000"/>
                </a:solidFill>
              </a:rPr>
              <a:t>的输出信号传送给外部负载（即用户输出设备），并将</a:t>
            </a:r>
            <a:r>
              <a:rPr lang="en-US" altLang="zh-CN" b="1" dirty="0">
                <a:solidFill>
                  <a:srgbClr val="FF0000"/>
                </a:solidFill>
              </a:rPr>
              <a:t>PLC</a:t>
            </a:r>
            <a:r>
              <a:rPr lang="zh-CN" altLang="en-US" b="1" dirty="0">
                <a:solidFill>
                  <a:srgbClr val="FF0000"/>
                </a:solidFill>
              </a:rPr>
              <a:t>内部的低电平信号转换为外部所需电平，以满足不同负载的需要。</a:t>
            </a:r>
          </a:p>
          <a:p>
            <a:pPr eaLnBrk="1" hangingPunct="1">
              <a:lnSpc>
                <a:spcPct val="90000"/>
              </a:lnSpc>
              <a:buNone/>
            </a:pPr>
            <a:r>
              <a:rPr lang="zh-CN" altLang="en-US" b="1" dirty="0"/>
              <a:t>           开关量输出模块按照负载使用的电源（即用户电源）不同，分为直流输出模块、交流输出模块和交直流输出模块。按照输出开关器件的种类不同，又分为晶体管输出方式、可控硅输出方式及继电器输出方式。</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Picture 4" descr="2-08"/>
          <p:cNvPicPr>
            <a:picLocks noChangeAspect="1"/>
          </p:cNvPicPr>
          <p:nvPr/>
        </p:nvPicPr>
        <p:blipFill>
          <a:blip r:embed="rId2"/>
          <a:stretch>
            <a:fillRect/>
          </a:stretch>
        </p:blipFill>
        <p:spPr>
          <a:xfrm>
            <a:off x="533400" y="685800"/>
            <a:ext cx="7924800" cy="4867275"/>
          </a:xfrm>
          <a:prstGeom prst="rect">
            <a:avLst/>
          </a:prstGeom>
          <a:noFill/>
          <a:ln w="9525">
            <a:noFill/>
          </a:ln>
        </p:spPr>
      </p:pic>
      <p:sp>
        <p:nvSpPr>
          <p:cNvPr id="32770" name="Rectangle 5"/>
          <p:cNvSpPr/>
          <p:nvPr/>
        </p:nvSpPr>
        <p:spPr>
          <a:xfrm>
            <a:off x="2819400" y="5638800"/>
            <a:ext cx="3524250"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2.8   </a:t>
            </a:r>
            <a:r>
              <a:rPr lang="zh-CN" altLang="en-US" sz="3200" dirty="0">
                <a:latin typeface="Arial" panose="020B0604020202020204" pitchFamily="34" charset="0"/>
                <a:ea typeface="宋体" panose="02010600030101010101" pitchFamily="2" charset="-122"/>
              </a:rPr>
              <a:t>晶体管输出</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3" name="Picture 4" descr="2-09"/>
          <p:cNvPicPr>
            <a:picLocks noChangeAspect="1"/>
          </p:cNvPicPr>
          <p:nvPr/>
        </p:nvPicPr>
        <p:blipFill>
          <a:blip r:embed="rId2"/>
          <a:stretch>
            <a:fillRect/>
          </a:stretch>
        </p:blipFill>
        <p:spPr>
          <a:xfrm>
            <a:off x="609600" y="685800"/>
            <a:ext cx="7924800" cy="5002213"/>
          </a:xfrm>
          <a:prstGeom prst="rect">
            <a:avLst/>
          </a:prstGeom>
          <a:noFill/>
          <a:ln w="9525">
            <a:noFill/>
          </a:ln>
        </p:spPr>
      </p:pic>
      <p:sp>
        <p:nvSpPr>
          <p:cNvPr id="33794" name="Rectangle 5"/>
          <p:cNvSpPr/>
          <p:nvPr/>
        </p:nvSpPr>
        <p:spPr>
          <a:xfrm>
            <a:off x="3124200" y="5791200"/>
            <a:ext cx="3524250"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2.9   </a:t>
            </a:r>
            <a:r>
              <a:rPr lang="zh-CN" altLang="en-US" sz="3200" dirty="0">
                <a:latin typeface="Arial" panose="020B0604020202020204" pitchFamily="34" charset="0"/>
                <a:ea typeface="宋体" panose="02010600030101010101" pitchFamily="2" charset="-122"/>
              </a:rPr>
              <a:t>可控硅输出</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4" descr="2-10"/>
          <p:cNvPicPr>
            <a:picLocks noChangeAspect="1"/>
          </p:cNvPicPr>
          <p:nvPr/>
        </p:nvPicPr>
        <p:blipFill>
          <a:blip r:embed="rId2"/>
          <a:stretch>
            <a:fillRect/>
          </a:stretch>
        </p:blipFill>
        <p:spPr>
          <a:xfrm>
            <a:off x="1066800" y="533400"/>
            <a:ext cx="7010400" cy="5219700"/>
          </a:xfrm>
          <a:prstGeom prst="rect">
            <a:avLst/>
          </a:prstGeom>
          <a:noFill/>
          <a:ln w="9525">
            <a:noFill/>
          </a:ln>
        </p:spPr>
      </p:pic>
      <p:sp>
        <p:nvSpPr>
          <p:cNvPr id="34818" name="Rectangle 5"/>
          <p:cNvSpPr/>
          <p:nvPr/>
        </p:nvSpPr>
        <p:spPr>
          <a:xfrm>
            <a:off x="2971800" y="5943600"/>
            <a:ext cx="3749675"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2.10   </a:t>
            </a:r>
            <a:r>
              <a:rPr lang="zh-CN" altLang="en-US" sz="3200" dirty="0">
                <a:latin typeface="Arial" panose="020B0604020202020204" pitchFamily="34" charset="0"/>
                <a:ea typeface="宋体" panose="02010600030101010101" pitchFamily="2" charset="-122"/>
              </a:rPr>
              <a:t>继电器输出</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p:cNvSpPr>
          <p:nvPr>
            <p:ph idx="1"/>
          </p:nvPr>
        </p:nvSpPr>
        <p:spPr>
          <a:xfrm>
            <a:off x="539750" y="836613"/>
            <a:ext cx="8229600" cy="47244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    </a:t>
            </a:r>
            <a:r>
              <a:rPr lang="zh-CN" altLang="en-US" b="1" dirty="0">
                <a:latin typeface="Times New Roman" panose="02020603050405020304" pitchFamily="18" charset="0"/>
              </a:rPr>
              <a:t>晶体管输出方式的模块只能带直流负载，属于直流输出模块；</a:t>
            </a:r>
          </a:p>
          <a:p>
            <a:pPr eaLnBrk="1" hangingPunct="1">
              <a:buNone/>
            </a:pPr>
            <a:r>
              <a:rPr lang="zh-CN" altLang="en-US" b="1" dirty="0">
                <a:latin typeface="Times New Roman" panose="02020603050405020304" pitchFamily="18" charset="0"/>
              </a:rPr>
              <a:t>    可控硅输出方式的模块只能带交流负载，属于交流输出模块；</a:t>
            </a:r>
          </a:p>
          <a:p>
            <a:pPr eaLnBrk="1" hangingPunct="1">
              <a:buNone/>
            </a:pPr>
            <a:r>
              <a:rPr lang="zh-CN" altLang="en-US" b="1" dirty="0">
                <a:latin typeface="Times New Roman" panose="02020603050405020304" pitchFamily="18" charset="0"/>
              </a:rPr>
              <a:t>    继电器输出方式的模块可带直流负载，也可带交流负载，属于交直流输出模块。</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文本框 4"/>
          <p:cNvSpPr txBox="1"/>
          <p:nvPr>
            <p:custDataLst>
              <p:tags r:id="rId2"/>
            </p:custDataLst>
          </p:nvPr>
        </p:nvSpPr>
        <p:spPr>
          <a:xfrm>
            <a:off x="914400" y="635000"/>
            <a:ext cx="7315200" cy="2143125"/>
          </a:xfrm>
          <a:prstGeom prst="rect">
            <a:avLst/>
          </a:prstGeom>
          <a:noFill/>
          <a:ln w="9525">
            <a:noFill/>
          </a:ln>
        </p:spPr>
        <p:txBody>
          <a:bodyPr anchor="ctr" anchorCtr="0"/>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PLC</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的输入输出设备的主要功能</a:t>
            </a:r>
          </a:p>
        </p:txBody>
      </p:sp>
      <p:sp>
        <p:nvSpPr>
          <p:cNvPr id="36866" name="文本框 5"/>
          <p:cNvSpPr txBox="1"/>
          <p:nvPr>
            <p:custDataLst>
              <p:tags r:id="rId3"/>
            </p:custDataLst>
          </p:nvPr>
        </p:nvSpPr>
        <p:spPr>
          <a:xfrm>
            <a:off x="1828800" y="2786063"/>
            <a:ext cx="6400800" cy="642937"/>
          </a:xfrm>
          <a:prstGeom prst="rect">
            <a:avLst/>
          </a:prstGeom>
          <a:noFill/>
          <a:ln w="9525">
            <a:noFill/>
          </a:ln>
        </p:spPr>
        <p:txBody>
          <a:bodyPr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信号调节</a:t>
            </a:r>
          </a:p>
        </p:txBody>
      </p:sp>
      <p:sp>
        <p:nvSpPr>
          <p:cNvPr id="36867" name="文本框 6"/>
          <p:cNvSpPr txBox="1"/>
          <p:nvPr>
            <p:custDataLst>
              <p:tags r:id="rId4"/>
            </p:custDataLst>
          </p:nvPr>
        </p:nvSpPr>
        <p:spPr>
          <a:xfrm>
            <a:off x="1828800" y="3643313"/>
            <a:ext cx="6400800" cy="642937"/>
          </a:xfrm>
          <a:prstGeom prst="rect">
            <a:avLst/>
          </a:prstGeom>
          <a:noFill/>
          <a:ln w="9525">
            <a:noFill/>
          </a:ln>
        </p:spPr>
        <p:txBody>
          <a:bodyPr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物理隔离</a:t>
            </a:r>
          </a:p>
        </p:txBody>
      </p:sp>
      <p:sp>
        <p:nvSpPr>
          <p:cNvPr id="36868" name="文本框 7"/>
          <p:cNvSpPr txBox="1"/>
          <p:nvPr>
            <p:custDataLst>
              <p:tags r:id="rId5"/>
            </p:custDataLst>
          </p:nvPr>
        </p:nvSpPr>
        <p:spPr>
          <a:xfrm>
            <a:off x="1828800" y="4500563"/>
            <a:ext cx="6400800" cy="642937"/>
          </a:xfrm>
          <a:prstGeom prst="rect">
            <a:avLst/>
          </a:prstGeom>
          <a:noFill/>
          <a:ln w="9525">
            <a:noFill/>
          </a:ln>
        </p:spPr>
        <p:txBody>
          <a:bodyPr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滤波</a:t>
            </a:r>
          </a:p>
        </p:txBody>
      </p:sp>
      <p:sp>
        <p:nvSpPr>
          <p:cNvPr id="36869" name="文本框 8"/>
          <p:cNvSpPr txBox="1"/>
          <p:nvPr>
            <p:custDataLst>
              <p:tags r:id="rId6"/>
            </p:custDataLst>
          </p:nvPr>
        </p:nvSpPr>
        <p:spPr>
          <a:xfrm>
            <a:off x="1828800" y="5357813"/>
            <a:ext cx="6400800" cy="642937"/>
          </a:xfrm>
          <a:prstGeom prst="rect">
            <a:avLst/>
          </a:prstGeom>
          <a:noFill/>
          <a:ln w="9525">
            <a:noFill/>
          </a:ln>
        </p:spPr>
        <p:txBody>
          <a:bodyPr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信号整合</a:t>
            </a:r>
          </a:p>
        </p:txBody>
      </p:sp>
      <p:sp>
        <p:nvSpPr>
          <p:cNvPr id="10" name="矩形 9"/>
          <p:cNvSpPr>
            <a:spLocks noChangeAspect="1"/>
          </p:cNvSpPr>
          <p:nvPr>
            <p:custDataLst>
              <p:tags r:id="rId7"/>
            </p:custDataLst>
          </p:nvPr>
        </p:nvSpPr>
        <p:spPr>
          <a:xfrm>
            <a:off x="1114425" y="284956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spect="1"/>
          </p:cNvSpPr>
          <p:nvPr>
            <p:custDataLst>
              <p:tags r:id="rId8"/>
            </p:custDataLst>
          </p:nvPr>
        </p:nvSpPr>
        <p:spPr>
          <a:xfrm>
            <a:off x="1114425" y="370681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a:spLocks noChangeAspect="1"/>
          </p:cNvSpPr>
          <p:nvPr>
            <p:custDataLst>
              <p:tags r:id="rId9"/>
            </p:custDataLst>
          </p:nvPr>
        </p:nvSpPr>
        <p:spPr>
          <a:xfrm>
            <a:off x="1114425" y="456406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 name="矩形 12"/>
          <p:cNvSpPr>
            <a:spLocks noChangeAspect="1"/>
          </p:cNvSpPr>
          <p:nvPr>
            <p:custDataLst>
              <p:tags r:id="rId10"/>
            </p:custDataLst>
          </p:nvPr>
        </p:nvSpPr>
        <p:spPr>
          <a:xfrm>
            <a:off x="1114425" y="5421313"/>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 name="圆角矩形 13"/>
          <p:cNvSpPr/>
          <p:nvPr>
            <p:custDataLst>
              <p:tags r:id="rId11"/>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提交</a:t>
            </a:r>
          </a:p>
        </p:txBody>
      </p:sp>
      <p:grpSp>
        <p:nvGrpSpPr>
          <p:cNvPr id="36875" name="组合 18"/>
          <p:cNvGrpSpPr/>
          <p:nvPr/>
        </p:nvGrpSpPr>
        <p:grpSpPr>
          <a:xfrm>
            <a:off x="0" y="0"/>
            <a:ext cx="9144000" cy="635000"/>
            <a:chOff x="0" y="0"/>
            <a:chExt cx="9144000" cy="635000"/>
          </a:xfrm>
        </p:grpSpPr>
        <p:sp>
          <p:nvSpPr>
            <p:cNvPr id="15" name="TitleBackground"/>
            <p:cNvSpPr/>
            <p:nvPr>
              <p:custDataLst>
                <p:tags r:id="rId13"/>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ColorBlock"/>
            <p:cNvSpPr/>
            <p:nvPr>
              <p:custDataLst>
                <p:tags r:id="rId14"/>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6878" name="TypeText"/>
            <p:cNvSpPr txBox="1"/>
            <p:nvPr>
              <p:custDataLst>
                <p:tags r:id="rId15"/>
              </p:custDataLst>
            </p:nvPr>
          </p:nvSpPr>
          <p:spPr>
            <a:xfrm>
              <a:off x="254000" y="0"/>
              <a:ext cx="1905000" cy="635000"/>
            </a:xfrm>
            <a:prstGeom prst="rect">
              <a:avLst/>
            </a:prstGeom>
            <a:noFill/>
            <a:ln w="9525">
              <a:noFill/>
            </a:ln>
          </p:spPr>
          <p:txBody>
            <a:bodyPr wrap="none"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多选题</a:t>
              </a:r>
            </a:p>
          </p:txBody>
        </p:sp>
        <p:sp>
          <p:nvSpPr>
            <p:cNvPr id="36879" name="TipText"/>
            <p:cNvSpPr txBox="1"/>
            <p:nvPr>
              <p:custDataLst>
                <p:tags r:id="rId16"/>
              </p:custDataLst>
            </p:nvPr>
          </p:nvSpPr>
          <p:spPr>
            <a:xfrm>
              <a:off x="1427480" y="109220"/>
              <a:ext cx="2286000" cy="508000"/>
            </a:xfrm>
            <a:prstGeom prst="rect">
              <a:avLst/>
            </a:prstGeom>
            <a:noFill/>
            <a:ln w="9525">
              <a:noFill/>
            </a:ln>
          </p:spPr>
          <p:txBody>
            <a:bodyPr wrap="none" anchor="ctr" anchorCtr="0"/>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6880" name="图片 3"/>
          <p:cNvPicPr/>
          <p:nvPr>
            <p:custDataLst>
              <p:tags r:id="rId12"/>
            </p:custDataLst>
          </p:nvPr>
        </p:nvPicPr>
        <p:blipFill>
          <a:blip r:embed="rId18"/>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idx="1"/>
          </p:nvPr>
        </p:nvSpPr>
        <p:spPr>
          <a:xfrm>
            <a:off x="457200" y="533400"/>
            <a:ext cx="8229600" cy="5592763"/>
          </a:xfrm>
        </p:spPr>
        <p:txBody>
          <a:bodyPr vert="horz" wrap="square" lIns="91440" tIns="45720" rIns="91440" bIns="45720" anchor="t" anchorCtr="0"/>
          <a:lstStyle/>
          <a:p>
            <a:pPr eaLnBrk="1" hangingPunct="1">
              <a:lnSpc>
                <a:spcPct val="90000"/>
              </a:lnSpc>
              <a:buNone/>
            </a:pPr>
            <a:r>
              <a:rPr lang="zh-CN" altLang="en-US" sz="3600" b="1" dirty="0"/>
              <a:t>（</a:t>
            </a:r>
            <a:r>
              <a:rPr lang="en-US" altLang="zh-CN" sz="3600" b="1" dirty="0"/>
              <a:t>3</a:t>
            </a:r>
            <a:r>
              <a:rPr lang="zh-CN" altLang="en-US" sz="3600" b="1" dirty="0"/>
              <a:t>）模拟量输入模块的基本原理</a:t>
            </a:r>
          </a:p>
          <a:p>
            <a:pPr eaLnBrk="1" hangingPunct="1">
              <a:lnSpc>
                <a:spcPct val="90000"/>
              </a:lnSpc>
              <a:buNone/>
            </a:pPr>
            <a:r>
              <a:rPr lang="zh-CN" altLang="en-US" sz="3600" b="1" dirty="0"/>
              <a:t>           在工业控制中，经常会遇到</a:t>
            </a:r>
            <a:r>
              <a:rPr lang="zh-CN" altLang="en-US" sz="3600" b="1" dirty="0">
                <a:solidFill>
                  <a:srgbClr val="FF0000"/>
                </a:solidFill>
              </a:rPr>
              <a:t>连续变化的物理量</a:t>
            </a:r>
            <a:r>
              <a:rPr lang="en-US" altLang="zh-CN" sz="3600" b="1" dirty="0">
                <a:solidFill>
                  <a:srgbClr val="FF0000"/>
                </a:solidFill>
              </a:rPr>
              <a:t>——</a:t>
            </a:r>
            <a:r>
              <a:rPr lang="zh-CN" altLang="en-US" sz="3600" b="1" dirty="0">
                <a:solidFill>
                  <a:srgbClr val="FF0000"/>
                </a:solidFill>
              </a:rPr>
              <a:t>模拟信号，</a:t>
            </a:r>
            <a:r>
              <a:rPr lang="zh-CN" altLang="en-US" sz="3600" b="1" dirty="0"/>
              <a:t>如电流、电压、温度、压力、位移、速度等。</a:t>
            </a:r>
            <a:r>
              <a:rPr lang="zh-CN" altLang="en-US" sz="3600" b="1" dirty="0">
                <a:solidFill>
                  <a:srgbClr val="FF0000"/>
                </a:solidFill>
              </a:rPr>
              <a:t>如果要对这些模拟量进行采集并送给</a:t>
            </a:r>
            <a:r>
              <a:rPr lang="en-US" altLang="zh-CN" sz="3600" b="1" dirty="0">
                <a:solidFill>
                  <a:srgbClr val="FF0000"/>
                </a:solidFill>
              </a:rPr>
              <a:t>CPU</a:t>
            </a:r>
            <a:r>
              <a:rPr lang="zh-CN" altLang="en-US" sz="3600" b="1" dirty="0">
                <a:solidFill>
                  <a:srgbClr val="FF0000"/>
                </a:solidFill>
              </a:rPr>
              <a:t>模块，必须对这些模拟量进行模</a:t>
            </a:r>
            <a:r>
              <a:rPr lang="en-US" altLang="zh-CN" sz="3600" b="1" dirty="0">
                <a:solidFill>
                  <a:srgbClr val="FF0000"/>
                </a:solidFill>
              </a:rPr>
              <a:t>/</a:t>
            </a:r>
            <a:r>
              <a:rPr lang="zh-CN" altLang="en-US" sz="3600" b="1" dirty="0">
                <a:solidFill>
                  <a:srgbClr val="FF0000"/>
                </a:solidFill>
              </a:rPr>
              <a:t>数（</a:t>
            </a:r>
            <a:r>
              <a:rPr lang="en-US" altLang="zh-CN" sz="3600" b="1" dirty="0">
                <a:solidFill>
                  <a:srgbClr val="FF0000"/>
                </a:solidFill>
              </a:rPr>
              <a:t>A/D</a:t>
            </a:r>
            <a:r>
              <a:rPr lang="zh-CN" altLang="en-US" sz="3600" b="1" dirty="0">
                <a:solidFill>
                  <a:srgbClr val="FF0000"/>
                </a:solidFill>
              </a:rPr>
              <a:t>）转换，才能使可编程控制器接收这些数据。模拟量输入模块就是用来将模拟信号转换成</a:t>
            </a:r>
            <a:r>
              <a:rPr lang="en-US" altLang="zh-CN" sz="3600" b="1" dirty="0">
                <a:solidFill>
                  <a:srgbClr val="FF0000"/>
                </a:solidFill>
              </a:rPr>
              <a:t>PLC</a:t>
            </a:r>
            <a:r>
              <a:rPr lang="zh-CN" altLang="en-US" sz="3600" b="1" dirty="0">
                <a:solidFill>
                  <a:srgbClr val="FF0000"/>
                </a:solidFill>
              </a:rPr>
              <a:t>能够接收的数字信号。</a:t>
            </a:r>
          </a:p>
          <a:p>
            <a:pPr eaLnBrk="1" hangingPunct="1">
              <a:lnSpc>
                <a:spcPct val="90000"/>
              </a:lnSpc>
              <a:buNone/>
            </a:pPr>
            <a:endParaRPr lang="en-US" altLang="zh-CN" sz="3600" b="1"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p:cNvSpPr>
          <p:nvPr>
            <p:ph idx="1"/>
          </p:nvPr>
        </p:nvSpPr>
        <p:spPr>
          <a:xfrm>
            <a:off x="395288" y="836613"/>
            <a:ext cx="8229600" cy="47244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           </a:t>
            </a:r>
            <a:r>
              <a:rPr lang="zh-CN" altLang="en-US" b="1" dirty="0">
                <a:solidFill>
                  <a:srgbClr val="FF0000"/>
                </a:solidFill>
                <a:latin typeface="Times New Roman" panose="02020603050405020304" pitchFamily="18" charset="0"/>
              </a:rPr>
              <a:t>模拟量输入模块的核心作用是实现</a:t>
            </a:r>
            <a:r>
              <a:rPr lang="en-US" altLang="zh-CN" b="1" dirty="0">
                <a:solidFill>
                  <a:srgbClr val="FF0000"/>
                </a:solidFill>
                <a:latin typeface="Times New Roman" panose="02020603050405020304" pitchFamily="18" charset="0"/>
              </a:rPr>
              <a:t>A/D</a:t>
            </a:r>
            <a:r>
              <a:rPr lang="zh-CN" altLang="en-US" b="1" dirty="0">
                <a:solidFill>
                  <a:srgbClr val="FF0000"/>
                </a:solidFill>
                <a:latin typeface="Times New Roman" panose="02020603050405020304" pitchFamily="18" charset="0"/>
              </a:rPr>
              <a:t>转换，一个</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中各模拟输入端口除输入电路不同之外，其余电路基本是相同的，因此，在一些</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系统中，将输入电路另设一块模块，使送到</a:t>
            </a:r>
            <a:r>
              <a:rPr lang="en-US" altLang="zh-CN" b="1" dirty="0">
                <a:solidFill>
                  <a:srgbClr val="FF0000"/>
                </a:solidFill>
                <a:latin typeface="Times New Roman" panose="02020603050405020304" pitchFamily="18" charset="0"/>
              </a:rPr>
              <a:t>A/D</a:t>
            </a:r>
            <a:r>
              <a:rPr lang="zh-CN" altLang="en-US" b="1" dirty="0">
                <a:solidFill>
                  <a:srgbClr val="FF0000"/>
                </a:solidFill>
                <a:latin typeface="Times New Roman" panose="02020603050405020304" pitchFamily="18" charset="0"/>
              </a:rPr>
              <a:t>转换前的信号都规范化，从而使模拟输入模块完全标准化，而且具有通用性。</a:t>
            </a:r>
          </a:p>
          <a:p>
            <a:pPr eaLnBrk="1" hangingPunct="1">
              <a:buNone/>
            </a:pPr>
            <a:r>
              <a:rPr lang="zh-CN" altLang="en-US" b="1" dirty="0">
                <a:latin typeface="Times New Roman" panose="02020603050405020304" pitchFamily="18" charset="0"/>
              </a:rPr>
              <a:t>           在选择使用模拟量输入模块时，主要应考虑</a:t>
            </a:r>
            <a:r>
              <a:rPr lang="en-US" altLang="zh-CN" b="1" dirty="0">
                <a:latin typeface="Times New Roman" panose="02020603050405020304" pitchFamily="18" charset="0"/>
              </a:rPr>
              <a:t>6</a:t>
            </a:r>
            <a:r>
              <a:rPr lang="zh-CN" altLang="en-US" b="1" dirty="0">
                <a:latin typeface="Times New Roman" panose="02020603050405020304" pitchFamily="18" charset="0"/>
              </a:rPr>
              <a:t>个技术要求。</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图片 1"/>
          <p:cNvPicPr>
            <a:picLocks noChangeAspect="1"/>
          </p:cNvPicPr>
          <p:nvPr/>
        </p:nvPicPr>
        <p:blipFill>
          <a:blip r:embed="rId2"/>
          <a:stretch>
            <a:fillRect/>
          </a:stretch>
        </p:blipFill>
        <p:spPr>
          <a:xfrm>
            <a:off x="1398588" y="739775"/>
            <a:ext cx="6035675" cy="3049588"/>
          </a:xfrm>
          <a:prstGeom prst="rect">
            <a:avLst/>
          </a:prstGeom>
          <a:noFill/>
          <a:ln w="9525">
            <a:noFill/>
          </a:ln>
        </p:spPr>
      </p:pic>
      <p:pic>
        <p:nvPicPr>
          <p:cNvPr id="26626" name="图片 2"/>
          <p:cNvPicPr>
            <a:picLocks noChangeAspect="1"/>
          </p:cNvPicPr>
          <p:nvPr/>
        </p:nvPicPr>
        <p:blipFill>
          <a:blip r:embed="rId3"/>
          <a:stretch>
            <a:fillRect/>
          </a:stretch>
        </p:blipFill>
        <p:spPr>
          <a:xfrm>
            <a:off x="3228975" y="4216400"/>
            <a:ext cx="3025775" cy="2012950"/>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p:cNvSpPr>
          <p:nvPr>
            <p:ph idx="1"/>
          </p:nvPr>
        </p:nvSpPr>
        <p:spPr>
          <a:xfrm>
            <a:off x="395288" y="908050"/>
            <a:ext cx="8229600" cy="47244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    </a:t>
            </a:r>
            <a:r>
              <a:rPr lang="zh-CN" altLang="en-US" b="1" dirty="0">
                <a:latin typeface="Times New Roman" panose="02020603050405020304" pitchFamily="18" charset="0"/>
              </a:rPr>
              <a:t>下面介绍模拟量输入模块的基本结构。</a:t>
            </a:r>
          </a:p>
          <a:p>
            <a:pPr eaLnBrk="1" hangingPunct="1">
              <a:buNone/>
            </a:pPr>
            <a:r>
              <a:rPr lang="zh-CN" altLang="en-US" b="1" dirty="0">
                <a:latin typeface="Times New Roman" panose="02020603050405020304" pitchFamily="18" charset="0"/>
              </a:rPr>
              <a:t>    模拟量输入模块的基本结构如图</a:t>
            </a:r>
            <a:r>
              <a:rPr lang="en-US" altLang="zh-CN" b="1" dirty="0">
                <a:latin typeface="Times New Roman" panose="02020603050405020304" pitchFamily="18" charset="0"/>
              </a:rPr>
              <a:t>2.11</a:t>
            </a:r>
            <a:r>
              <a:rPr lang="zh-CN" altLang="en-US" b="1" dirty="0">
                <a:latin typeface="Times New Roman" panose="02020603050405020304" pitchFamily="18" charset="0"/>
              </a:rPr>
              <a:t>所示，</a:t>
            </a:r>
            <a:r>
              <a:rPr lang="zh-CN" altLang="en-US" b="1" dirty="0">
                <a:solidFill>
                  <a:srgbClr val="FF0000"/>
                </a:solidFill>
                <a:latin typeface="Times New Roman" panose="02020603050405020304" pitchFamily="18" charset="0"/>
              </a:rPr>
              <a:t>它主要由</a:t>
            </a:r>
            <a:r>
              <a:rPr lang="zh-CN" altLang="en-US" b="1" dirty="0">
                <a:solidFill>
                  <a:srgbClr val="FF0000"/>
                </a:solidFill>
              </a:rPr>
              <a:t>①</a:t>
            </a:r>
            <a:r>
              <a:rPr lang="zh-CN" altLang="en-US" b="1" dirty="0">
                <a:solidFill>
                  <a:srgbClr val="FF0000"/>
                </a:solidFill>
                <a:latin typeface="Times New Roman" panose="02020603050405020304" pitchFamily="18" charset="0"/>
              </a:rPr>
              <a:t>输入信号处理、</a:t>
            </a:r>
            <a:r>
              <a:rPr lang="en-US" altLang="en-US" b="1" dirty="0">
                <a:solidFill>
                  <a:srgbClr val="FF0000"/>
                </a:solidFill>
              </a:rPr>
              <a:t>②</a:t>
            </a:r>
            <a:r>
              <a:rPr lang="en-US" altLang="zh-CN" b="1" dirty="0">
                <a:solidFill>
                  <a:srgbClr val="FF0000"/>
                </a:solidFill>
                <a:latin typeface="Times New Roman" panose="02020603050405020304" pitchFamily="18" charset="0"/>
              </a:rPr>
              <a:t>A/D</a:t>
            </a:r>
            <a:r>
              <a:rPr lang="zh-CN" altLang="en-US" b="1" dirty="0">
                <a:solidFill>
                  <a:srgbClr val="FF0000"/>
                </a:solidFill>
                <a:latin typeface="Times New Roman" panose="02020603050405020304" pitchFamily="18" charset="0"/>
              </a:rPr>
              <a:t>转换器、</a:t>
            </a:r>
            <a:r>
              <a:rPr lang="zh-CN" altLang="en-US" b="1" dirty="0">
                <a:solidFill>
                  <a:srgbClr val="FF0000"/>
                </a:solidFill>
              </a:rPr>
              <a:t>③</a:t>
            </a:r>
            <a:r>
              <a:rPr lang="zh-CN" altLang="en-US" b="1" dirty="0">
                <a:solidFill>
                  <a:srgbClr val="FF0000"/>
                </a:solidFill>
                <a:latin typeface="Times New Roman" panose="02020603050405020304" pitchFamily="18" charset="0"/>
              </a:rPr>
              <a:t>输出信号处理、</a:t>
            </a:r>
            <a:r>
              <a:rPr lang="zh-CN" altLang="en-US" b="1" dirty="0">
                <a:solidFill>
                  <a:srgbClr val="FF0000"/>
                </a:solidFill>
              </a:rPr>
              <a:t>④</a:t>
            </a:r>
            <a:r>
              <a:rPr lang="zh-CN" altLang="en-US" b="1" dirty="0">
                <a:solidFill>
                  <a:srgbClr val="FF0000"/>
                </a:solidFill>
                <a:latin typeface="Times New Roman" panose="02020603050405020304" pitchFamily="18" charset="0"/>
              </a:rPr>
              <a:t>控制逻辑、</a:t>
            </a:r>
            <a:r>
              <a:rPr lang="zh-CN" altLang="en-US" b="1" dirty="0">
                <a:solidFill>
                  <a:srgbClr val="FF0000"/>
                </a:solidFill>
              </a:rPr>
              <a:t>⑤</a:t>
            </a:r>
            <a:r>
              <a:rPr lang="zh-CN" altLang="en-US" b="1" dirty="0">
                <a:solidFill>
                  <a:srgbClr val="FF0000"/>
                </a:solidFill>
                <a:latin typeface="Times New Roman" panose="02020603050405020304" pitchFamily="18" charset="0"/>
              </a:rPr>
              <a:t>光电隔离和</a:t>
            </a:r>
            <a:r>
              <a:rPr lang="zh-CN" altLang="en-US" b="1" dirty="0">
                <a:solidFill>
                  <a:srgbClr val="FF0000"/>
                </a:solidFill>
              </a:rPr>
              <a:t>⑥</a:t>
            </a:r>
            <a:r>
              <a:rPr lang="zh-CN" altLang="en-US" b="1" dirty="0">
                <a:solidFill>
                  <a:srgbClr val="FF0000"/>
                </a:solidFill>
                <a:latin typeface="Times New Roman" panose="02020603050405020304" pitchFamily="18" charset="0"/>
              </a:rPr>
              <a:t>故障检测</a:t>
            </a:r>
            <a:r>
              <a:rPr lang="en-US" altLang="zh-CN" b="1" dirty="0">
                <a:solidFill>
                  <a:srgbClr val="FF0000"/>
                </a:solidFill>
                <a:latin typeface="Times New Roman" panose="02020603050405020304" pitchFamily="18" charset="0"/>
              </a:rPr>
              <a:t>6</a:t>
            </a:r>
            <a:r>
              <a:rPr lang="zh-CN" altLang="en-US" b="1" dirty="0">
                <a:solidFill>
                  <a:srgbClr val="FF0000"/>
                </a:solidFill>
                <a:latin typeface="Times New Roman" panose="02020603050405020304" pitchFamily="18" charset="0"/>
              </a:rPr>
              <a:t>个部分组成。</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1" name="Picture 4" descr="2-11"/>
          <p:cNvPicPr>
            <a:picLocks noChangeAspect="1"/>
          </p:cNvPicPr>
          <p:nvPr/>
        </p:nvPicPr>
        <p:blipFill>
          <a:blip r:embed="rId2"/>
          <a:stretch>
            <a:fillRect/>
          </a:stretch>
        </p:blipFill>
        <p:spPr>
          <a:xfrm>
            <a:off x="1584325" y="76200"/>
            <a:ext cx="4740275" cy="5791200"/>
          </a:xfrm>
          <a:prstGeom prst="rect">
            <a:avLst/>
          </a:prstGeom>
          <a:noFill/>
          <a:ln w="9525">
            <a:noFill/>
          </a:ln>
        </p:spPr>
      </p:pic>
      <p:sp>
        <p:nvSpPr>
          <p:cNvPr id="40962" name="Rectangle 5"/>
          <p:cNvSpPr/>
          <p:nvPr/>
        </p:nvSpPr>
        <p:spPr>
          <a:xfrm>
            <a:off x="1828800" y="5867400"/>
            <a:ext cx="6188075"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2.11   </a:t>
            </a:r>
            <a:r>
              <a:rPr lang="zh-CN" altLang="en-US" sz="3200" dirty="0">
                <a:latin typeface="Arial" panose="020B0604020202020204" pitchFamily="34" charset="0"/>
                <a:ea typeface="宋体" panose="02010600030101010101" pitchFamily="2" charset="-122"/>
              </a:rPr>
              <a:t>模拟量输入模块结构框图</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5"/>
          <p:cNvSpPr/>
          <p:nvPr/>
        </p:nvSpPr>
        <p:spPr>
          <a:xfrm>
            <a:off x="1817688" y="6154738"/>
            <a:ext cx="6188075" cy="579437"/>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2.11   </a:t>
            </a:r>
            <a:r>
              <a:rPr lang="zh-CN" altLang="en-US" sz="3200" dirty="0">
                <a:latin typeface="Arial" panose="020B0604020202020204" pitchFamily="34" charset="0"/>
                <a:ea typeface="宋体" panose="02010600030101010101" pitchFamily="2" charset="-122"/>
              </a:rPr>
              <a:t>模拟量输入模块结构框图</a:t>
            </a:r>
          </a:p>
        </p:txBody>
      </p:sp>
      <p:pic>
        <p:nvPicPr>
          <p:cNvPr id="41986" name="Picture 2"/>
          <p:cNvPicPr>
            <a:picLocks noChangeAspect="1"/>
          </p:cNvPicPr>
          <p:nvPr/>
        </p:nvPicPr>
        <p:blipFill>
          <a:blip r:embed="rId2"/>
          <a:stretch>
            <a:fillRect/>
          </a:stretch>
        </p:blipFill>
        <p:spPr>
          <a:xfrm>
            <a:off x="2124075" y="585788"/>
            <a:ext cx="4968875" cy="5392737"/>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idx="1"/>
          </p:nvPr>
        </p:nvSpPr>
        <p:spPr>
          <a:xfrm>
            <a:off x="457200" y="457200"/>
            <a:ext cx="8229600" cy="5668963"/>
          </a:xfrm>
        </p:spPr>
        <p:txBody>
          <a:bodyPr vert="horz" wrap="square" lIns="91440" tIns="45720" rIns="91440" bIns="45720" anchor="t" anchorCtr="0"/>
          <a:lstStyle/>
          <a:p>
            <a:pPr eaLnBrk="1" hangingPunct="1">
              <a:lnSpc>
                <a:spcPct val="90000"/>
              </a:lnSpc>
            </a:pPr>
            <a:r>
              <a:rPr lang="en-US" altLang="zh-CN" sz="2400" b="1" dirty="0">
                <a:latin typeface="Times New Roman" panose="02020603050405020304" pitchFamily="18" charset="0"/>
              </a:rPr>
              <a:t>1</a:t>
            </a:r>
            <a:r>
              <a:rPr lang="zh-CN" altLang="en-US" sz="2400" b="1" dirty="0">
                <a:latin typeface="Times New Roman" panose="02020603050405020304" pitchFamily="18" charset="0"/>
              </a:rPr>
              <a:t>）输入信号处理</a:t>
            </a:r>
          </a:p>
          <a:p>
            <a:pPr eaLnBrk="1" hangingPunct="1">
              <a:lnSpc>
                <a:spcPct val="90000"/>
              </a:lnSpc>
            </a:pPr>
            <a:r>
              <a:rPr lang="en-US" altLang="zh-CN" sz="2400" b="1" dirty="0">
                <a:latin typeface="Times New Roman" panose="02020603050405020304" pitchFamily="18" charset="0"/>
              </a:rPr>
              <a:t>2</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D</a:t>
            </a:r>
            <a:r>
              <a:rPr lang="zh-CN" altLang="en-US" sz="2400" b="1" dirty="0">
                <a:latin typeface="Times New Roman" panose="02020603050405020304" pitchFamily="18" charset="0"/>
              </a:rPr>
              <a:t>转换器</a:t>
            </a:r>
          </a:p>
          <a:p>
            <a:pPr eaLnBrk="1" hangingPunct="1">
              <a:lnSpc>
                <a:spcPct val="90000"/>
              </a:lnSpc>
            </a:pPr>
            <a:r>
              <a:rPr lang="en-US" altLang="zh-CN" sz="2400" b="1" dirty="0">
                <a:latin typeface="Times New Roman" panose="02020603050405020304" pitchFamily="18" charset="0"/>
              </a:rPr>
              <a:t>3</a:t>
            </a:r>
            <a:r>
              <a:rPr lang="zh-CN" altLang="en-US" sz="2400" b="1" dirty="0">
                <a:latin typeface="Times New Roman" panose="02020603050405020304" pitchFamily="18" charset="0"/>
              </a:rPr>
              <a:t>）输出信号处理</a:t>
            </a:r>
          </a:p>
          <a:p>
            <a:pPr eaLnBrk="1" hangingPunct="1">
              <a:lnSpc>
                <a:spcPct val="90000"/>
              </a:lnSpc>
            </a:pPr>
            <a:r>
              <a:rPr lang="en-US" altLang="zh-CN" sz="2400" b="1" dirty="0">
                <a:latin typeface="Times New Roman" panose="02020603050405020304" pitchFamily="18" charset="0"/>
              </a:rPr>
              <a:t>4</a:t>
            </a:r>
            <a:r>
              <a:rPr lang="zh-CN" altLang="en-US" sz="2400" b="1" dirty="0">
                <a:latin typeface="Times New Roman" panose="02020603050405020304" pitchFamily="18" charset="0"/>
              </a:rPr>
              <a:t>）故障检测</a:t>
            </a:r>
          </a:p>
          <a:p>
            <a:pPr eaLnBrk="1" hangingPunct="1">
              <a:lnSpc>
                <a:spcPct val="90000"/>
              </a:lnSpc>
            </a:pPr>
            <a:r>
              <a:rPr lang="en-US" altLang="zh-CN" sz="2400" b="1" dirty="0">
                <a:solidFill>
                  <a:srgbClr val="FF0000"/>
                </a:solidFill>
                <a:latin typeface="Times New Roman" panose="02020603050405020304" pitchFamily="18" charset="0"/>
              </a:rPr>
              <a:t>5</a:t>
            </a:r>
            <a:r>
              <a:rPr lang="zh-CN" altLang="en-US" sz="2400" b="1" dirty="0">
                <a:solidFill>
                  <a:srgbClr val="FF0000"/>
                </a:solidFill>
                <a:latin typeface="Times New Roman" panose="02020603050405020304" pitchFamily="18" charset="0"/>
              </a:rPr>
              <a:t>）控制逻辑</a:t>
            </a:r>
          </a:p>
          <a:p>
            <a:pPr eaLnBrk="1" hangingPunct="1">
              <a:lnSpc>
                <a:spcPct val="90000"/>
              </a:lnSpc>
              <a:buNone/>
            </a:pPr>
            <a:r>
              <a:rPr lang="zh-CN" altLang="en-US" sz="2400" b="1" dirty="0">
                <a:latin typeface="Times New Roman" panose="02020603050405020304" pitchFamily="18" charset="0"/>
              </a:rPr>
              <a:t>     </a:t>
            </a:r>
            <a:r>
              <a:rPr lang="zh-CN" altLang="en-US" sz="2400" b="1" dirty="0">
                <a:solidFill>
                  <a:srgbClr val="FF0000"/>
                </a:solidFill>
                <a:latin typeface="Times New Roman" panose="02020603050405020304" pitchFamily="18" charset="0"/>
              </a:rPr>
              <a:t>主要完成两项任务：一是根据</a:t>
            </a:r>
            <a:r>
              <a:rPr lang="en-US" altLang="zh-CN" sz="2400" b="1" dirty="0">
                <a:solidFill>
                  <a:srgbClr val="FF0000"/>
                </a:solidFill>
                <a:latin typeface="Times New Roman" panose="02020603050405020304" pitchFamily="18" charset="0"/>
              </a:rPr>
              <a:t>CPU</a:t>
            </a:r>
            <a:r>
              <a:rPr lang="zh-CN" altLang="en-US" sz="2400" b="1" dirty="0">
                <a:solidFill>
                  <a:srgbClr val="FF0000"/>
                </a:solidFill>
                <a:latin typeface="Times New Roman" panose="02020603050405020304" pitchFamily="18" charset="0"/>
              </a:rPr>
              <a:t>模块发送来的地址确认是否选中本模块，二是若确认已选中本模块，则依次再做下述工作：根据</a:t>
            </a:r>
            <a:r>
              <a:rPr lang="en-US" altLang="zh-CN" sz="2400" b="1" dirty="0">
                <a:solidFill>
                  <a:srgbClr val="FF0000"/>
                </a:solidFill>
                <a:latin typeface="Times New Roman" panose="02020603050405020304" pitchFamily="18" charset="0"/>
              </a:rPr>
              <a:t>CPU</a:t>
            </a:r>
            <a:r>
              <a:rPr lang="zh-CN" altLang="en-US" sz="2400" b="1" dirty="0">
                <a:solidFill>
                  <a:srgbClr val="FF0000"/>
                </a:solidFill>
                <a:latin typeface="Times New Roman" panose="02020603050405020304" pitchFamily="18" charset="0"/>
              </a:rPr>
              <a:t>送来的端口地址，使多路开关接通相应的输入通道，对该通道做故障检测，检测没有故障，则启动</a:t>
            </a:r>
            <a:r>
              <a:rPr lang="en-US" altLang="zh-CN" sz="2400" b="1" dirty="0">
                <a:solidFill>
                  <a:srgbClr val="FF0000"/>
                </a:solidFill>
                <a:latin typeface="Times New Roman" panose="02020603050405020304" pitchFamily="18" charset="0"/>
              </a:rPr>
              <a:t>A/D</a:t>
            </a:r>
            <a:r>
              <a:rPr lang="zh-CN" altLang="en-US" sz="2400" b="1" dirty="0">
                <a:solidFill>
                  <a:srgbClr val="FF0000"/>
                </a:solidFill>
                <a:latin typeface="Times New Roman" panose="02020603050405020304" pitchFamily="18" charset="0"/>
              </a:rPr>
              <a:t>转换的工作。在收到“</a:t>
            </a:r>
            <a:r>
              <a:rPr lang="en-US" altLang="zh-CN" sz="2400" b="1" dirty="0">
                <a:solidFill>
                  <a:srgbClr val="FF0000"/>
                </a:solidFill>
                <a:latin typeface="Times New Roman" panose="02020603050405020304" pitchFamily="18" charset="0"/>
              </a:rPr>
              <a:t>A/D</a:t>
            </a:r>
            <a:r>
              <a:rPr lang="zh-CN" altLang="en-US" sz="2400" b="1" dirty="0">
                <a:solidFill>
                  <a:srgbClr val="FF0000"/>
                </a:solidFill>
                <a:latin typeface="Times New Roman" panose="02020603050405020304" pitchFamily="18" charset="0"/>
              </a:rPr>
              <a:t>转换已完毕”信号后，从</a:t>
            </a:r>
            <a:r>
              <a:rPr lang="en-US" altLang="zh-CN" sz="2400" b="1" dirty="0">
                <a:solidFill>
                  <a:srgbClr val="FF0000"/>
                </a:solidFill>
                <a:latin typeface="Times New Roman" panose="02020603050405020304" pitchFamily="18" charset="0"/>
              </a:rPr>
              <a:t>A/D</a:t>
            </a:r>
            <a:r>
              <a:rPr lang="zh-CN" altLang="en-US" sz="2400" b="1" dirty="0">
                <a:solidFill>
                  <a:srgbClr val="FF0000"/>
                </a:solidFill>
                <a:latin typeface="Times New Roman" panose="02020603050405020304" pitchFamily="18" charset="0"/>
              </a:rPr>
              <a:t>转换器中取出结果数据。经数据转换后，根据控制命令的不同，或将数据存入中间寄存器备用，或送到总线驱动器，供</a:t>
            </a:r>
            <a:r>
              <a:rPr lang="en-US" altLang="zh-CN" sz="2400" b="1" dirty="0">
                <a:solidFill>
                  <a:srgbClr val="FF0000"/>
                </a:solidFill>
                <a:latin typeface="Times New Roman" panose="02020603050405020304" pitchFamily="18" charset="0"/>
              </a:rPr>
              <a:t>CPU</a:t>
            </a:r>
            <a:r>
              <a:rPr lang="zh-CN" altLang="en-US" sz="2400" b="1" dirty="0">
                <a:solidFill>
                  <a:srgbClr val="FF0000"/>
                </a:solidFill>
                <a:latin typeface="Times New Roman" panose="02020603050405020304" pitchFamily="18" charset="0"/>
              </a:rPr>
              <a:t>模块立即读取。</a:t>
            </a:r>
          </a:p>
          <a:p>
            <a:pPr eaLnBrk="1" hangingPunct="1">
              <a:lnSpc>
                <a:spcPct val="90000"/>
              </a:lnSpc>
            </a:pPr>
            <a:r>
              <a:rPr lang="en-US" altLang="zh-CN" sz="2400" b="1" dirty="0">
                <a:latin typeface="Times New Roman" panose="02020603050405020304" pitchFamily="18" charset="0"/>
              </a:rPr>
              <a:t>6</a:t>
            </a:r>
            <a:r>
              <a:rPr lang="zh-CN" altLang="en-US" sz="2400" b="1" dirty="0">
                <a:latin typeface="Times New Roman" panose="02020603050405020304" pitchFamily="18" charset="0"/>
              </a:rPr>
              <a:t>）光电隔离</a:t>
            </a:r>
          </a:p>
          <a:p>
            <a:pPr eaLnBrk="1" hangingPunct="1">
              <a:lnSpc>
                <a:spcPct val="90000"/>
              </a:lnSpc>
              <a:buNone/>
            </a:pPr>
            <a:endParaRPr lang="en-US" altLang="zh-CN" sz="2400" b="1" dirty="0">
              <a:latin typeface="Times New Roman" panose="02020603050405020304" pitchFamily="18" charset="0"/>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p:cNvSpPr>
          <p:nvPr>
            <p:ph idx="1"/>
          </p:nvPr>
        </p:nvSpPr>
        <p:spPr>
          <a:xfrm>
            <a:off x="457200" y="568325"/>
            <a:ext cx="8229600" cy="5668963"/>
          </a:xfrm>
        </p:spPr>
        <p:txBody>
          <a:bodyPr vert="horz" wrap="square" lIns="91440" tIns="45720" rIns="91440" bIns="45720" anchor="t" anchorCtr="0"/>
          <a:lstStyle/>
          <a:p>
            <a:pPr eaLnBrk="1" hangingPunct="1">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4</a:t>
            </a:r>
            <a:r>
              <a:rPr lang="zh-CN" altLang="en-US" sz="2800" b="1" dirty="0">
                <a:latin typeface="Times New Roman" panose="02020603050405020304" pitchFamily="18" charset="0"/>
              </a:rPr>
              <a:t>）模拟量输出模块的基本原理</a:t>
            </a:r>
          </a:p>
          <a:p>
            <a:pPr eaLnBrk="1" hangingPunct="1">
              <a:buNone/>
            </a:pPr>
            <a:r>
              <a:rPr lang="zh-CN" altLang="en-US" sz="2800" b="1" dirty="0">
                <a:latin typeface="Times New Roman" panose="02020603050405020304" pitchFamily="18" charset="0"/>
              </a:rPr>
              <a:t>          在工业控制中，还经常会遇到对电磁阀、电磁铁等执行机构进行控制的问题。这就必须</a:t>
            </a:r>
            <a:r>
              <a:rPr lang="zh-CN" altLang="en-US" sz="2800" b="1" dirty="0">
                <a:solidFill>
                  <a:srgbClr val="FF0000"/>
                </a:solidFill>
                <a:latin typeface="Times New Roman" panose="02020603050405020304" pitchFamily="18" charset="0"/>
              </a:rPr>
              <a:t>把可编程序控制器输出的数字量转换成模拟量，才能够满足这类执行机构的动作要求，这种转换过程称为数</a:t>
            </a:r>
            <a:r>
              <a:rPr lang="en-US" altLang="zh-CN" sz="2800" b="1" dirty="0">
                <a:solidFill>
                  <a:srgbClr val="FF0000"/>
                </a:solidFill>
                <a:latin typeface="Times New Roman" panose="02020603050405020304" pitchFamily="18" charset="0"/>
              </a:rPr>
              <a:t>/</a:t>
            </a:r>
            <a:r>
              <a:rPr lang="zh-CN" altLang="en-US" sz="2800" b="1" dirty="0">
                <a:solidFill>
                  <a:srgbClr val="FF0000"/>
                </a:solidFill>
                <a:latin typeface="Times New Roman" panose="02020603050405020304" pitchFamily="18" charset="0"/>
              </a:rPr>
              <a:t>模（</a:t>
            </a:r>
            <a:r>
              <a:rPr lang="en-US" altLang="zh-CN" sz="2800" b="1" dirty="0">
                <a:solidFill>
                  <a:srgbClr val="FF0000"/>
                </a:solidFill>
                <a:latin typeface="Times New Roman" panose="02020603050405020304" pitchFamily="18" charset="0"/>
              </a:rPr>
              <a:t>D/A</a:t>
            </a:r>
            <a:r>
              <a:rPr lang="zh-CN" altLang="en-US" sz="2800" b="1" dirty="0">
                <a:solidFill>
                  <a:srgbClr val="FF0000"/>
                </a:solidFill>
                <a:latin typeface="Times New Roman" panose="02020603050405020304" pitchFamily="18" charset="0"/>
              </a:rPr>
              <a:t>）转换。</a:t>
            </a:r>
          </a:p>
          <a:p>
            <a:pPr eaLnBrk="1" hangingPunct="1">
              <a:buNone/>
            </a:pPr>
            <a:r>
              <a:rPr lang="zh-CN" altLang="en-US" sz="2800" b="1" dirty="0">
                <a:latin typeface="Times New Roman" panose="02020603050405020304" pitchFamily="18" charset="0"/>
              </a:rPr>
              <a:t>           </a:t>
            </a:r>
            <a:r>
              <a:rPr lang="zh-CN" altLang="en-US" sz="2800" b="1" dirty="0">
                <a:solidFill>
                  <a:srgbClr val="FF0000"/>
                </a:solidFill>
                <a:latin typeface="Times New Roman" panose="02020603050405020304" pitchFamily="18" charset="0"/>
              </a:rPr>
              <a:t>模拟量输出模块的作用是将</a:t>
            </a:r>
            <a:r>
              <a:rPr lang="en-US" altLang="zh-CN" sz="2800" b="1" dirty="0">
                <a:solidFill>
                  <a:srgbClr val="FF0000"/>
                </a:solidFill>
                <a:latin typeface="Times New Roman" panose="02020603050405020304" pitchFamily="18" charset="0"/>
              </a:rPr>
              <a:t>PLC</a:t>
            </a:r>
            <a:r>
              <a:rPr lang="zh-CN" altLang="en-US" sz="2800" b="1" dirty="0">
                <a:solidFill>
                  <a:srgbClr val="FF0000"/>
                </a:solidFill>
                <a:latin typeface="Times New Roman" panose="02020603050405020304" pitchFamily="18" charset="0"/>
              </a:rPr>
              <a:t>以数字量形式给出的控制数据转换成模拟量，以供执行机构直接使用，</a:t>
            </a:r>
            <a:r>
              <a:rPr lang="zh-CN" altLang="en-US" sz="2800" b="1" dirty="0">
                <a:latin typeface="Times New Roman" panose="02020603050405020304" pitchFamily="18" charset="0"/>
              </a:rPr>
              <a:t>另一个作用是将执行机构与</a:t>
            </a:r>
            <a:r>
              <a:rPr lang="en-US" altLang="zh-CN" sz="2800" b="1" dirty="0">
                <a:latin typeface="Times New Roman" panose="02020603050405020304" pitchFamily="18" charset="0"/>
              </a:rPr>
              <a:t>PLC</a:t>
            </a:r>
            <a:r>
              <a:rPr lang="zh-CN" altLang="en-US" sz="2800" b="1" dirty="0">
                <a:latin typeface="Times New Roman" panose="02020603050405020304" pitchFamily="18" charset="0"/>
              </a:rPr>
              <a:t>在电气上实现</a:t>
            </a:r>
            <a:r>
              <a:rPr lang="zh-CN" altLang="en-US" sz="2800" b="1" dirty="0">
                <a:solidFill>
                  <a:srgbClr val="FF0000"/>
                </a:solidFill>
                <a:latin typeface="Times New Roman" panose="02020603050405020304" pitchFamily="18" charset="0"/>
              </a:rPr>
              <a:t>隔离</a:t>
            </a:r>
            <a:r>
              <a:rPr lang="zh-CN" altLang="en-US" sz="2800" b="1" dirty="0">
                <a:latin typeface="Times New Roman" panose="02020603050405020304" pitchFamily="18" charset="0"/>
              </a:rPr>
              <a:t>。</a:t>
            </a:r>
          </a:p>
          <a:p>
            <a:pPr eaLnBrk="1" hangingPunct="1">
              <a:buNone/>
            </a:pPr>
            <a:r>
              <a:rPr lang="zh-CN" altLang="en-US" sz="2800" b="1" dirty="0">
                <a:latin typeface="Times New Roman" panose="02020603050405020304" pitchFamily="18" charset="0"/>
              </a:rPr>
              <a:t>             在选择使用模拟量输出模块时，主要考虑</a:t>
            </a:r>
            <a:r>
              <a:rPr lang="en-US" altLang="zh-CN" sz="2800" b="1" dirty="0">
                <a:latin typeface="Times New Roman" panose="02020603050405020304" pitchFamily="18" charset="0"/>
              </a:rPr>
              <a:t>5</a:t>
            </a:r>
            <a:r>
              <a:rPr lang="zh-CN" altLang="en-US" sz="2800" b="1" dirty="0">
                <a:latin typeface="Times New Roman" panose="02020603050405020304" pitchFamily="18" charset="0"/>
              </a:rPr>
              <a:t>个技术指标。</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p:cNvSpPr>
            <a:spLocks noGrp="1"/>
          </p:cNvSpPr>
          <p:nvPr>
            <p:ph idx="1"/>
          </p:nvPr>
        </p:nvSpPr>
        <p:spPr>
          <a:xfrm>
            <a:off x="179388" y="404813"/>
            <a:ext cx="8229600" cy="5592762"/>
          </a:xfrm>
        </p:spPr>
        <p:txBody>
          <a:bodyPr vert="horz" wrap="square" lIns="91440" tIns="45720" rIns="91440" bIns="45720" anchor="t" anchorCtr="0"/>
          <a:lstStyle/>
          <a:p>
            <a:pPr eaLnBrk="1" hangingPunct="1">
              <a:buNone/>
            </a:pPr>
            <a:endParaRPr lang="en-US" altLang="zh-CN" b="1" dirty="0">
              <a:latin typeface="Times New Roman" panose="02020603050405020304" pitchFamily="18" charset="0"/>
            </a:endParaRPr>
          </a:p>
          <a:p>
            <a:pPr eaLnBrk="1" hangingPunct="1">
              <a:buNone/>
            </a:pPr>
            <a:r>
              <a:rPr lang="en-US" altLang="zh-CN" b="1" dirty="0">
                <a:latin typeface="Times New Roman" panose="02020603050405020304" pitchFamily="18" charset="0"/>
              </a:rPr>
              <a:t>          </a:t>
            </a:r>
            <a:r>
              <a:rPr lang="zh-CN" altLang="en-US" b="1" dirty="0">
                <a:latin typeface="Times New Roman" panose="02020603050405020304" pitchFamily="18" charset="0"/>
              </a:rPr>
              <a:t>模拟量输出模块的基本结构如图</a:t>
            </a:r>
            <a:r>
              <a:rPr lang="en-US" altLang="zh-CN" b="1" dirty="0">
                <a:latin typeface="Times New Roman" panose="02020603050405020304" pitchFamily="18" charset="0"/>
              </a:rPr>
              <a:t>2.12</a:t>
            </a:r>
            <a:r>
              <a:rPr lang="zh-CN" altLang="en-US" b="1" dirty="0">
                <a:latin typeface="Times New Roman" panose="02020603050405020304" pitchFamily="18" charset="0"/>
              </a:rPr>
              <a:t>所示。它是由</a:t>
            </a:r>
            <a:r>
              <a:rPr lang="zh-CN" altLang="en-US" b="1" dirty="0"/>
              <a:t>①</a:t>
            </a:r>
            <a:r>
              <a:rPr lang="zh-CN" altLang="en-US" b="1" dirty="0">
                <a:latin typeface="Times New Roman" panose="02020603050405020304" pitchFamily="18" charset="0"/>
              </a:rPr>
              <a:t>输出锁存器、</a:t>
            </a:r>
            <a:r>
              <a:rPr lang="zh-CN" altLang="en-US" b="1" dirty="0"/>
              <a:t>②</a:t>
            </a:r>
            <a:r>
              <a:rPr lang="zh-CN" altLang="en-US" b="1" dirty="0">
                <a:latin typeface="Times New Roman" panose="02020603050405020304" pitchFamily="18" charset="0"/>
              </a:rPr>
              <a:t>光电隔离、</a:t>
            </a:r>
            <a:r>
              <a:rPr lang="en-US" altLang="en-US" b="1" dirty="0"/>
              <a:t>③</a:t>
            </a:r>
            <a:r>
              <a:rPr lang="en-US" altLang="zh-CN" b="1" dirty="0">
                <a:latin typeface="Times New Roman" panose="02020603050405020304" pitchFamily="18" charset="0"/>
              </a:rPr>
              <a:t>D/A</a:t>
            </a:r>
            <a:r>
              <a:rPr lang="zh-CN" altLang="en-US" b="1" dirty="0">
                <a:latin typeface="Times New Roman" panose="02020603050405020304" pitchFamily="18" charset="0"/>
              </a:rPr>
              <a:t>转换器、</a:t>
            </a:r>
            <a:r>
              <a:rPr lang="zh-CN" altLang="en-US" b="1" dirty="0"/>
              <a:t>④</a:t>
            </a:r>
            <a:r>
              <a:rPr lang="zh-CN" altLang="en-US" b="1" dirty="0">
                <a:latin typeface="Times New Roman" panose="02020603050405020304" pitchFamily="18" charset="0"/>
              </a:rPr>
              <a:t>输出多路开关和</a:t>
            </a:r>
            <a:r>
              <a:rPr lang="zh-CN" altLang="en-US" b="1" dirty="0"/>
              <a:t>⑤</a:t>
            </a:r>
            <a:r>
              <a:rPr lang="zh-CN" altLang="en-US" b="1" dirty="0">
                <a:latin typeface="Times New Roman" panose="02020603050405020304" pitchFamily="18" charset="0"/>
              </a:rPr>
              <a:t>控制逻辑</a:t>
            </a:r>
            <a:r>
              <a:rPr lang="en-US" altLang="zh-CN" b="1" dirty="0">
                <a:latin typeface="Times New Roman" panose="02020603050405020304" pitchFamily="18" charset="0"/>
              </a:rPr>
              <a:t>5</a:t>
            </a:r>
            <a:r>
              <a:rPr lang="zh-CN" altLang="en-US" b="1" dirty="0">
                <a:latin typeface="Times New Roman" panose="02020603050405020304" pitchFamily="18" charset="0"/>
              </a:rPr>
              <a:t>部分组成。</a:t>
            </a:r>
          </a:p>
          <a:p>
            <a:pPr eaLnBrk="1" hangingPunct="1">
              <a:buNone/>
            </a:pPr>
            <a:r>
              <a:rPr lang="en-US" altLang="zh-CN" b="1" dirty="0">
                <a:latin typeface="Times New Roman" panose="02020603050405020304" pitchFamily="18" charset="0"/>
              </a:rPr>
              <a:t>1</a:t>
            </a:r>
            <a:r>
              <a:rPr lang="zh-CN" altLang="en-US" b="1" dirty="0">
                <a:latin typeface="Times New Roman" panose="02020603050405020304" pitchFamily="18" charset="0"/>
              </a:rPr>
              <a:t>）输出锁存器</a:t>
            </a:r>
          </a:p>
          <a:p>
            <a:pPr eaLnBrk="1" hangingPunct="1">
              <a:buNone/>
            </a:pPr>
            <a:r>
              <a:rPr lang="en-US" altLang="zh-CN" b="1" dirty="0">
                <a:latin typeface="Times New Roman" panose="02020603050405020304" pitchFamily="18" charset="0"/>
              </a:rPr>
              <a:t>2</a:t>
            </a:r>
            <a:r>
              <a:rPr lang="zh-CN" altLang="en-US" b="1" dirty="0">
                <a:latin typeface="Times New Roman" panose="02020603050405020304" pitchFamily="18" charset="0"/>
              </a:rPr>
              <a:t>）光电隔离</a:t>
            </a:r>
          </a:p>
          <a:p>
            <a:pPr eaLnBrk="1" hangingPunct="1">
              <a:buNone/>
            </a:pPr>
            <a:r>
              <a:rPr lang="en-US" altLang="zh-CN" b="1" dirty="0">
                <a:latin typeface="Times New Roman" panose="02020603050405020304" pitchFamily="18" charset="0"/>
              </a:rPr>
              <a:t>3</a:t>
            </a:r>
            <a:r>
              <a:rPr lang="zh-CN" altLang="en-US" b="1" dirty="0">
                <a:latin typeface="Times New Roman" panose="02020603050405020304" pitchFamily="18" charset="0"/>
              </a:rPr>
              <a:t>）</a:t>
            </a:r>
            <a:r>
              <a:rPr lang="en-US" altLang="zh-CN" b="1" dirty="0">
                <a:latin typeface="Times New Roman" panose="02020603050405020304" pitchFamily="18" charset="0"/>
              </a:rPr>
              <a:t>D/A</a:t>
            </a:r>
            <a:r>
              <a:rPr lang="zh-CN" altLang="en-US" b="1" dirty="0">
                <a:latin typeface="Times New Roman" panose="02020603050405020304" pitchFamily="18" charset="0"/>
              </a:rPr>
              <a:t>转换器</a:t>
            </a:r>
          </a:p>
          <a:p>
            <a:pPr eaLnBrk="1" hangingPunct="1">
              <a:buNone/>
            </a:pPr>
            <a:r>
              <a:rPr lang="en-US" altLang="zh-CN" b="1" dirty="0">
                <a:latin typeface="Times New Roman" panose="02020603050405020304" pitchFamily="18" charset="0"/>
              </a:rPr>
              <a:t>4</a:t>
            </a:r>
            <a:r>
              <a:rPr lang="zh-CN" altLang="en-US" b="1" dirty="0">
                <a:latin typeface="Times New Roman" panose="02020603050405020304" pitchFamily="18" charset="0"/>
              </a:rPr>
              <a:t>）输出多路开关和输出驱动</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3"/>
          <p:cNvSpPr>
            <a:spLocks noGrp="1"/>
          </p:cNvSpPr>
          <p:nvPr>
            <p:ph idx="1"/>
          </p:nvPr>
        </p:nvSpPr>
        <p:spPr>
          <a:xfrm>
            <a:off x="457200" y="457200"/>
            <a:ext cx="8229600" cy="60960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5</a:t>
            </a:r>
            <a:r>
              <a:rPr lang="zh-CN" altLang="en-US" b="1" dirty="0">
                <a:latin typeface="Times New Roman" panose="02020603050405020304" pitchFamily="18" charset="0"/>
              </a:rPr>
              <a:t>）控制逻辑</a:t>
            </a:r>
          </a:p>
          <a:p>
            <a:pPr eaLnBrk="1" hangingPunct="1">
              <a:buNone/>
            </a:pPr>
            <a:r>
              <a:rPr lang="zh-CN" altLang="en-US" b="1" dirty="0">
                <a:solidFill>
                  <a:srgbClr val="FF0000"/>
                </a:solidFill>
                <a:latin typeface="Times New Roman" panose="02020603050405020304" pitchFamily="18" charset="0"/>
              </a:rPr>
              <a:t>   它的作用有两个：一是根据</a:t>
            </a:r>
            <a:r>
              <a:rPr lang="en-US" altLang="zh-CN" b="1" dirty="0">
                <a:solidFill>
                  <a:srgbClr val="FF0000"/>
                </a:solidFill>
                <a:latin typeface="Times New Roman" panose="02020603050405020304" pitchFamily="18" charset="0"/>
              </a:rPr>
              <a:t>CPU</a:t>
            </a:r>
            <a:r>
              <a:rPr lang="zh-CN" altLang="en-US" b="1" dirty="0">
                <a:solidFill>
                  <a:srgbClr val="FF0000"/>
                </a:solidFill>
                <a:latin typeface="Times New Roman" panose="02020603050405020304" pitchFamily="18" charset="0"/>
              </a:rPr>
              <a:t>送来的地址确定是否选中本模块；二是根据</a:t>
            </a:r>
            <a:r>
              <a:rPr lang="en-US" altLang="zh-CN" b="1" dirty="0">
                <a:solidFill>
                  <a:srgbClr val="FF0000"/>
                </a:solidFill>
                <a:latin typeface="Times New Roman" panose="02020603050405020304" pitchFamily="18" charset="0"/>
              </a:rPr>
              <a:t>CPU</a:t>
            </a:r>
            <a:r>
              <a:rPr lang="zh-CN" altLang="en-US" b="1" dirty="0">
                <a:solidFill>
                  <a:srgbClr val="FF0000"/>
                </a:solidFill>
                <a:latin typeface="Times New Roman" panose="02020603050405020304" pitchFamily="18" charset="0"/>
              </a:rPr>
              <a:t>送来的控制信号和输出通道地址，先将系统总线上的数据送入输出锁存器，然后启动</a:t>
            </a:r>
            <a:r>
              <a:rPr lang="en-US" altLang="zh-CN" b="1" dirty="0">
                <a:solidFill>
                  <a:srgbClr val="FF0000"/>
                </a:solidFill>
                <a:latin typeface="Times New Roman" panose="02020603050405020304" pitchFamily="18" charset="0"/>
              </a:rPr>
              <a:t>D/A</a:t>
            </a:r>
            <a:r>
              <a:rPr lang="zh-CN" altLang="en-US" b="1" dirty="0">
                <a:solidFill>
                  <a:srgbClr val="FF0000"/>
                </a:solidFill>
                <a:latin typeface="Times New Roman" panose="02020603050405020304" pitchFamily="18" charset="0"/>
              </a:rPr>
              <a:t>转换，最后接通相应通道的模拟开关，将</a:t>
            </a:r>
            <a:r>
              <a:rPr lang="en-US" altLang="zh-CN" b="1" dirty="0">
                <a:solidFill>
                  <a:srgbClr val="FF0000"/>
                </a:solidFill>
                <a:latin typeface="Times New Roman" panose="02020603050405020304" pitchFamily="18" charset="0"/>
              </a:rPr>
              <a:t>D</a:t>
            </a:r>
            <a:r>
              <a:rPr lang="zh-CN" altLang="en-US"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rPr>
              <a:t>A</a:t>
            </a:r>
            <a:r>
              <a:rPr lang="zh-CN" altLang="en-US" b="1" dirty="0">
                <a:solidFill>
                  <a:srgbClr val="FF0000"/>
                </a:solidFill>
                <a:latin typeface="Times New Roman" panose="02020603050405020304" pitchFamily="18" charset="0"/>
              </a:rPr>
              <a:t>输出的电压信号输送到本通道的输出驱动器。</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5" name="Picture 4" descr="2-12"/>
          <p:cNvPicPr>
            <a:picLocks noChangeAspect="1"/>
          </p:cNvPicPr>
          <p:nvPr/>
        </p:nvPicPr>
        <p:blipFill>
          <a:blip r:embed="rId2"/>
          <a:stretch>
            <a:fillRect/>
          </a:stretch>
        </p:blipFill>
        <p:spPr>
          <a:xfrm>
            <a:off x="1905000" y="228600"/>
            <a:ext cx="4997450" cy="5638800"/>
          </a:xfrm>
          <a:prstGeom prst="rect">
            <a:avLst/>
          </a:prstGeom>
          <a:noFill/>
          <a:ln w="9525">
            <a:noFill/>
          </a:ln>
        </p:spPr>
      </p:pic>
      <p:sp>
        <p:nvSpPr>
          <p:cNvPr id="47106" name="Rectangle 5"/>
          <p:cNvSpPr/>
          <p:nvPr/>
        </p:nvSpPr>
        <p:spPr>
          <a:xfrm>
            <a:off x="1600200" y="5867400"/>
            <a:ext cx="6188075"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2.12   </a:t>
            </a:r>
            <a:r>
              <a:rPr lang="zh-CN" altLang="en-US" sz="3200" dirty="0">
                <a:latin typeface="Arial" panose="020B0604020202020204" pitchFamily="34" charset="0"/>
                <a:ea typeface="宋体" panose="02010600030101010101" pitchFamily="2" charset="-122"/>
              </a:rPr>
              <a:t>模拟量输出模块结构框图</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5"/>
          <p:cNvSpPr/>
          <p:nvPr/>
        </p:nvSpPr>
        <p:spPr>
          <a:xfrm>
            <a:off x="1600200" y="5867400"/>
            <a:ext cx="6188075"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2.12   </a:t>
            </a:r>
            <a:r>
              <a:rPr lang="zh-CN" altLang="en-US" sz="3200" dirty="0">
                <a:latin typeface="Arial" panose="020B0604020202020204" pitchFamily="34" charset="0"/>
                <a:ea typeface="宋体" panose="02010600030101010101" pitchFamily="2" charset="-122"/>
              </a:rPr>
              <a:t>模拟量输出模块结构框图</a:t>
            </a:r>
          </a:p>
        </p:txBody>
      </p:sp>
      <p:pic>
        <p:nvPicPr>
          <p:cNvPr id="48130" name="Picture 2"/>
          <p:cNvPicPr>
            <a:picLocks noChangeAspect="1"/>
          </p:cNvPicPr>
          <p:nvPr/>
        </p:nvPicPr>
        <p:blipFill>
          <a:blip r:embed="rId2"/>
          <a:stretch>
            <a:fillRect/>
          </a:stretch>
        </p:blipFill>
        <p:spPr>
          <a:xfrm>
            <a:off x="2195513" y="447675"/>
            <a:ext cx="5060950" cy="5438775"/>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p:cNvSpPr>
          <p:nvPr>
            <p:ph idx="1"/>
          </p:nvPr>
        </p:nvSpPr>
        <p:spPr>
          <a:xfrm>
            <a:off x="457200" y="533400"/>
            <a:ext cx="8229600" cy="5867400"/>
          </a:xfrm>
        </p:spPr>
        <p:txBody>
          <a:bodyPr vert="horz" wrap="square" lIns="91440" tIns="45720" rIns="91440" bIns="45720" anchor="t" anchorCtr="0"/>
          <a:lstStyle/>
          <a:p>
            <a:pPr eaLnBrk="1" hangingPunct="1">
              <a:buNone/>
            </a:pPr>
            <a:r>
              <a:rPr lang="zh-CN" altLang="en-US" b="1" dirty="0">
                <a:latin typeface="Times New Roman" panose="02020603050405020304" pitchFamily="18" charset="0"/>
              </a:rPr>
              <a:t>（</a:t>
            </a:r>
            <a:r>
              <a:rPr lang="en-US" altLang="zh-CN" b="1" dirty="0">
                <a:latin typeface="Times New Roman" panose="02020603050405020304" pitchFamily="18" charset="0"/>
              </a:rPr>
              <a:t>2</a:t>
            </a:r>
            <a:r>
              <a:rPr lang="zh-CN" altLang="en-US" b="1" dirty="0">
                <a:latin typeface="Times New Roman" panose="02020603050405020304" pitchFamily="18" charset="0"/>
              </a:rPr>
              <a:t>）闭环控制模块</a:t>
            </a:r>
          </a:p>
          <a:p>
            <a:pPr eaLnBrk="1" hangingPunct="1">
              <a:buNone/>
            </a:pPr>
            <a:r>
              <a:rPr lang="zh-CN" altLang="en-US" b="1" dirty="0">
                <a:latin typeface="Times New Roman" panose="02020603050405020304" pitchFamily="18" charset="0"/>
              </a:rPr>
              <a:t>    实现闭环控制通常有两种不同的方法：一种是利用</a:t>
            </a:r>
            <a:r>
              <a:rPr lang="en-US" altLang="zh-CN" b="1" dirty="0">
                <a:latin typeface="Times New Roman" panose="02020603050405020304" pitchFamily="18" charset="0"/>
              </a:rPr>
              <a:t>PLC</a:t>
            </a:r>
            <a:r>
              <a:rPr lang="zh-CN" altLang="en-US" b="1" dirty="0">
                <a:latin typeface="Times New Roman" panose="02020603050405020304" pitchFamily="18" charset="0"/>
              </a:rPr>
              <a:t>中的模拟输入与输出模块作测试和输出驱动，而控制参数和控制方法由</a:t>
            </a:r>
            <a:r>
              <a:rPr lang="en-US" altLang="zh-CN" b="1" dirty="0">
                <a:latin typeface="Times New Roman" panose="02020603050405020304" pitchFamily="18" charset="0"/>
              </a:rPr>
              <a:t>PLC</a:t>
            </a:r>
            <a:r>
              <a:rPr lang="zh-CN" altLang="en-US" b="1" dirty="0">
                <a:latin typeface="Times New Roman" panose="02020603050405020304" pitchFamily="18" charset="0"/>
              </a:rPr>
              <a:t>的软件完成，这种控制方式硬件结构简单，但要占有</a:t>
            </a:r>
            <a:r>
              <a:rPr lang="en-US" altLang="zh-CN" b="1" dirty="0">
                <a:latin typeface="Times New Roman" panose="02020603050405020304" pitchFamily="18" charset="0"/>
              </a:rPr>
              <a:t>CPU</a:t>
            </a:r>
            <a:r>
              <a:rPr lang="zh-CN" altLang="en-US" b="1" dirty="0">
                <a:latin typeface="Times New Roman" panose="02020603050405020304" pitchFamily="18" charset="0"/>
              </a:rPr>
              <a:t>大量的计算时间，控制速度较低和实时性较差；另一种方式采用专门设计的闭环控制模块，用“硬件”来实现实时控制。</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idx="1"/>
          </p:nvPr>
        </p:nvSpPr>
        <p:spPr>
          <a:xfrm>
            <a:off x="457200" y="533400"/>
            <a:ext cx="8229600" cy="58674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           </a:t>
            </a:r>
            <a:r>
              <a:rPr lang="zh-CN" altLang="en-US" b="1" dirty="0">
                <a:latin typeface="Times New Roman" panose="02020603050405020304" pitchFamily="18" charset="0"/>
              </a:rPr>
              <a:t>通用闭环控制模块的结构如图</a:t>
            </a:r>
            <a:r>
              <a:rPr lang="en-US" altLang="zh-CN" b="1" dirty="0">
                <a:latin typeface="Times New Roman" panose="02020603050405020304" pitchFamily="18" charset="0"/>
              </a:rPr>
              <a:t>2.15</a:t>
            </a:r>
            <a:r>
              <a:rPr lang="zh-CN" altLang="en-US" b="1" dirty="0">
                <a:latin typeface="Times New Roman" panose="02020603050405020304" pitchFamily="18" charset="0"/>
              </a:rPr>
              <a:t>所示，</a:t>
            </a:r>
            <a:r>
              <a:rPr lang="zh-CN" altLang="en-US" b="1" dirty="0">
                <a:solidFill>
                  <a:srgbClr val="FF0000"/>
                </a:solidFill>
                <a:latin typeface="Times New Roman" panose="02020603050405020304" pitchFamily="18" charset="0"/>
              </a:rPr>
              <a:t>它包括两部分：一部分是模拟量部分，另一部分是处理器部分。</a:t>
            </a:r>
            <a:r>
              <a:rPr lang="zh-CN" altLang="en-US" b="1" dirty="0">
                <a:latin typeface="Times New Roman" panose="02020603050405020304" pitchFamily="18" charset="0"/>
              </a:rPr>
              <a:t>模拟部分与处理部分是通过电缆连接。模拟部分包括模数转换和数模转换。处理部分采用微处理器，用来实现各种控制算法的计算、各种控制功能。</a:t>
            </a:r>
          </a:p>
          <a:p>
            <a:pPr eaLnBrk="1" hangingPunct="1">
              <a:buNone/>
            </a:pPr>
            <a:r>
              <a:rPr lang="zh-CN" altLang="en-US" b="1" dirty="0">
                <a:latin typeface="Times New Roman" panose="02020603050405020304" pitchFamily="18" charset="0"/>
              </a:rPr>
              <a:t>            图</a:t>
            </a:r>
            <a:r>
              <a:rPr lang="en-US" altLang="zh-CN" b="1" dirty="0">
                <a:latin typeface="Times New Roman" panose="02020603050405020304" pitchFamily="18" charset="0"/>
              </a:rPr>
              <a:t>2.15</a:t>
            </a:r>
            <a:r>
              <a:rPr lang="zh-CN" altLang="en-US" b="1" dirty="0">
                <a:latin typeface="Times New Roman" panose="02020603050405020304" pitchFamily="18" charset="0"/>
              </a:rPr>
              <a:t>中的总线接口实现了与可编程序控制器总线相连和与可编程序控制器</a:t>
            </a:r>
            <a:r>
              <a:rPr lang="en-US" altLang="zh-CN" b="1" dirty="0">
                <a:latin typeface="Times New Roman" panose="02020603050405020304" pitchFamily="18" charset="0"/>
              </a:rPr>
              <a:t>CPU</a:t>
            </a:r>
            <a:r>
              <a:rPr lang="zh-CN" altLang="en-US" b="1" dirty="0">
                <a:latin typeface="Times New Roman" panose="02020603050405020304" pitchFamily="18" charset="0"/>
              </a:rPr>
              <a:t>的信息交换。编程接口与编程器相连，实现对模块的编程和监控。</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1" name="Picture 5" descr="2-15"/>
          <p:cNvPicPr>
            <a:picLocks noChangeAspect="1"/>
          </p:cNvPicPr>
          <p:nvPr/>
        </p:nvPicPr>
        <p:blipFill>
          <a:blip r:embed="rId2"/>
          <a:stretch>
            <a:fillRect/>
          </a:stretch>
        </p:blipFill>
        <p:spPr>
          <a:xfrm>
            <a:off x="914400" y="304800"/>
            <a:ext cx="5683250" cy="5943600"/>
          </a:xfrm>
          <a:prstGeom prst="rect">
            <a:avLst/>
          </a:prstGeom>
          <a:noFill/>
          <a:ln w="9525">
            <a:noFill/>
          </a:ln>
        </p:spPr>
      </p:pic>
      <p:sp>
        <p:nvSpPr>
          <p:cNvPr id="51202" name="Rectangle 6"/>
          <p:cNvSpPr/>
          <p:nvPr/>
        </p:nvSpPr>
        <p:spPr>
          <a:xfrm>
            <a:off x="5562600" y="5410200"/>
            <a:ext cx="3028950" cy="946150"/>
          </a:xfrm>
          <a:prstGeom prst="rect">
            <a:avLst/>
          </a:prstGeom>
          <a:noFill/>
          <a:ln w="9525">
            <a:noFill/>
          </a:ln>
        </p:spPr>
        <p:txBody>
          <a:bodyPr wrap="none" anchor="t" anchorCtr="0">
            <a:spAutoFit/>
          </a:bodyPr>
          <a:lstStyle/>
          <a:p>
            <a:r>
              <a:rPr lang="zh-CN" altLang="en-US" sz="2800" dirty="0">
                <a:latin typeface="Arial" panose="020B0604020202020204" pitchFamily="34" charset="0"/>
                <a:ea typeface="宋体" panose="02010600030101010101" pitchFamily="2" charset="-122"/>
              </a:rPr>
              <a:t>图</a:t>
            </a:r>
            <a:r>
              <a:rPr lang="en-US" altLang="zh-CN" sz="2800" dirty="0">
                <a:latin typeface="Arial" panose="020B0604020202020204" pitchFamily="34" charset="0"/>
                <a:ea typeface="宋体" panose="02010600030101010101" pitchFamily="2" charset="-122"/>
              </a:rPr>
              <a:t>2.15   </a:t>
            </a:r>
            <a:r>
              <a:rPr lang="zh-CN" altLang="en-US" sz="2800" dirty="0">
                <a:latin typeface="Arial" panose="020B0604020202020204" pitchFamily="34" charset="0"/>
                <a:ea typeface="宋体" panose="02010600030101010101" pitchFamily="2" charset="-122"/>
              </a:rPr>
              <a:t>通用闭环</a:t>
            </a:r>
          </a:p>
          <a:p>
            <a:r>
              <a:rPr lang="zh-CN" altLang="en-US" sz="2800" dirty="0">
                <a:latin typeface="Arial" panose="020B0604020202020204" pitchFamily="34" charset="0"/>
                <a:ea typeface="宋体" panose="02010600030101010101" pitchFamily="2" charset="-122"/>
              </a:rPr>
              <a:t>控制模块硬件结构</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p:cNvSpPr>
          <p:nvPr>
            <p:ph idx="1"/>
          </p:nvPr>
        </p:nvSpPr>
        <p:spPr>
          <a:xfrm>
            <a:off x="457200" y="533400"/>
            <a:ext cx="8229600" cy="58674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2800" b="1" i="0" u="none" strike="noStrike" kern="0" cap="none" spc="0" normalizeH="0" baseline="0" noProof="1">
              <a:ln>
                <a:noFill/>
              </a:ln>
              <a:solidFill>
                <a:schemeClr val="tx1"/>
              </a:solidFill>
              <a:effectLst>
                <a:outerShdw blurRad="38100" dist="19050" dir="2700000" algn="tl" rotWithShape="0">
                  <a:schemeClr val="dk1">
                    <a:alpha val="40000"/>
                  </a:schemeClr>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en-US" altLang="zh-CN" sz="2800" b="0" i="0" u="none" strike="noStrike" kern="0" cap="none" spc="0" normalizeH="0" baseline="0" noProof="1">
                <a:ln>
                  <a:noFill/>
                </a:ln>
                <a:solidFill>
                  <a:schemeClr val="tx1"/>
                </a:solidFill>
                <a:effectLst/>
                <a:uLnTx/>
                <a:uFillTx/>
                <a:latin typeface="+mn-lt"/>
                <a:ea typeface="+mn-ea"/>
                <a:cs typeface="+mn-cs"/>
              </a:rPr>
              <a:t>(3)</a:t>
            </a:r>
            <a:r>
              <a:rPr kumimoji="0" lang="zh-CN" altLang="en-US" sz="2800" b="1" i="0" u="none" strike="noStrike" kern="0" cap="none" spc="0" normalizeH="0" baseline="0" noProof="1">
                <a:ln>
                  <a:noFill/>
                </a:ln>
                <a:solidFill>
                  <a:schemeClr val="tx1"/>
                </a:solidFill>
                <a:effectLst>
                  <a:outerShdw blurRad="38100" dist="19050" dir="2700000" algn="tl" rotWithShape="0">
                    <a:schemeClr val="dk1">
                      <a:alpha val="40000"/>
                    </a:schemeClr>
                  </a:outerShdw>
                </a:effectLst>
                <a:uLnTx/>
                <a:uFillTx/>
                <a:latin typeface="+mn-lt"/>
                <a:ea typeface="+mn-ea"/>
                <a:cs typeface="+mn-cs"/>
              </a:rPr>
              <a:t>高速计数模块</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altLang="en-US" sz="2800" b="0" i="0" u="none" strike="noStrike" kern="0" cap="none" spc="0" normalizeH="0" baseline="0" noProof="1">
                <a:ln>
                  <a:noFill/>
                </a:ln>
                <a:solidFill>
                  <a:schemeClr val="tx1"/>
                </a:solidFill>
                <a:effectLst/>
                <a:uLnTx/>
                <a:uFillTx/>
                <a:latin typeface="+mn-lt"/>
                <a:ea typeface="+mn-ea"/>
                <a:cs typeface="+mn-cs"/>
              </a:rPr>
              <a:t>高速计数模块一般具有以下功能：</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en-US" altLang="zh-CN" sz="2800" b="0" i="0" u="none" strike="noStrike" kern="0" cap="none" spc="0" normalizeH="0" baseline="0" noProof="1">
                <a:ln>
                  <a:noFill/>
                </a:ln>
                <a:solidFill>
                  <a:schemeClr val="tx1"/>
                </a:solidFill>
                <a:effectLst/>
                <a:uLnTx/>
                <a:uFillTx/>
                <a:latin typeface="+mn-lt"/>
                <a:ea typeface="+mn-ea"/>
                <a:cs typeface="+mn-cs"/>
              </a:rPr>
              <a:t>1</a:t>
            </a:r>
            <a:r>
              <a:rPr kumimoji="0" lang="zh-CN" altLang="en-US" sz="2800" b="0" i="0" u="none" strike="noStrike" kern="0" cap="none" spc="0" normalizeH="0" baseline="0" noProof="1">
                <a:ln>
                  <a:noFill/>
                </a:ln>
                <a:solidFill>
                  <a:schemeClr val="tx1"/>
                </a:solidFill>
                <a:effectLst/>
                <a:uLnTx/>
                <a:uFillTx/>
                <a:latin typeface="+mn-lt"/>
                <a:ea typeface="+mn-ea"/>
                <a:cs typeface="+mn-cs"/>
              </a:rPr>
              <a:t>）采样计数</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en-US" altLang="zh-CN" sz="2800" b="0" i="0" u="none" strike="noStrike" kern="0" cap="none" spc="0" normalizeH="0" baseline="0" noProof="1">
                <a:ln>
                  <a:noFill/>
                </a:ln>
                <a:solidFill>
                  <a:schemeClr val="tx1"/>
                </a:solidFill>
                <a:effectLst/>
                <a:uLnTx/>
                <a:uFillTx/>
                <a:latin typeface="+mn-lt"/>
                <a:ea typeface="+mn-ea"/>
                <a:cs typeface="+mn-cs"/>
              </a:rPr>
              <a:t>2</a:t>
            </a:r>
            <a:r>
              <a:rPr kumimoji="0" lang="zh-CN" altLang="en-US" sz="2800" b="0" i="0" u="none" strike="noStrike" kern="0" cap="none" spc="0" normalizeH="0" baseline="0" noProof="1">
                <a:ln>
                  <a:noFill/>
                </a:ln>
                <a:solidFill>
                  <a:schemeClr val="tx1"/>
                </a:solidFill>
                <a:effectLst/>
                <a:uLnTx/>
                <a:uFillTx/>
                <a:latin typeface="+mn-lt"/>
                <a:ea typeface="+mn-ea"/>
                <a:cs typeface="+mn-cs"/>
              </a:rPr>
              <a:t>）设定计数值</a:t>
            </a:r>
            <a:endParaRPr kumimoji="0" lang="zh-CN" altLang="en-US" sz="2800" b="1"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en-US" altLang="zh-CN" sz="2800" b="0" i="0" u="none" strike="noStrike" kern="0" cap="none" spc="0" normalizeH="0" baseline="0" noProof="1">
                <a:ln>
                  <a:noFill/>
                </a:ln>
                <a:solidFill>
                  <a:schemeClr val="tx1"/>
                </a:solidFill>
                <a:effectLst/>
                <a:uLnTx/>
                <a:uFillTx/>
                <a:latin typeface="+mn-lt"/>
                <a:ea typeface="+mn-ea"/>
                <a:cs typeface="+mn-cs"/>
              </a:rPr>
              <a:t>3</a:t>
            </a:r>
            <a:r>
              <a:rPr kumimoji="0" lang="zh-CN" altLang="en-US" sz="2800" b="1" i="0" u="none" strike="noStrike" kern="0" cap="none" spc="0" normalizeH="0" baseline="0" noProof="1">
                <a:ln>
                  <a:noFill/>
                </a:ln>
                <a:solidFill>
                  <a:schemeClr val="tx1"/>
                </a:solidFill>
                <a:effectLst/>
                <a:uLnTx/>
                <a:uFillTx/>
                <a:latin typeface="+mn-lt"/>
                <a:ea typeface="+mn-ea"/>
                <a:cs typeface="+mn-cs"/>
              </a:rPr>
              <a:t>）</a:t>
            </a:r>
            <a:r>
              <a:rPr kumimoji="0" lang="zh-CN" altLang="en-US" sz="2800" b="0" i="0" u="none" strike="noStrike" kern="0" cap="none" spc="0" normalizeH="0" baseline="0" noProof="1">
                <a:ln>
                  <a:noFill/>
                </a:ln>
                <a:solidFill>
                  <a:schemeClr val="tx1"/>
                </a:solidFill>
                <a:effectLst/>
                <a:uLnTx/>
                <a:uFillTx/>
                <a:latin typeface="+mn-lt"/>
                <a:ea typeface="+mn-ea"/>
                <a:cs typeface="+mn-cs"/>
              </a:rPr>
              <a:t>计数方式设定</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en-US" altLang="zh-CN" sz="2800" b="0" i="0" u="none" strike="noStrike" kern="0" cap="none" spc="0" normalizeH="0" baseline="0" noProof="1">
                <a:ln>
                  <a:noFill/>
                </a:ln>
                <a:solidFill>
                  <a:schemeClr val="tx1"/>
                </a:solidFill>
                <a:effectLst/>
                <a:uLnTx/>
                <a:uFillTx/>
                <a:latin typeface="+mn-lt"/>
                <a:ea typeface="+mn-ea"/>
                <a:cs typeface="+mn-cs"/>
              </a:rPr>
              <a:t>4</a:t>
            </a:r>
            <a:r>
              <a:rPr kumimoji="0" lang="zh-CN" altLang="en-US" sz="2800" b="1" i="0" u="none" strike="noStrike" kern="0" cap="none" spc="0" normalizeH="0" baseline="0" noProof="1">
                <a:ln>
                  <a:noFill/>
                </a:ln>
                <a:solidFill>
                  <a:schemeClr val="tx1"/>
                </a:solidFill>
                <a:effectLst/>
                <a:uLnTx/>
                <a:uFillTx/>
                <a:latin typeface="+mn-lt"/>
                <a:ea typeface="+mn-ea"/>
                <a:cs typeface="+mn-cs"/>
              </a:rPr>
              <a:t>）</a:t>
            </a:r>
            <a:r>
              <a:rPr kumimoji="0" lang="zh-CN" altLang="en-US" sz="2800" b="0" i="0" u="none" strike="noStrike" kern="0" cap="none" spc="0" normalizeH="0" baseline="0" noProof="1">
                <a:ln>
                  <a:noFill/>
                </a:ln>
                <a:solidFill>
                  <a:schemeClr val="tx1"/>
                </a:solidFill>
                <a:effectLst/>
                <a:uLnTx/>
                <a:uFillTx/>
                <a:latin typeface="+mn-lt"/>
                <a:ea typeface="+mn-ea"/>
                <a:cs typeface="+mn-cs"/>
              </a:rPr>
              <a:t>数值比较</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en-US" altLang="zh-CN" sz="2800" b="0" i="0" u="none" strike="noStrike" kern="0" cap="none" spc="0" normalizeH="0" baseline="0" noProof="1">
                <a:ln>
                  <a:noFill/>
                </a:ln>
                <a:solidFill>
                  <a:schemeClr val="tx1"/>
                </a:solidFill>
                <a:effectLst/>
                <a:uLnTx/>
                <a:uFillTx/>
                <a:latin typeface="+mn-lt"/>
                <a:ea typeface="+mn-ea"/>
                <a:cs typeface="+mn-cs"/>
              </a:rPr>
              <a:t>5</a:t>
            </a:r>
            <a:r>
              <a:rPr kumimoji="0" lang="zh-CN" altLang="en-US" sz="2800" b="1" i="0" u="none" strike="noStrike" kern="0" cap="none" spc="0" normalizeH="0" baseline="0" noProof="1">
                <a:ln>
                  <a:noFill/>
                </a:ln>
                <a:solidFill>
                  <a:schemeClr val="tx1"/>
                </a:solidFill>
                <a:effectLst/>
                <a:uLnTx/>
                <a:uFillTx/>
                <a:latin typeface="+mn-lt"/>
                <a:ea typeface="+mn-ea"/>
                <a:cs typeface="+mn-cs"/>
              </a:rPr>
              <a:t>）</a:t>
            </a:r>
            <a:r>
              <a:rPr kumimoji="0" lang="zh-CN" altLang="en-US" sz="2800" b="0" i="0" u="none" strike="noStrike" kern="0" cap="none" spc="0" normalizeH="0" baseline="0" noProof="1">
                <a:ln>
                  <a:noFill/>
                </a:ln>
                <a:solidFill>
                  <a:schemeClr val="tx1"/>
                </a:solidFill>
                <a:effectLst/>
                <a:uLnTx/>
                <a:uFillTx/>
                <a:latin typeface="+mn-lt"/>
                <a:ea typeface="+mn-ea"/>
                <a:cs typeface="+mn-cs"/>
              </a:rPr>
              <a:t>输出控制</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en-US" altLang="zh-CN" sz="2800" b="0" i="0" u="none" strike="noStrike" kern="0" cap="none" spc="0" normalizeH="0" baseline="0" noProof="1">
                <a:ln>
                  <a:noFill/>
                </a:ln>
                <a:solidFill>
                  <a:schemeClr val="tx1"/>
                </a:solidFill>
                <a:effectLst/>
                <a:uLnTx/>
                <a:uFillTx/>
                <a:latin typeface="+mn-lt"/>
                <a:ea typeface="+mn-ea"/>
                <a:cs typeface="+mn-cs"/>
              </a:rPr>
              <a:t>6</a:t>
            </a:r>
            <a:r>
              <a:rPr kumimoji="0" lang="zh-CN" altLang="en-US" sz="2800" b="0" i="0" u="none" strike="noStrike" kern="0" cap="none" spc="0" normalizeH="0" baseline="0" noProof="1">
                <a:ln>
                  <a:noFill/>
                </a:ln>
                <a:solidFill>
                  <a:schemeClr val="tx1"/>
                </a:solidFill>
                <a:effectLst/>
                <a:uLnTx/>
                <a:uFillTx/>
                <a:latin typeface="+mn-lt"/>
                <a:ea typeface="+mn-ea"/>
                <a:cs typeface="+mn-cs"/>
              </a:rPr>
              <a:t>）其他</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p:cNvSpPr>
          <p:nvPr>
            <p:ph idx="1"/>
          </p:nvPr>
        </p:nvSpPr>
        <p:spPr>
          <a:xfrm>
            <a:off x="457200" y="457200"/>
            <a:ext cx="8229600" cy="59436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2.1.5   </a:t>
            </a:r>
            <a:r>
              <a:rPr lang="zh-CN" altLang="en-US" b="1" dirty="0">
                <a:latin typeface="Times New Roman" panose="02020603050405020304" pitchFamily="18" charset="0"/>
              </a:rPr>
              <a:t>编程器</a:t>
            </a:r>
          </a:p>
          <a:p>
            <a:pPr eaLnBrk="1" hangingPunct="1">
              <a:buNone/>
            </a:pPr>
            <a:r>
              <a:rPr lang="zh-CN" altLang="en-US" b="1" dirty="0">
                <a:latin typeface="Times New Roman" panose="02020603050405020304" pitchFamily="18" charset="0"/>
              </a:rPr>
              <a:t>    </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的编程器用来输入和编辑用户程序，并对程序进行编辑检查和修改，还可以用来监视</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运行时用户软件中各种编程软件的工作状态。</a:t>
            </a:r>
          </a:p>
          <a:p>
            <a:pPr eaLnBrk="1" hangingPunct="1">
              <a:buNone/>
            </a:pPr>
            <a:r>
              <a:rPr lang="zh-CN" altLang="en-US" b="1" dirty="0">
                <a:latin typeface="Times New Roman" panose="02020603050405020304" pitchFamily="18" charset="0"/>
              </a:rPr>
              <a:t>编程器分为以下</a:t>
            </a:r>
            <a:r>
              <a:rPr lang="en-US" altLang="zh-CN" b="1" dirty="0">
                <a:latin typeface="Times New Roman" panose="02020603050405020304" pitchFamily="18" charset="0"/>
              </a:rPr>
              <a:t>3</a:t>
            </a:r>
            <a:r>
              <a:rPr lang="zh-CN" altLang="en-US" b="1" dirty="0">
                <a:latin typeface="Times New Roman" panose="02020603050405020304" pitchFamily="18" charset="0"/>
              </a:rPr>
              <a:t>类：</a:t>
            </a:r>
          </a:p>
          <a:p>
            <a:pPr eaLnBrk="1" hangingPunct="1">
              <a:buNone/>
            </a:pPr>
            <a:r>
              <a:rPr lang="en-US" altLang="zh-CN" b="1" dirty="0">
                <a:latin typeface="Times New Roman" panose="02020603050405020304" pitchFamily="18" charset="0"/>
              </a:rPr>
              <a:t>(1)</a:t>
            </a:r>
            <a:r>
              <a:rPr lang="zh-CN" altLang="en-US" b="1" dirty="0">
                <a:latin typeface="Times New Roman" panose="02020603050405020304" pitchFamily="18" charset="0"/>
              </a:rPr>
              <a:t>简易编程器</a:t>
            </a:r>
          </a:p>
          <a:p>
            <a:pPr eaLnBrk="1" hangingPunct="1">
              <a:buNone/>
            </a:pPr>
            <a:r>
              <a:rPr lang="en-US" altLang="zh-CN" b="1" dirty="0">
                <a:latin typeface="Times New Roman" panose="02020603050405020304" pitchFamily="18" charset="0"/>
              </a:rPr>
              <a:t>(2)</a:t>
            </a:r>
            <a:r>
              <a:rPr lang="zh-CN" altLang="en-US" b="1" dirty="0">
                <a:latin typeface="Times New Roman" panose="02020603050405020304" pitchFamily="18" charset="0"/>
              </a:rPr>
              <a:t>图形编程器</a:t>
            </a:r>
          </a:p>
          <a:p>
            <a:pPr eaLnBrk="1" hangingPunct="1">
              <a:buNone/>
            </a:pPr>
            <a:r>
              <a:rPr lang="en-US" altLang="zh-CN" b="1" dirty="0">
                <a:latin typeface="Times New Roman" panose="02020603050405020304" pitchFamily="18" charset="0"/>
              </a:rPr>
              <a:t>(3)</a:t>
            </a:r>
            <a:r>
              <a:rPr lang="zh-CN" altLang="en-US" b="1" dirty="0">
                <a:latin typeface="Times New Roman" panose="02020603050405020304" pitchFamily="18" charset="0"/>
              </a:rPr>
              <a:t>工业控制计算机作为编程器</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p:cNvSpPr>
          <p:nvPr>
            <p:ph idx="1"/>
          </p:nvPr>
        </p:nvSpPr>
        <p:spPr>
          <a:xfrm>
            <a:off x="457200" y="457200"/>
            <a:ext cx="8229600" cy="59436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2.1.6   </a:t>
            </a:r>
            <a:r>
              <a:rPr lang="zh-CN" altLang="en-US" b="1" dirty="0">
                <a:latin typeface="Times New Roman" panose="02020603050405020304" pitchFamily="18" charset="0"/>
              </a:rPr>
              <a:t>电源模块  </a:t>
            </a:r>
          </a:p>
          <a:p>
            <a:pPr eaLnBrk="1" hangingPunct="1">
              <a:buNone/>
            </a:pPr>
            <a:r>
              <a:rPr lang="zh-CN" altLang="en-US" b="1" dirty="0">
                <a:latin typeface="Times New Roman" panose="02020603050405020304" pitchFamily="18" charset="0"/>
              </a:rPr>
              <a:t>    </a:t>
            </a:r>
            <a:r>
              <a:rPr lang="en-US" altLang="zh-CN" b="1" dirty="0">
                <a:latin typeface="Times New Roman" panose="02020603050405020304" pitchFamily="18" charset="0"/>
              </a:rPr>
              <a:t>PLC</a:t>
            </a:r>
            <a:r>
              <a:rPr lang="zh-CN" altLang="en-US" b="1" dirty="0">
                <a:latin typeface="Times New Roman" panose="02020603050405020304" pitchFamily="18" charset="0"/>
              </a:rPr>
              <a:t>的电源是指把外部供应的交流电经过整流、滤波、稳压处理后，转换成满足</a:t>
            </a:r>
            <a:r>
              <a:rPr lang="en-US" altLang="zh-CN" b="1" dirty="0">
                <a:latin typeface="Times New Roman" panose="02020603050405020304" pitchFamily="18" charset="0"/>
              </a:rPr>
              <a:t>PLC</a:t>
            </a:r>
            <a:r>
              <a:rPr lang="zh-CN" altLang="en-US" b="1" dirty="0">
                <a:latin typeface="Times New Roman" panose="02020603050405020304" pitchFamily="18" charset="0"/>
              </a:rPr>
              <a:t>内部的</a:t>
            </a:r>
            <a:r>
              <a:rPr lang="en-US" altLang="zh-CN" b="1" dirty="0">
                <a:latin typeface="Times New Roman" panose="02020603050405020304" pitchFamily="18" charset="0"/>
              </a:rPr>
              <a:t>CPU</a:t>
            </a:r>
            <a:r>
              <a:rPr lang="zh-CN" altLang="en-US" b="1" dirty="0">
                <a:latin typeface="Times New Roman" panose="02020603050405020304" pitchFamily="18" charset="0"/>
              </a:rPr>
              <a:t>、存储器和</a:t>
            </a:r>
            <a:r>
              <a:rPr lang="en-US" altLang="zh-CN" b="1" dirty="0">
                <a:latin typeface="Times New Roman" panose="02020603050405020304" pitchFamily="18" charset="0"/>
              </a:rPr>
              <a:t>I/O</a:t>
            </a:r>
            <a:r>
              <a:rPr lang="zh-CN" altLang="en-US" b="1" dirty="0">
                <a:latin typeface="Times New Roman" panose="02020603050405020304" pitchFamily="18" charset="0"/>
              </a:rPr>
              <a:t>接口等电路工作所需的直流电源的电路或电源模块。</a:t>
            </a:r>
          </a:p>
          <a:p>
            <a:pPr eaLnBrk="1" hangingPunct="1">
              <a:buNone/>
            </a:pPr>
            <a:r>
              <a:rPr lang="zh-CN" altLang="en-US" b="1" dirty="0">
                <a:latin typeface="Times New Roman" panose="02020603050405020304" pitchFamily="18" charset="0"/>
              </a:rPr>
              <a:t> </a:t>
            </a:r>
          </a:p>
          <a:p>
            <a:pPr eaLnBrk="1" hangingPunct="1">
              <a:buNone/>
            </a:pPr>
            <a:r>
              <a:rPr lang="en-US" altLang="zh-CN" b="1" dirty="0">
                <a:latin typeface="Times New Roman" panose="02020603050405020304" pitchFamily="18" charset="0"/>
              </a:rPr>
              <a:t>2.1.7 </a:t>
            </a:r>
            <a:r>
              <a:rPr lang="zh-CN" altLang="en-US" b="1" dirty="0">
                <a:latin typeface="Times New Roman" panose="02020603050405020304" pitchFamily="18" charset="0"/>
              </a:rPr>
              <a:t>底板和机架</a:t>
            </a:r>
          </a:p>
          <a:p>
            <a:pPr eaLnBrk="1" hangingPunct="1">
              <a:buNone/>
            </a:pPr>
            <a:r>
              <a:rPr lang="zh-CN" altLang="en-US" b="1" dirty="0">
                <a:latin typeface="Times New Roman" panose="02020603050405020304" pitchFamily="18" charset="0"/>
              </a:rPr>
              <a:t>    模块式</a:t>
            </a:r>
            <a:r>
              <a:rPr lang="en-US" altLang="zh-CN" b="1" dirty="0">
                <a:latin typeface="Times New Roman" panose="02020603050405020304" pitchFamily="18" charset="0"/>
              </a:rPr>
              <a:t>PLC</a:t>
            </a:r>
            <a:r>
              <a:rPr lang="zh-CN" altLang="en-US" b="1" dirty="0">
                <a:latin typeface="Times New Roman" panose="02020603050405020304" pitchFamily="18" charset="0"/>
              </a:rPr>
              <a:t>使用底板或机架，其作用是：电气上实现各模块间的联系，使</a:t>
            </a:r>
            <a:r>
              <a:rPr lang="en-US" altLang="zh-CN" b="1" dirty="0">
                <a:latin typeface="Times New Roman" panose="02020603050405020304" pitchFamily="18" charset="0"/>
              </a:rPr>
              <a:t>CPU</a:t>
            </a:r>
            <a:r>
              <a:rPr lang="zh-CN" altLang="en-US" b="1" dirty="0">
                <a:latin typeface="Times New Roman" panose="02020603050405020304" pitchFamily="18" charset="0"/>
              </a:rPr>
              <a:t>能访问底板上的所有模块；机械上实现各模块间的连接，使各模块构成一个整体。</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p:cNvSpPr>
          <p:nvPr>
            <p:ph idx="1"/>
          </p:nvPr>
        </p:nvSpPr>
        <p:spPr>
          <a:xfrm>
            <a:off x="468313" y="836613"/>
            <a:ext cx="8229600" cy="5592762"/>
          </a:xfrm>
        </p:spPr>
        <p:txBody>
          <a:bodyPr vert="horz" wrap="square" lIns="91440" tIns="45720" rIns="91440" bIns="45720" anchor="t" anchorCtr="0"/>
          <a:lstStyle/>
          <a:p>
            <a:pPr eaLnBrk="1" hangingPunct="1"/>
            <a:r>
              <a:rPr lang="en-US" altLang="zh-CN" b="1" dirty="0">
                <a:latin typeface="Times New Roman" panose="02020603050405020304" pitchFamily="18" charset="0"/>
              </a:rPr>
              <a:t>§2.2  </a:t>
            </a:r>
            <a:r>
              <a:rPr lang="zh-CN" altLang="en-US" b="1" dirty="0">
                <a:latin typeface="Times New Roman" panose="02020603050405020304" pitchFamily="18" charset="0"/>
              </a:rPr>
              <a:t>可编程序控制器的分类及性能指标</a:t>
            </a:r>
          </a:p>
          <a:p>
            <a:pPr eaLnBrk="1" hangingPunct="1">
              <a:buNone/>
            </a:pPr>
            <a:r>
              <a:rPr lang="zh-CN" altLang="en-US" sz="2800" b="1" dirty="0">
                <a:latin typeface="Times New Roman" panose="02020603050405020304" pitchFamily="18" charset="0"/>
              </a:rPr>
              <a:t>            </a:t>
            </a:r>
            <a:r>
              <a:rPr lang="en-US" altLang="zh-CN" b="1" dirty="0">
                <a:latin typeface="Times New Roman" panose="02020603050405020304" pitchFamily="18" charset="0"/>
              </a:rPr>
              <a:t>PLC</a:t>
            </a:r>
            <a:r>
              <a:rPr lang="zh-CN" altLang="en-US" b="1" dirty="0">
                <a:latin typeface="Times New Roman" panose="02020603050405020304" pitchFamily="18" charset="0"/>
              </a:rPr>
              <a:t>的品种繁多，各种产品实现的功能、内存容量、控制规模及外形等方面均存在较大差异</a:t>
            </a:r>
            <a:r>
              <a:rPr lang="zh-CN" altLang="en-US" sz="2800" b="1" dirty="0">
                <a:latin typeface="Times New Roman" panose="02020603050405020304" pitchFamily="18" charset="0"/>
              </a:rPr>
              <a:t>。</a:t>
            </a:r>
            <a:r>
              <a:rPr lang="zh-CN" altLang="en-US" b="1" dirty="0">
                <a:solidFill>
                  <a:srgbClr val="FF0000"/>
                </a:solidFill>
                <a:latin typeface="Times New Roman" panose="02020603050405020304" pitchFamily="18" charset="0"/>
              </a:rPr>
              <a:t>因此，</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的分类没有一个严格统一的标准，通常是按照结构形式、</a:t>
            </a:r>
            <a:r>
              <a:rPr lang="en-US" altLang="zh-CN" b="1" dirty="0">
                <a:solidFill>
                  <a:srgbClr val="FF0000"/>
                </a:solidFill>
                <a:latin typeface="Times New Roman" panose="02020603050405020304" pitchFamily="18" charset="0"/>
              </a:rPr>
              <a:t>I/O</a:t>
            </a:r>
            <a:r>
              <a:rPr lang="zh-CN" altLang="en-US" b="1" dirty="0">
                <a:solidFill>
                  <a:srgbClr val="FF0000"/>
                </a:solidFill>
                <a:latin typeface="Times New Roman" panose="02020603050405020304" pitchFamily="18" charset="0"/>
              </a:rPr>
              <a:t>点数以及内存容量的大小进行大致的分类。 </a:t>
            </a:r>
          </a:p>
        </p:txBody>
      </p:sp>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p:cNvSpPr>
          <p:nvPr>
            <p:ph idx="1"/>
          </p:nvPr>
        </p:nvSpPr>
        <p:spPr>
          <a:xfrm>
            <a:off x="457200" y="609600"/>
            <a:ext cx="8229600" cy="5592763"/>
          </a:xfrm>
        </p:spPr>
        <p:txBody>
          <a:bodyPr vert="horz" wrap="square" lIns="91440" tIns="45720" rIns="91440" bIns="45720" anchor="t" anchorCtr="0"/>
          <a:lstStyle/>
          <a:p>
            <a:pPr eaLnBrk="1" hangingPunct="1">
              <a:lnSpc>
                <a:spcPct val="150000"/>
              </a:lnSpc>
              <a:buNone/>
            </a:pPr>
            <a:r>
              <a:rPr lang="en-US" altLang="zh-CN" sz="2800" b="1" dirty="0">
                <a:latin typeface="Times New Roman" panose="02020603050405020304" pitchFamily="18" charset="0"/>
              </a:rPr>
              <a:t>2.2.1   PLC</a:t>
            </a:r>
            <a:r>
              <a:rPr lang="zh-CN" altLang="en-US" sz="2800" b="1" dirty="0">
                <a:latin typeface="Times New Roman" panose="02020603050405020304" pitchFamily="18" charset="0"/>
              </a:rPr>
              <a:t>的分类</a:t>
            </a:r>
            <a:endParaRPr lang="zh-CN" altLang="en-US" sz="2800" b="1" dirty="0">
              <a:solidFill>
                <a:srgbClr val="FF0000"/>
              </a:solidFill>
              <a:latin typeface="Times New Roman" panose="02020603050405020304" pitchFamily="18" charset="0"/>
            </a:endParaRPr>
          </a:p>
          <a:p>
            <a:pPr eaLnBrk="1" hangingPunct="1">
              <a:lnSpc>
                <a:spcPct val="90000"/>
              </a:lnSpc>
            </a:pPr>
            <a:r>
              <a:rPr lang="en-US" altLang="zh-CN" sz="2800" b="1" dirty="0">
                <a:solidFill>
                  <a:srgbClr val="FF0000"/>
                </a:solidFill>
                <a:latin typeface="Times New Roman" panose="02020603050405020304" pitchFamily="18" charset="0"/>
              </a:rPr>
              <a:t>(1)</a:t>
            </a:r>
            <a:r>
              <a:rPr lang="zh-CN" altLang="en-US" sz="2800" b="1" dirty="0">
                <a:solidFill>
                  <a:srgbClr val="FF0000"/>
                </a:solidFill>
                <a:latin typeface="Times New Roman" panose="02020603050405020304" pitchFamily="18" charset="0"/>
              </a:rPr>
              <a:t>按照结构形式分类</a:t>
            </a:r>
          </a:p>
          <a:p>
            <a:pPr eaLnBrk="1" hangingPunct="1">
              <a:lnSpc>
                <a:spcPct val="90000"/>
              </a:lnSpc>
            </a:pPr>
            <a:r>
              <a:rPr lang="en-US" altLang="zh-CN" sz="2800" b="1" dirty="0">
                <a:solidFill>
                  <a:srgbClr val="FF0000"/>
                </a:solidFill>
                <a:latin typeface="Times New Roman" panose="02020603050405020304" pitchFamily="18" charset="0"/>
              </a:rPr>
              <a:t>1</a:t>
            </a:r>
            <a:r>
              <a:rPr lang="zh-CN" altLang="en-US" sz="2800" b="1" dirty="0">
                <a:solidFill>
                  <a:srgbClr val="FF0000"/>
                </a:solidFill>
                <a:latin typeface="Times New Roman" panose="02020603050405020304" pitchFamily="18" charset="0"/>
              </a:rPr>
              <a:t>）整体式</a:t>
            </a:r>
          </a:p>
          <a:p>
            <a:pPr eaLnBrk="1" hangingPunct="1">
              <a:lnSpc>
                <a:spcPct val="90000"/>
              </a:lnSpc>
              <a:buNone/>
            </a:pPr>
            <a:r>
              <a:rPr lang="zh-CN" altLang="en-US" sz="2800" b="1" dirty="0">
                <a:latin typeface="Times New Roman" panose="02020603050405020304" pitchFamily="18" charset="0"/>
              </a:rPr>
              <a:t>    </a:t>
            </a:r>
            <a:r>
              <a:rPr lang="zh-CN" altLang="en-US" sz="2800" b="1" dirty="0">
                <a:solidFill>
                  <a:srgbClr val="FF0000"/>
                </a:solidFill>
                <a:latin typeface="Times New Roman" panose="02020603050405020304" pitchFamily="18" charset="0"/>
              </a:rPr>
              <a:t>整体式又叫单元式（或箱体式），它将</a:t>
            </a:r>
            <a:r>
              <a:rPr lang="en-US" altLang="zh-CN" sz="2800" b="1" dirty="0">
                <a:solidFill>
                  <a:srgbClr val="FF0000"/>
                </a:solidFill>
                <a:latin typeface="Times New Roman" panose="02020603050405020304" pitchFamily="18" charset="0"/>
              </a:rPr>
              <a:t>PLC</a:t>
            </a:r>
            <a:r>
              <a:rPr lang="zh-CN" altLang="en-US" sz="2800" b="1" dirty="0">
                <a:solidFill>
                  <a:srgbClr val="FF0000"/>
                </a:solidFill>
                <a:latin typeface="Times New Roman" panose="02020603050405020304" pitchFamily="18" charset="0"/>
              </a:rPr>
              <a:t>的</a:t>
            </a:r>
            <a:r>
              <a:rPr lang="en-US" altLang="zh-CN" sz="2800" b="1" dirty="0">
                <a:solidFill>
                  <a:srgbClr val="FF0000"/>
                </a:solidFill>
                <a:latin typeface="Times New Roman" panose="02020603050405020304" pitchFamily="18" charset="0"/>
              </a:rPr>
              <a:t>CPU</a:t>
            </a:r>
            <a:r>
              <a:rPr lang="zh-CN" altLang="en-US" sz="2800" b="1" dirty="0">
                <a:solidFill>
                  <a:srgbClr val="FF0000"/>
                </a:solidFill>
                <a:latin typeface="Times New Roman" panose="02020603050405020304" pitchFamily="18" charset="0"/>
              </a:rPr>
              <a:t>板、输入板、输出板、电源板都集中装在一个箱状机壳内，形成一个整体。</a:t>
            </a:r>
          </a:p>
          <a:p>
            <a:pPr eaLnBrk="1" hangingPunct="1">
              <a:lnSpc>
                <a:spcPct val="90000"/>
              </a:lnSpc>
              <a:buNone/>
            </a:pPr>
            <a:r>
              <a:rPr lang="zh-CN" altLang="en-US" sz="2800" b="1" dirty="0">
                <a:latin typeface="Times New Roman" panose="02020603050405020304" pitchFamily="18" charset="0"/>
              </a:rPr>
              <a:t>    小型</a:t>
            </a:r>
            <a:r>
              <a:rPr lang="en-US" altLang="zh-CN" sz="2800" b="1" dirty="0">
                <a:latin typeface="Times New Roman" panose="02020603050405020304" pitchFamily="18" charset="0"/>
              </a:rPr>
              <a:t>PLC</a:t>
            </a:r>
            <a:r>
              <a:rPr lang="zh-CN" altLang="en-US" sz="2800" b="1" dirty="0">
                <a:latin typeface="Times New Roman" panose="02020603050405020304" pitchFamily="18" charset="0"/>
              </a:rPr>
              <a:t>一般采用整体式结构，例如，三菱</a:t>
            </a:r>
            <a:r>
              <a:rPr lang="en-US" altLang="zh-CN" sz="2800" b="1" dirty="0">
                <a:latin typeface="Times New Roman" panose="02020603050405020304" pitchFamily="18" charset="0"/>
              </a:rPr>
              <a:t>F1</a:t>
            </a:r>
            <a:r>
              <a:rPr lang="zh-CN" altLang="en-US" sz="2800" b="1" dirty="0">
                <a:latin typeface="Times New Roman" panose="02020603050405020304" pitchFamily="18" charset="0"/>
              </a:rPr>
              <a:t>、   </a:t>
            </a:r>
            <a:r>
              <a:rPr lang="en-US" altLang="zh-CN" sz="2800" b="1" dirty="0">
                <a:latin typeface="Times New Roman" panose="02020603050405020304" pitchFamily="18" charset="0"/>
              </a:rPr>
              <a:t>F2</a:t>
            </a:r>
            <a:r>
              <a:rPr lang="zh-CN" altLang="en-US" sz="2800" b="1" dirty="0">
                <a:latin typeface="Times New Roman" panose="02020603050405020304" pitchFamily="18" charset="0"/>
              </a:rPr>
              <a:t>系列小型机</a:t>
            </a:r>
          </a:p>
          <a:p>
            <a:pPr eaLnBrk="1" hangingPunct="1">
              <a:lnSpc>
                <a:spcPct val="90000"/>
              </a:lnSpc>
              <a:buNone/>
            </a:pPr>
            <a:r>
              <a:rPr lang="zh-CN" altLang="en-US" sz="2800" b="1" dirty="0">
                <a:latin typeface="Times New Roman" panose="02020603050405020304" pitchFamily="18" charset="0"/>
              </a:rPr>
              <a:t>     整体式</a:t>
            </a:r>
            <a:r>
              <a:rPr lang="en-US" altLang="zh-CN" sz="2800" b="1" dirty="0">
                <a:latin typeface="Times New Roman" panose="02020603050405020304" pitchFamily="18" charset="0"/>
              </a:rPr>
              <a:t>PLC</a:t>
            </a:r>
            <a:r>
              <a:rPr lang="zh-CN" altLang="en-US" sz="2800" b="1" dirty="0">
                <a:latin typeface="Times New Roman" panose="02020603050405020304" pitchFamily="18" charset="0"/>
              </a:rPr>
              <a:t>由不同输入</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输出（</a:t>
            </a:r>
            <a:r>
              <a:rPr lang="en-US" altLang="zh-CN" sz="2800" b="1" dirty="0">
                <a:latin typeface="Times New Roman" panose="02020603050405020304" pitchFamily="18" charset="0"/>
              </a:rPr>
              <a:t>I/O</a:t>
            </a:r>
            <a:r>
              <a:rPr lang="zh-CN" altLang="en-US" sz="2800" b="1" dirty="0">
                <a:latin typeface="Times New Roman" panose="02020603050405020304" pitchFamily="18" charset="0"/>
              </a:rPr>
              <a:t>）点数的基本单元和扩展单元组成，它们之间</a:t>
            </a:r>
            <a:r>
              <a:rPr lang="zh-CN" altLang="en-US" sz="2800" b="1" dirty="0">
                <a:solidFill>
                  <a:srgbClr val="FF0000"/>
                </a:solidFill>
                <a:latin typeface="Times New Roman" panose="02020603050405020304" pitchFamily="18" charset="0"/>
              </a:rPr>
              <a:t>用扁平电缆连接。</a:t>
            </a:r>
          </a:p>
          <a:p>
            <a:pPr eaLnBrk="1" hangingPunct="1">
              <a:lnSpc>
                <a:spcPct val="90000"/>
              </a:lnSpc>
              <a:buNone/>
            </a:pPr>
            <a:endParaRPr lang="en-US" altLang="zh-CN" sz="2800" b="1" dirty="0">
              <a:solidFill>
                <a:srgbClr val="FF0000"/>
              </a:solidFill>
              <a:latin typeface="Times New Roman" panose="02020603050405020304" pitchFamily="18" charset="0"/>
            </a:endParaRPr>
          </a:p>
        </p:txBody>
      </p:sp>
    </p:spTree>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p:cNvSpPr>
          <p:nvPr>
            <p:ph idx="1"/>
          </p:nvPr>
        </p:nvSpPr>
        <p:spPr>
          <a:xfrm>
            <a:off x="250825" y="0"/>
            <a:ext cx="8229600" cy="3284538"/>
          </a:xfrm>
        </p:spPr>
        <p:txBody>
          <a:bodyPr vert="horz" wrap="square" lIns="91440" tIns="45720" rIns="91440" bIns="45720" anchor="t" anchorCtr="0"/>
          <a:lstStyle/>
          <a:p>
            <a:pPr eaLnBrk="1" hangingPunct="1">
              <a:buNone/>
            </a:pPr>
            <a:endParaRPr lang="en-US" altLang="zh-CN" sz="2800" b="1" dirty="0">
              <a:latin typeface="Times New Roman" panose="02020603050405020304" pitchFamily="18" charset="0"/>
            </a:endParaRPr>
          </a:p>
          <a:p>
            <a:pPr eaLnBrk="1" hangingPunct="1"/>
            <a:r>
              <a:rPr lang="en-US" altLang="zh-CN" sz="2800" b="1" dirty="0">
                <a:solidFill>
                  <a:srgbClr val="FF0000"/>
                </a:solidFill>
                <a:latin typeface="Times New Roman" panose="02020603050405020304" pitchFamily="18" charset="0"/>
              </a:rPr>
              <a:t>2</a:t>
            </a:r>
            <a:r>
              <a:rPr lang="zh-CN" altLang="en-US" sz="2800" b="1" dirty="0">
                <a:solidFill>
                  <a:srgbClr val="FF0000"/>
                </a:solidFill>
                <a:latin typeface="Times New Roman" panose="02020603050405020304" pitchFamily="18" charset="0"/>
              </a:rPr>
              <a:t>）模块式</a:t>
            </a:r>
          </a:p>
          <a:p>
            <a:pPr eaLnBrk="1" hangingPunct="1">
              <a:buNone/>
            </a:pPr>
            <a:r>
              <a:rPr lang="zh-CN" altLang="en-US" sz="2800" b="1" dirty="0">
                <a:latin typeface="Times New Roman" panose="02020603050405020304" pitchFamily="18" charset="0"/>
              </a:rPr>
              <a:t>    </a:t>
            </a:r>
            <a:r>
              <a:rPr lang="zh-CN" altLang="en-US" sz="2800" b="1" dirty="0">
                <a:solidFill>
                  <a:srgbClr val="FF0000"/>
                </a:solidFill>
                <a:latin typeface="Times New Roman" panose="02020603050405020304" pitchFamily="18" charset="0"/>
              </a:rPr>
              <a:t>模块式</a:t>
            </a:r>
            <a:r>
              <a:rPr lang="en-US" altLang="zh-CN" sz="2800" b="1" dirty="0">
                <a:solidFill>
                  <a:srgbClr val="FF0000"/>
                </a:solidFill>
                <a:latin typeface="Times New Roman" panose="02020603050405020304" pitchFamily="18" charset="0"/>
              </a:rPr>
              <a:t>PLC</a:t>
            </a:r>
            <a:r>
              <a:rPr lang="zh-CN" altLang="en-US" sz="2800" b="1" dirty="0">
                <a:solidFill>
                  <a:srgbClr val="FF0000"/>
                </a:solidFill>
                <a:latin typeface="Times New Roman" panose="02020603050405020304" pitchFamily="18" charset="0"/>
              </a:rPr>
              <a:t>将</a:t>
            </a:r>
            <a:r>
              <a:rPr lang="en-US" altLang="zh-CN" sz="2800" b="1" dirty="0">
                <a:solidFill>
                  <a:srgbClr val="FF0000"/>
                </a:solidFill>
                <a:latin typeface="Times New Roman" panose="02020603050405020304" pitchFamily="18" charset="0"/>
              </a:rPr>
              <a:t>CPU</a:t>
            </a:r>
            <a:r>
              <a:rPr lang="zh-CN" altLang="en-US" sz="2800" b="1" dirty="0">
                <a:solidFill>
                  <a:srgbClr val="FF0000"/>
                </a:solidFill>
                <a:latin typeface="Times New Roman" panose="02020603050405020304" pitchFamily="18" charset="0"/>
              </a:rPr>
              <a:t>、输入、输出、电源等各个单元做成独立的、尺寸统一的模块，使用时通过一个机架将它们组合起来，如图</a:t>
            </a:r>
            <a:r>
              <a:rPr lang="en-US" altLang="zh-CN" sz="2800" b="1" dirty="0">
                <a:solidFill>
                  <a:srgbClr val="FF0000"/>
                </a:solidFill>
                <a:latin typeface="Times New Roman" panose="02020603050405020304" pitchFamily="18" charset="0"/>
              </a:rPr>
              <a:t>1.1</a:t>
            </a:r>
            <a:r>
              <a:rPr lang="zh-CN" altLang="en-US" sz="2800" b="1" dirty="0">
                <a:solidFill>
                  <a:srgbClr val="FF0000"/>
                </a:solidFill>
                <a:latin typeface="Times New Roman" panose="02020603050405020304" pitchFamily="18" charset="0"/>
              </a:rPr>
              <a:t>所示。</a:t>
            </a:r>
            <a:r>
              <a:rPr lang="zh-CN" altLang="en-US" sz="2800" b="1" dirty="0">
                <a:latin typeface="Times New Roman" panose="02020603050405020304" pitchFamily="18" charset="0"/>
              </a:rPr>
              <a:t>因此，模块式</a:t>
            </a:r>
            <a:r>
              <a:rPr lang="en-US" altLang="zh-CN" sz="2800" b="1" dirty="0">
                <a:latin typeface="Times New Roman" panose="02020603050405020304" pitchFamily="18" charset="0"/>
              </a:rPr>
              <a:t>PLC</a:t>
            </a:r>
            <a:r>
              <a:rPr lang="zh-CN" altLang="en-US" sz="2800" b="1" dirty="0">
                <a:latin typeface="Times New Roman" panose="02020603050405020304" pitchFamily="18" charset="0"/>
              </a:rPr>
              <a:t>又称为积木式</a:t>
            </a:r>
            <a:r>
              <a:rPr lang="en-US" altLang="zh-CN" sz="2800" b="1" dirty="0">
                <a:latin typeface="Times New Roman" panose="02020603050405020304" pitchFamily="18" charset="0"/>
              </a:rPr>
              <a:t>PLC</a:t>
            </a:r>
            <a:r>
              <a:rPr lang="zh-CN" altLang="en-US" sz="2800" b="1" dirty="0">
                <a:latin typeface="Times New Roman" panose="02020603050405020304" pitchFamily="18" charset="0"/>
              </a:rPr>
              <a:t>。</a:t>
            </a:r>
          </a:p>
          <a:p>
            <a:pPr eaLnBrk="1" hangingPunct="1">
              <a:buNone/>
            </a:pPr>
            <a:endParaRPr lang="en-US" altLang="zh-CN" sz="2800" b="1" dirty="0">
              <a:latin typeface="Times New Roman" panose="02020603050405020304" pitchFamily="18" charset="0"/>
            </a:endParaRPr>
          </a:p>
        </p:txBody>
      </p:sp>
      <p:pic>
        <p:nvPicPr>
          <p:cNvPr id="57346" name="Picture 3" descr="1-01"/>
          <p:cNvPicPr>
            <a:picLocks noChangeAspect="1"/>
          </p:cNvPicPr>
          <p:nvPr/>
        </p:nvPicPr>
        <p:blipFill>
          <a:blip r:embed="rId2"/>
          <a:stretch>
            <a:fillRect/>
          </a:stretch>
        </p:blipFill>
        <p:spPr>
          <a:xfrm>
            <a:off x="1042988" y="2997200"/>
            <a:ext cx="6762750" cy="2673350"/>
          </a:xfrm>
          <a:prstGeom prst="rect">
            <a:avLst/>
          </a:prstGeom>
          <a:noFill/>
          <a:ln w="9525">
            <a:noFill/>
          </a:ln>
        </p:spPr>
      </p:pic>
      <p:sp>
        <p:nvSpPr>
          <p:cNvPr id="57347" name="Rectangle 4"/>
          <p:cNvSpPr/>
          <p:nvPr/>
        </p:nvSpPr>
        <p:spPr>
          <a:xfrm>
            <a:off x="1835150" y="5876925"/>
            <a:ext cx="5570538"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1.1   </a:t>
            </a:r>
            <a:r>
              <a:rPr lang="zh-CN" altLang="en-US" sz="3200" dirty="0">
                <a:latin typeface="Arial" panose="020B0604020202020204" pitchFamily="34" charset="0"/>
                <a:ea typeface="宋体" panose="02010600030101010101" pitchFamily="2" charset="-122"/>
              </a:rPr>
              <a:t>模块式</a:t>
            </a:r>
            <a:r>
              <a:rPr lang="en-US" altLang="zh-CN" sz="3200" dirty="0">
                <a:latin typeface="Arial" panose="020B0604020202020204" pitchFamily="34" charset="0"/>
                <a:ea typeface="宋体" panose="02010600030101010101" pitchFamily="2" charset="-122"/>
              </a:rPr>
              <a:t>PLC</a:t>
            </a:r>
            <a:r>
              <a:rPr lang="zh-CN" altLang="en-US" sz="3200" dirty="0">
                <a:latin typeface="Arial" panose="020B0604020202020204" pitchFamily="34" charset="0"/>
                <a:ea typeface="宋体" panose="02010600030101010101" pitchFamily="2" charset="-122"/>
              </a:rPr>
              <a:t>结构示意图</a:t>
            </a:r>
          </a:p>
        </p:txBody>
      </p:sp>
    </p:spTree>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p:cNvSpPr>
          <p:nvPr>
            <p:ph idx="1"/>
          </p:nvPr>
        </p:nvSpPr>
        <p:spPr>
          <a:xfrm>
            <a:off x="250825" y="476250"/>
            <a:ext cx="8229600" cy="4718050"/>
          </a:xfrm>
        </p:spPr>
        <p:txBody>
          <a:bodyPr vert="horz" wrap="square" lIns="91440" tIns="45720" rIns="91440" bIns="45720" anchor="t" anchorCtr="0"/>
          <a:lstStyle/>
          <a:p>
            <a:pPr eaLnBrk="1" hangingPunct="1">
              <a:lnSpc>
                <a:spcPct val="90000"/>
              </a:lnSpc>
              <a:buNone/>
            </a:pPr>
            <a:endParaRPr lang="en-US" altLang="zh-CN" b="1" dirty="0">
              <a:latin typeface="Times New Roman" panose="02020603050405020304" pitchFamily="18" charset="0"/>
            </a:endParaRPr>
          </a:p>
          <a:p>
            <a:pPr eaLnBrk="1" hangingPunct="1">
              <a:lnSpc>
                <a:spcPct val="90000"/>
              </a:lnSpc>
            </a:pPr>
            <a:r>
              <a:rPr lang="en-US" altLang="zh-CN" b="1" dirty="0">
                <a:solidFill>
                  <a:srgbClr val="FF0000"/>
                </a:solidFill>
                <a:latin typeface="Times New Roman" panose="02020603050405020304" pitchFamily="18" charset="0"/>
              </a:rPr>
              <a:t>(2)</a:t>
            </a:r>
            <a:r>
              <a:rPr lang="zh-CN" altLang="en-US" b="1" dirty="0">
                <a:solidFill>
                  <a:srgbClr val="FF0000"/>
                </a:solidFill>
                <a:latin typeface="Times New Roman" panose="02020603050405020304" pitchFamily="18" charset="0"/>
              </a:rPr>
              <a:t>按照</a:t>
            </a:r>
            <a:r>
              <a:rPr lang="en-US" altLang="zh-CN" b="1" dirty="0">
                <a:solidFill>
                  <a:srgbClr val="FF0000"/>
                </a:solidFill>
                <a:latin typeface="Times New Roman" panose="02020603050405020304" pitchFamily="18" charset="0"/>
              </a:rPr>
              <a:t>I/O</a:t>
            </a:r>
            <a:r>
              <a:rPr lang="zh-CN" altLang="en-US" b="1" dirty="0">
                <a:solidFill>
                  <a:srgbClr val="FF0000"/>
                </a:solidFill>
                <a:latin typeface="Times New Roman" panose="02020603050405020304" pitchFamily="18" charset="0"/>
              </a:rPr>
              <a:t>点数及存储器容量分类</a:t>
            </a:r>
          </a:p>
          <a:p>
            <a:pPr eaLnBrk="1" hangingPunct="1">
              <a:lnSpc>
                <a:spcPct val="90000"/>
              </a:lnSpc>
              <a:buNone/>
            </a:pPr>
            <a:r>
              <a:rPr lang="zh-CN" altLang="en-US" b="1" dirty="0">
                <a:latin typeface="Times New Roman" panose="02020603050405020304" pitchFamily="18" charset="0"/>
              </a:rPr>
              <a:t>   小型</a:t>
            </a:r>
            <a:r>
              <a:rPr lang="en-US" altLang="zh-CN" b="1" dirty="0">
                <a:latin typeface="Times New Roman" panose="02020603050405020304" pitchFamily="18" charset="0"/>
              </a:rPr>
              <a:t>PLC   I/O</a:t>
            </a:r>
            <a:r>
              <a:rPr lang="zh-CN" altLang="en-US" b="1" dirty="0">
                <a:latin typeface="Times New Roman" panose="02020603050405020304" pitchFamily="18" charset="0"/>
              </a:rPr>
              <a:t>点数不超过</a:t>
            </a:r>
            <a:r>
              <a:rPr lang="en-US" altLang="zh-CN" b="1" dirty="0">
                <a:latin typeface="Times New Roman" panose="02020603050405020304" pitchFamily="18" charset="0"/>
              </a:rPr>
              <a:t>128</a:t>
            </a:r>
            <a:r>
              <a:rPr lang="zh-CN" altLang="en-US" b="1" dirty="0">
                <a:latin typeface="Times New Roman" panose="02020603050405020304" pitchFamily="18" charset="0"/>
              </a:rPr>
              <a:t>点，用户存储器容量小于</a:t>
            </a:r>
            <a:r>
              <a:rPr lang="en-US" altLang="zh-CN" b="1" dirty="0">
                <a:latin typeface="Times New Roman" panose="02020603050405020304" pitchFamily="18" charset="0"/>
              </a:rPr>
              <a:t>4K</a:t>
            </a:r>
            <a:r>
              <a:rPr lang="zh-CN" altLang="en-US" b="1" dirty="0">
                <a:latin typeface="Times New Roman" panose="02020603050405020304" pitchFamily="18" charset="0"/>
              </a:rPr>
              <a:t>字节；</a:t>
            </a:r>
          </a:p>
          <a:p>
            <a:pPr eaLnBrk="1" hangingPunct="1">
              <a:lnSpc>
                <a:spcPct val="90000"/>
              </a:lnSpc>
              <a:buNone/>
            </a:pPr>
            <a:r>
              <a:rPr lang="zh-CN" altLang="en-US" b="1" dirty="0">
                <a:latin typeface="Times New Roman" panose="02020603050405020304" pitchFamily="18" charset="0"/>
              </a:rPr>
              <a:t>   中型</a:t>
            </a:r>
            <a:r>
              <a:rPr lang="en-US" altLang="zh-CN" b="1" dirty="0">
                <a:latin typeface="Times New Roman" panose="02020603050405020304" pitchFamily="18" charset="0"/>
              </a:rPr>
              <a:t>PLC  I/O</a:t>
            </a:r>
            <a:r>
              <a:rPr lang="zh-CN" altLang="en-US" b="1" dirty="0">
                <a:latin typeface="Times New Roman" panose="02020603050405020304" pitchFamily="18" charset="0"/>
              </a:rPr>
              <a:t>点数为</a:t>
            </a:r>
            <a:r>
              <a:rPr lang="en-US" altLang="zh-CN" b="1" dirty="0">
                <a:latin typeface="Times New Roman" panose="02020603050405020304" pitchFamily="18" charset="0"/>
              </a:rPr>
              <a:t>129~512</a:t>
            </a:r>
            <a:r>
              <a:rPr lang="zh-CN" altLang="en-US" b="1" dirty="0">
                <a:latin typeface="Times New Roman" panose="02020603050405020304" pitchFamily="18" charset="0"/>
              </a:rPr>
              <a:t>点，用户存储器容量为</a:t>
            </a:r>
            <a:r>
              <a:rPr lang="en-US" altLang="zh-CN" b="1" dirty="0">
                <a:latin typeface="Times New Roman" panose="02020603050405020304" pitchFamily="18" charset="0"/>
              </a:rPr>
              <a:t>4~16K</a:t>
            </a:r>
            <a:r>
              <a:rPr lang="zh-CN" altLang="en-US" b="1" dirty="0">
                <a:latin typeface="Times New Roman" panose="02020603050405020304" pitchFamily="18" charset="0"/>
              </a:rPr>
              <a:t>字节；</a:t>
            </a:r>
          </a:p>
          <a:p>
            <a:pPr eaLnBrk="1" hangingPunct="1">
              <a:lnSpc>
                <a:spcPct val="90000"/>
              </a:lnSpc>
              <a:buNone/>
            </a:pPr>
            <a:r>
              <a:rPr lang="zh-CN" altLang="en-US" b="1" dirty="0">
                <a:latin typeface="Times New Roman" panose="02020603050405020304" pitchFamily="18" charset="0"/>
              </a:rPr>
              <a:t>   大型</a:t>
            </a:r>
            <a:r>
              <a:rPr lang="en-US" altLang="zh-CN" b="1" dirty="0">
                <a:latin typeface="Times New Roman" panose="02020603050405020304" pitchFamily="18" charset="0"/>
              </a:rPr>
              <a:t>PLC  I/O</a:t>
            </a:r>
            <a:r>
              <a:rPr lang="zh-CN" altLang="en-US" b="1" dirty="0">
                <a:latin typeface="Times New Roman" panose="02020603050405020304" pitchFamily="18" charset="0"/>
              </a:rPr>
              <a:t>点数超过</a:t>
            </a:r>
            <a:r>
              <a:rPr lang="en-US" altLang="zh-CN" b="1" dirty="0">
                <a:latin typeface="Times New Roman" panose="02020603050405020304" pitchFamily="18" charset="0"/>
              </a:rPr>
              <a:t>512</a:t>
            </a:r>
            <a:r>
              <a:rPr lang="zh-CN" altLang="en-US" b="1" dirty="0">
                <a:latin typeface="Times New Roman" panose="02020603050405020304" pitchFamily="18" charset="0"/>
              </a:rPr>
              <a:t>点，用户存储器容量大于</a:t>
            </a:r>
            <a:r>
              <a:rPr lang="en-US" altLang="zh-CN" b="1" dirty="0">
                <a:latin typeface="Times New Roman" panose="02020603050405020304" pitchFamily="18" charset="0"/>
              </a:rPr>
              <a:t>16K</a:t>
            </a:r>
            <a:r>
              <a:rPr lang="zh-CN" altLang="en-US" b="1" dirty="0">
                <a:latin typeface="Times New Roman" panose="02020603050405020304" pitchFamily="18" charset="0"/>
              </a:rPr>
              <a:t>字节。</a:t>
            </a:r>
          </a:p>
          <a:p>
            <a:pPr eaLnBrk="1" hangingPunct="1">
              <a:lnSpc>
                <a:spcPct val="90000"/>
              </a:lnSpc>
              <a:buNone/>
            </a:pPr>
            <a:r>
              <a:rPr lang="zh-CN" altLang="en-US" b="1" dirty="0">
                <a:latin typeface="Times New Roman" panose="02020603050405020304" pitchFamily="18" charset="0"/>
              </a:rPr>
              <a:t></a:t>
            </a:r>
          </a:p>
        </p:txBody>
      </p:sp>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idx="1"/>
          </p:nvPr>
        </p:nvSpPr>
        <p:spPr>
          <a:xfrm>
            <a:off x="755650" y="549275"/>
            <a:ext cx="7489825" cy="5472113"/>
          </a:xfrm>
        </p:spPr>
        <p:txBody>
          <a:bodyPr vert="horz" wrap="square" lIns="91440" tIns="45720" rIns="91440" bIns="45720" anchor="t" anchorCtr="0"/>
          <a:lstStyle/>
          <a:p>
            <a:pPr eaLnBrk="1" hangingPunct="1">
              <a:buNone/>
            </a:pPr>
            <a:endParaRPr lang="en-US" altLang="zh-CN" b="1" dirty="0">
              <a:latin typeface="Times New Roman" panose="02020603050405020304" pitchFamily="18" charset="0"/>
            </a:endParaRPr>
          </a:p>
          <a:p>
            <a:pPr eaLnBrk="1" hangingPunct="1">
              <a:buNone/>
            </a:pPr>
            <a:r>
              <a:rPr lang="en-US" altLang="zh-CN" sz="4000" b="1" dirty="0">
                <a:latin typeface="Times New Roman" panose="02020603050405020304" pitchFamily="18" charset="0"/>
              </a:rPr>
              <a:t>2.2.2   PLC</a:t>
            </a:r>
            <a:r>
              <a:rPr lang="zh-CN" altLang="en-US" sz="4000" b="1" dirty="0">
                <a:latin typeface="Times New Roman" panose="02020603050405020304" pitchFamily="18" charset="0"/>
              </a:rPr>
              <a:t>的性能指标</a:t>
            </a:r>
          </a:p>
          <a:p>
            <a:pPr eaLnBrk="1" hangingPunct="1">
              <a:buNone/>
            </a:pPr>
            <a:r>
              <a:rPr lang="zh-CN" altLang="en-US" b="1" dirty="0">
                <a:solidFill>
                  <a:srgbClr val="FF0000"/>
                </a:solidFill>
                <a:latin typeface="Times New Roman" panose="02020603050405020304" pitchFamily="18" charset="0"/>
              </a:rPr>
              <a:t>            </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的性能通常用硬件指标和软件指标来描述。</a:t>
            </a:r>
          </a:p>
          <a:p>
            <a:pPr eaLnBrk="1" hangingPunct="1">
              <a:buNone/>
            </a:pPr>
            <a:r>
              <a:rPr lang="zh-CN" altLang="en-US" b="1" dirty="0">
                <a:latin typeface="Times New Roman" panose="02020603050405020304" pitchFamily="18" charset="0"/>
              </a:rPr>
              <a:t>    硬件指标主要包括环境温度、环境湿度、抗振、抗冲击、抗噪声干扰、耐压、接地要求和使用环境等。</a:t>
            </a:r>
          </a:p>
        </p:txBody>
      </p:sp>
    </p:spTree>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p:cNvSpPr>
          <p:nvPr>
            <p:ph idx="1"/>
          </p:nvPr>
        </p:nvSpPr>
        <p:spPr>
          <a:xfrm>
            <a:off x="755650" y="549275"/>
            <a:ext cx="7920038" cy="5472113"/>
          </a:xfrm>
        </p:spPr>
        <p:txBody>
          <a:bodyPr vert="horz" wrap="square" lIns="91440" tIns="45720" rIns="91440" bIns="45720" anchor="t" anchorCtr="0"/>
          <a:lstStyle/>
          <a:p>
            <a:pPr eaLnBrk="1" hangingPunct="1">
              <a:buNone/>
            </a:pPr>
            <a:endParaRPr lang="en-US" altLang="zh-CN" sz="2800" b="1" dirty="0">
              <a:latin typeface="Times New Roman" panose="02020603050405020304" pitchFamily="18" charset="0"/>
            </a:endParaRPr>
          </a:p>
          <a:p>
            <a:pPr eaLnBrk="1" hangingPunct="1">
              <a:buNone/>
            </a:pPr>
            <a:r>
              <a:rPr lang="en-US" altLang="zh-CN" sz="2800" b="1" dirty="0">
                <a:latin typeface="Times New Roman" panose="02020603050405020304" pitchFamily="18" charset="0"/>
              </a:rPr>
              <a:t>PLC</a:t>
            </a:r>
            <a:r>
              <a:rPr lang="zh-CN" altLang="en-US" sz="2800" b="1" dirty="0">
                <a:latin typeface="Times New Roman" panose="02020603050405020304" pitchFamily="18" charset="0"/>
              </a:rPr>
              <a:t>的软件指标通常用以下几项来描述：</a:t>
            </a:r>
          </a:p>
          <a:p>
            <a:pPr eaLnBrk="1" hangingPunct="1">
              <a:buNone/>
            </a:pPr>
            <a:r>
              <a:rPr lang="en-US" altLang="zh-CN" sz="2800" b="1" dirty="0">
                <a:solidFill>
                  <a:srgbClr val="FF0000"/>
                </a:solidFill>
                <a:latin typeface="Times New Roman" panose="02020603050405020304" pitchFamily="18" charset="0"/>
              </a:rPr>
              <a:t>(1)I/O</a:t>
            </a:r>
            <a:r>
              <a:rPr lang="zh-CN" altLang="en-US" sz="2800" b="1" dirty="0">
                <a:solidFill>
                  <a:srgbClr val="FF0000"/>
                </a:solidFill>
                <a:latin typeface="Times New Roman" panose="02020603050405020304" pitchFamily="18" charset="0"/>
              </a:rPr>
              <a:t>点数</a:t>
            </a:r>
            <a:endParaRPr lang="zh-CN" altLang="en-US" sz="2800" b="1" dirty="0">
              <a:latin typeface="Times New Roman" panose="02020603050405020304" pitchFamily="18" charset="0"/>
            </a:endParaRPr>
          </a:p>
          <a:p>
            <a:pPr eaLnBrk="1" hangingPunct="1">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I/O</a:t>
            </a:r>
            <a:r>
              <a:rPr lang="zh-CN" altLang="en-US" sz="2800" b="1" dirty="0">
                <a:latin typeface="Times New Roman" panose="02020603050405020304" pitchFamily="18" charset="0"/>
              </a:rPr>
              <a:t>点数即输入、输出端子的个数。</a:t>
            </a:r>
            <a:r>
              <a:rPr lang="en-US" altLang="zh-CN" sz="2800" b="1" dirty="0">
                <a:latin typeface="Times New Roman" panose="02020603050405020304" pitchFamily="18" charset="0"/>
              </a:rPr>
              <a:t>PLC</a:t>
            </a:r>
            <a:r>
              <a:rPr lang="zh-CN" altLang="en-US" sz="2800" b="1" dirty="0">
                <a:latin typeface="Times New Roman" panose="02020603050405020304" pitchFamily="18" charset="0"/>
              </a:rPr>
              <a:t>有开关量和模拟量两种输入、输出。</a:t>
            </a:r>
          </a:p>
          <a:p>
            <a:pPr eaLnBrk="1" hangingPunct="1">
              <a:buNone/>
            </a:pPr>
            <a:r>
              <a:rPr lang="zh-CN" altLang="en-US" sz="2800" b="1" dirty="0">
                <a:latin typeface="Times New Roman" panose="02020603050405020304" pitchFamily="18" charset="0"/>
              </a:rPr>
              <a:t>     对开关量</a:t>
            </a:r>
            <a:r>
              <a:rPr lang="en-US" altLang="zh-CN" sz="2800" b="1" dirty="0">
                <a:latin typeface="Times New Roman" panose="02020603050405020304" pitchFamily="18" charset="0"/>
              </a:rPr>
              <a:t>I/O</a:t>
            </a:r>
            <a:r>
              <a:rPr lang="zh-CN" altLang="en-US" sz="2800" b="1" dirty="0">
                <a:latin typeface="Times New Roman" panose="02020603050405020304" pitchFamily="18" charset="0"/>
              </a:rPr>
              <a:t>总数，通常用最大</a:t>
            </a:r>
            <a:r>
              <a:rPr lang="en-US" altLang="zh-CN" sz="2800" b="1" dirty="0">
                <a:latin typeface="Times New Roman" panose="02020603050405020304" pitchFamily="18" charset="0"/>
              </a:rPr>
              <a:t>I/O</a:t>
            </a:r>
            <a:r>
              <a:rPr lang="zh-CN" altLang="en-US" sz="2800" b="1" dirty="0">
                <a:latin typeface="Times New Roman" panose="02020603050405020304" pitchFamily="18" charset="0"/>
              </a:rPr>
              <a:t>点数表示；</a:t>
            </a:r>
          </a:p>
          <a:p>
            <a:pPr eaLnBrk="1" hangingPunct="1">
              <a:buNone/>
            </a:pPr>
            <a:r>
              <a:rPr lang="zh-CN" altLang="en-US" sz="2800" b="1" dirty="0">
                <a:latin typeface="Times New Roman" panose="02020603050405020304" pitchFamily="18" charset="0"/>
              </a:rPr>
              <a:t>     对模拟量</a:t>
            </a:r>
            <a:r>
              <a:rPr lang="en-US" altLang="zh-CN" sz="2800" b="1" dirty="0">
                <a:latin typeface="Times New Roman" panose="02020603050405020304" pitchFamily="18" charset="0"/>
              </a:rPr>
              <a:t>I/O</a:t>
            </a:r>
            <a:r>
              <a:rPr lang="zh-CN" altLang="en-US" sz="2800" b="1" dirty="0">
                <a:latin typeface="Times New Roman" panose="02020603050405020304" pitchFamily="18" charset="0"/>
              </a:rPr>
              <a:t>总数，通常用最大</a:t>
            </a:r>
            <a:r>
              <a:rPr lang="en-US" altLang="zh-CN" sz="2800" b="1" dirty="0">
                <a:latin typeface="Times New Roman" panose="02020603050405020304" pitchFamily="18" charset="0"/>
              </a:rPr>
              <a:t>I/O</a:t>
            </a:r>
            <a:r>
              <a:rPr lang="zh-CN" altLang="en-US" sz="2800" b="1" dirty="0">
                <a:latin typeface="Times New Roman" panose="02020603050405020304" pitchFamily="18" charset="0"/>
              </a:rPr>
              <a:t>通道数表示。</a:t>
            </a:r>
          </a:p>
          <a:p>
            <a:pPr eaLnBrk="1" hangingPunct="1">
              <a:buNone/>
            </a:pPr>
            <a:r>
              <a:rPr lang="zh-CN" altLang="en-US" sz="2800" b="1" dirty="0">
                <a:latin typeface="Times New Roman" panose="02020603050405020304" pitchFamily="18" charset="0"/>
              </a:rPr>
              <a:t>     </a:t>
            </a:r>
            <a:r>
              <a:rPr lang="en-US" altLang="zh-CN" sz="2800" b="1" dirty="0">
                <a:solidFill>
                  <a:srgbClr val="FF0000"/>
                </a:solidFill>
                <a:latin typeface="Times New Roman" panose="02020603050405020304" pitchFamily="18" charset="0"/>
              </a:rPr>
              <a:t>I/O</a:t>
            </a:r>
            <a:r>
              <a:rPr lang="zh-CN" altLang="en-US" sz="2800" b="1" dirty="0">
                <a:solidFill>
                  <a:srgbClr val="FF0000"/>
                </a:solidFill>
                <a:latin typeface="Times New Roman" panose="02020603050405020304" pitchFamily="18" charset="0"/>
              </a:rPr>
              <a:t>点数越多，</a:t>
            </a:r>
            <a:r>
              <a:rPr lang="en-US" altLang="zh-CN" sz="2800" b="1" dirty="0">
                <a:solidFill>
                  <a:srgbClr val="FF0000"/>
                </a:solidFill>
                <a:latin typeface="Times New Roman" panose="02020603050405020304" pitchFamily="18" charset="0"/>
              </a:rPr>
              <a:t>PLC</a:t>
            </a:r>
            <a:r>
              <a:rPr lang="zh-CN" altLang="en-US" sz="2800" b="1" dirty="0">
                <a:solidFill>
                  <a:srgbClr val="FF0000"/>
                </a:solidFill>
                <a:latin typeface="Times New Roman" panose="02020603050405020304" pitchFamily="18" charset="0"/>
              </a:rPr>
              <a:t>可外接的输入、输出器件就越多，控制规模就越大。因此，</a:t>
            </a:r>
            <a:r>
              <a:rPr lang="en-US" altLang="zh-CN" sz="2800" b="1" dirty="0">
                <a:solidFill>
                  <a:srgbClr val="FF0000"/>
                </a:solidFill>
                <a:latin typeface="Times New Roman" panose="02020603050405020304" pitchFamily="18" charset="0"/>
              </a:rPr>
              <a:t>I/O</a:t>
            </a:r>
            <a:r>
              <a:rPr lang="zh-CN" altLang="en-US" sz="2800" b="1" dirty="0">
                <a:solidFill>
                  <a:srgbClr val="FF0000"/>
                </a:solidFill>
                <a:latin typeface="Times New Roman" panose="02020603050405020304" pitchFamily="18" charset="0"/>
              </a:rPr>
              <a:t>点数是衡量</a:t>
            </a:r>
            <a:r>
              <a:rPr lang="en-US" altLang="zh-CN" sz="2800" b="1" dirty="0">
                <a:solidFill>
                  <a:srgbClr val="FF0000"/>
                </a:solidFill>
                <a:latin typeface="Times New Roman" panose="02020603050405020304" pitchFamily="18" charset="0"/>
              </a:rPr>
              <a:t>PLC</a:t>
            </a:r>
            <a:r>
              <a:rPr lang="zh-CN" altLang="en-US" sz="2800" b="1" dirty="0">
                <a:solidFill>
                  <a:srgbClr val="FF0000"/>
                </a:solidFill>
                <a:latin typeface="Times New Roman" panose="02020603050405020304" pitchFamily="18" charset="0"/>
              </a:rPr>
              <a:t>性能的一个重要指标。</a:t>
            </a:r>
          </a:p>
        </p:txBody>
      </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3"/>
          <p:cNvSpPr>
            <a:spLocks noGrp="1"/>
          </p:cNvSpPr>
          <p:nvPr>
            <p:ph idx="1"/>
          </p:nvPr>
        </p:nvSpPr>
        <p:spPr>
          <a:xfrm>
            <a:off x="468313" y="981075"/>
            <a:ext cx="8229600" cy="5592763"/>
          </a:xfrm>
        </p:spPr>
        <p:txBody>
          <a:bodyPr vert="horz" wrap="square" lIns="91440" tIns="45720" rIns="91440" bIns="45720" anchor="t" anchorCtr="0"/>
          <a:lstStyle/>
          <a:p>
            <a:pPr eaLnBrk="1" hangingPunct="1">
              <a:buNone/>
            </a:pPr>
            <a:r>
              <a:rPr lang="en-US" altLang="zh-CN" b="1" dirty="0">
                <a:solidFill>
                  <a:srgbClr val="FF0000"/>
                </a:solidFill>
                <a:latin typeface="Times New Roman" panose="02020603050405020304" pitchFamily="18" charset="0"/>
              </a:rPr>
              <a:t>(2)</a:t>
            </a:r>
            <a:r>
              <a:rPr lang="zh-CN" altLang="en-US" b="1" dirty="0">
                <a:solidFill>
                  <a:srgbClr val="FF0000"/>
                </a:solidFill>
                <a:latin typeface="Times New Roman" panose="02020603050405020304" pitchFamily="18" charset="0"/>
              </a:rPr>
              <a:t>用户程序存储器容量和类型</a:t>
            </a:r>
          </a:p>
          <a:p>
            <a:pPr eaLnBrk="1" hangingPunct="1">
              <a:buNone/>
            </a:pPr>
            <a:r>
              <a:rPr lang="zh-CN" altLang="en-US" b="1" dirty="0">
                <a:latin typeface="Times New Roman" panose="02020603050405020304" pitchFamily="18" charset="0"/>
              </a:rPr>
              <a:t>    用户存储器用来存储用户通过编程器输入的程序。其容量的大小决定了</a:t>
            </a:r>
            <a:r>
              <a:rPr lang="en-US" altLang="zh-CN" b="1" dirty="0">
                <a:latin typeface="Times New Roman" panose="02020603050405020304" pitchFamily="18" charset="0"/>
              </a:rPr>
              <a:t>PLC</a:t>
            </a:r>
            <a:r>
              <a:rPr lang="zh-CN" altLang="en-US" b="1" dirty="0">
                <a:latin typeface="Times New Roman" panose="02020603050405020304" pitchFamily="18" charset="0"/>
              </a:rPr>
              <a:t>可以容纳用户程序的长短，通常以“字”或“步”为单位计算。</a:t>
            </a:r>
            <a:r>
              <a:rPr lang="zh-CN" altLang="en-US" b="1" dirty="0">
                <a:solidFill>
                  <a:srgbClr val="FF0000"/>
                </a:solidFill>
                <a:latin typeface="Times New Roman" panose="02020603050405020304" pitchFamily="18" charset="0"/>
              </a:rPr>
              <a:t>每</a:t>
            </a:r>
            <a:r>
              <a:rPr lang="en-US" altLang="zh-CN" b="1" dirty="0">
                <a:solidFill>
                  <a:srgbClr val="FF0000"/>
                </a:solidFill>
                <a:latin typeface="Times New Roman" panose="02020603050405020304" pitchFamily="18" charset="0"/>
              </a:rPr>
              <a:t>16</a:t>
            </a:r>
            <a:r>
              <a:rPr lang="zh-CN" altLang="en-US" b="1" dirty="0">
                <a:solidFill>
                  <a:srgbClr val="FF0000"/>
                </a:solidFill>
                <a:latin typeface="Times New Roman" panose="02020603050405020304" pitchFamily="18" charset="0"/>
              </a:rPr>
              <a:t>位二进制数为一个字，每</a:t>
            </a:r>
            <a:r>
              <a:rPr lang="en-US" altLang="zh-CN" b="1" dirty="0">
                <a:solidFill>
                  <a:srgbClr val="FF0000"/>
                </a:solidFill>
                <a:latin typeface="Times New Roman" panose="02020603050405020304" pitchFamily="18" charset="0"/>
              </a:rPr>
              <a:t>1024</a:t>
            </a:r>
            <a:r>
              <a:rPr lang="zh-CN" altLang="en-US" b="1" dirty="0">
                <a:solidFill>
                  <a:srgbClr val="FF0000"/>
                </a:solidFill>
                <a:latin typeface="Times New Roman" panose="02020603050405020304" pitchFamily="18" charset="0"/>
              </a:rPr>
              <a:t>个字为</a:t>
            </a:r>
            <a:r>
              <a:rPr lang="en-US" altLang="zh-CN" b="1" dirty="0">
                <a:solidFill>
                  <a:srgbClr val="FF0000"/>
                </a:solidFill>
                <a:latin typeface="Times New Roman" panose="02020603050405020304" pitchFamily="18" charset="0"/>
              </a:rPr>
              <a:t>1K</a:t>
            </a:r>
            <a:r>
              <a:rPr lang="zh-CN" altLang="en-US" b="1" dirty="0">
                <a:solidFill>
                  <a:srgbClr val="FF0000"/>
                </a:solidFill>
                <a:latin typeface="Times New Roman" panose="02020603050405020304" pitchFamily="18" charset="0"/>
              </a:rPr>
              <a:t>字。</a:t>
            </a:r>
            <a:r>
              <a:rPr lang="zh-CN" altLang="en-US" b="1" dirty="0">
                <a:latin typeface="Times New Roman" panose="02020603050405020304" pitchFamily="18" charset="0"/>
              </a:rPr>
              <a:t>比如，</a:t>
            </a:r>
            <a:r>
              <a:rPr lang="en-US" altLang="zh-CN" b="1" dirty="0">
                <a:latin typeface="Times New Roman" panose="02020603050405020304" pitchFamily="18" charset="0"/>
              </a:rPr>
              <a:t>FX2</a:t>
            </a:r>
            <a:r>
              <a:rPr lang="zh-CN" altLang="en-US" b="1" dirty="0">
                <a:latin typeface="Times New Roman" panose="02020603050405020304" pitchFamily="18" charset="0"/>
              </a:rPr>
              <a:t>的存储容量为</a:t>
            </a:r>
            <a:r>
              <a:rPr lang="en-US" altLang="zh-CN" b="1" dirty="0">
                <a:latin typeface="Times New Roman" panose="02020603050405020304" pitchFamily="18" charset="0"/>
              </a:rPr>
              <a:t>2K</a:t>
            </a:r>
            <a:r>
              <a:rPr lang="zh-CN" altLang="en-US" b="1" dirty="0">
                <a:latin typeface="Times New Roman" panose="02020603050405020304" pitchFamily="18" charset="0"/>
              </a:rPr>
              <a:t>步。</a:t>
            </a:r>
          </a:p>
          <a:p>
            <a:pPr eaLnBrk="1" hangingPunct="1">
              <a:buNone/>
            </a:pPr>
            <a:r>
              <a:rPr lang="zh-CN" altLang="en-US" b="1" dirty="0">
                <a:latin typeface="Times New Roman" panose="02020603050405020304" pitchFamily="18" charset="0"/>
              </a:rPr>
              <a:t>   补充：实验室里的三菱</a:t>
            </a:r>
            <a:r>
              <a:rPr lang="en-US" altLang="zh-CN" b="1" dirty="0">
                <a:solidFill>
                  <a:srgbClr val="FF3300"/>
                </a:solidFill>
                <a:latin typeface="Times New Roman" panose="02020603050405020304" pitchFamily="18" charset="0"/>
              </a:rPr>
              <a:t>FX2N</a:t>
            </a:r>
            <a:r>
              <a:rPr lang="zh-CN" altLang="en-US" b="1" dirty="0">
                <a:solidFill>
                  <a:srgbClr val="FF3300"/>
                </a:solidFill>
                <a:latin typeface="Times New Roman" panose="02020603050405020304" pitchFamily="18" charset="0"/>
              </a:rPr>
              <a:t>机型的存储容量为</a:t>
            </a:r>
            <a:r>
              <a:rPr lang="en-US" altLang="zh-CN" b="1" dirty="0">
                <a:solidFill>
                  <a:srgbClr val="FF3300"/>
                </a:solidFill>
                <a:latin typeface="Times New Roman" panose="02020603050405020304" pitchFamily="18" charset="0"/>
              </a:rPr>
              <a:t>8K</a:t>
            </a:r>
            <a:r>
              <a:rPr lang="zh-CN" altLang="en-US" b="1" dirty="0">
                <a:solidFill>
                  <a:srgbClr val="FF3300"/>
                </a:solidFill>
                <a:latin typeface="Times New Roman" panose="02020603050405020304" pitchFamily="18" charset="0"/>
              </a:rPr>
              <a:t>步。</a:t>
            </a:r>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p:cNvSpPr>
          <p:nvPr>
            <p:ph idx="1"/>
          </p:nvPr>
        </p:nvSpPr>
        <p:spPr>
          <a:xfrm>
            <a:off x="457200" y="609600"/>
            <a:ext cx="8229600" cy="5592763"/>
          </a:xfrm>
        </p:spPr>
        <p:txBody>
          <a:bodyPr vert="horz" wrap="square" lIns="91440" tIns="45720" rIns="91440" bIns="45720" anchor="t" anchorCtr="0"/>
          <a:lstStyle/>
          <a:p>
            <a:pPr eaLnBrk="1" hangingPunct="1">
              <a:buNone/>
            </a:pPr>
            <a:r>
              <a:rPr lang="zh-CN" altLang="en-US"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rPr>
              <a:t>3</a:t>
            </a:r>
            <a:r>
              <a:rPr lang="zh-CN" altLang="en-US" b="1" dirty="0">
                <a:solidFill>
                  <a:srgbClr val="FF0000"/>
                </a:solidFill>
                <a:latin typeface="Times New Roman" panose="02020603050405020304" pitchFamily="18" charset="0"/>
              </a:rPr>
              <a:t>）编程语言</a:t>
            </a:r>
          </a:p>
          <a:p>
            <a:pPr eaLnBrk="1" hangingPunct="1">
              <a:buNone/>
            </a:pPr>
            <a:r>
              <a:rPr lang="zh-CN" altLang="en-US" b="1" dirty="0">
                <a:latin typeface="Times New Roman" panose="02020603050405020304" pitchFamily="18" charset="0"/>
              </a:rPr>
              <a:t>   不同机型的</a:t>
            </a:r>
            <a:r>
              <a:rPr lang="en-US" altLang="zh-CN" b="1" dirty="0">
                <a:latin typeface="Times New Roman" panose="02020603050405020304" pitchFamily="18" charset="0"/>
              </a:rPr>
              <a:t>PLC</a:t>
            </a:r>
            <a:r>
              <a:rPr lang="zh-CN" altLang="en-US" b="1" dirty="0">
                <a:latin typeface="Times New Roman" panose="02020603050405020304" pitchFamily="18" charset="0"/>
              </a:rPr>
              <a:t>具有不同的编程语言，</a:t>
            </a:r>
            <a:r>
              <a:rPr lang="zh-CN" altLang="en-US" b="1" dirty="0">
                <a:solidFill>
                  <a:srgbClr val="FF0000"/>
                </a:solidFill>
                <a:latin typeface="Times New Roman" panose="02020603050405020304" pitchFamily="18" charset="0"/>
              </a:rPr>
              <a:t>常用的编程语言有梯形图、指令表、控制系统流程图</a:t>
            </a:r>
            <a:r>
              <a:rPr lang="en-US" altLang="zh-CN" b="1" dirty="0">
                <a:solidFill>
                  <a:srgbClr val="FF0000"/>
                </a:solidFill>
                <a:latin typeface="Times New Roman" panose="02020603050405020304" pitchFamily="18" charset="0"/>
              </a:rPr>
              <a:t>3</a:t>
            </a:r>
            <a:r>
              <a:rPr lang="zh-CN" altLang="en-US" b="1" dirty="0">
                <a:solidFill>
                  <a:srgbClr val="FF0000"/>
                </a:solidFill>
                <a:latin typeface="Times New Roman" panose="02020603050405020304" pitchFamily="18" charset="0"/>
              </a:rPr>
              <a:t>种。</a:t>
            </a:r>
          </a:p>
          <a:p>
            <a:pPr eaLnBrk="1" hangingPunct="1">
              <a:buNone/>
            </a:pPr>
            <a:endParaRPr lang="zh-CN" altLang="en-US" b="1" dirty="0">
              <a:solidFill>
                <a:srgbClr val="FF0000"/>
              </a:solidFill>
              <a:latin typeface="Times New Roman" panose="02020603050405020304" pitchFamily="18" charset="0"/>
            </a:endParaRPr>
          </a:p>
          <a:p>
            <a:pPr eaLnBrk="1" hangingPunct="1">
              <a:buNone/>
            </a:pPr>
            <a:endParaRPr lang="en-US" altLang="zh-CN" b="1" dirty="0">
              <a:solidFill>
                <a:srgbClr val="FF0000"/>
              </a:solidFill>
              <a:latin typeface="Times New Roman" panose="02020603050405020304" pitchFamily="18" charset="0"/>
            </a:endParaRPr>
          </a:p>
        </p:txBody>
      </p:sp>
      <p:pic>
        <p:nvPicPr>
          <p:cNvPr id="62466" name="Picture 5" descr="2-18"/>
          <p:cNvPicPr>
            <a:picLocks noChangeAspect="1"/>
          </p:cNvPicPr>
          <p:nvPr/>
        </p:nvPicPr>
        <p:blipFill>
          <a:blip r:embed="rId2"/>
          <a:stretch>
            <a:fillRect/>
          </a:stretch>
        </p:blipFill>
        <p:spPr>
          <a:xfrm>
            <a:off x="2484438" y="2997200"/>
            <a:ext cx="3600450" cy="2814638"/>
          </a:xfrm>
          <a:prstGeom prst="rect">
            <a:avLst/>
          </a:prstGeom>
          <a:noFill/>
          <a:ln w="9525">
            <a:noFill/>
          </a:ln>
        </p:spPr>
      </p:pic>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p:cNvSpPr>
          <p:nvPr>
            <p:ph idx="1"/>
          </p:nvPr>
        </p:nvSpPr>
        <p:spPr>
          <a:xfrm>
            <a:off x="468313" y="908050"/>
            <a:ext cx="8229600" cy="5592763"/>
          </a:xfrm>
        </p:spPr>
        <p:txBody>
          <a:bodyPr vert="horz" wrap="square" lIns="91440" tIns="45720" rIns="91440" bIns="45720" anchor="t" anchorCtr="0"/>
          <a:lstStyle/>
          <a:p>
            <a:pPr eaLnBrk="1" hangingPunct="1">
              <a:buNone/>
            </a:pPr>
            <a:r>
              <a:rPr lang="zh-CN" altLang="en-US"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rPr>
              <a:t>4</a:t>
            </a:r>
            <a:r>
              <a:rPr lang="zh-CN" altLang="en-US" b="1" dirty="0">
                <a:solidFill>
                  <a:srgbClr val="FF0000"/>
                </a:solidFill>
                <a:latin typeface="Times New Roman" panose="02020603050405020304" pitchFamily="18" charset="0"/>
              </a:rPr>
              <a:t>）指令种类及条数</a:t>
            </a:r>
          </a:p>
          <a:p>
            <a:pPr eaLnBrk="1" hangingPunct="1">
              <a:lnSpc>
                <a:spcPct val="150000"/>
              </a:lnSpc>
              <a:buNone/>
            </a:pPr>
            <a:r>
              <a:rPr lang="zh-CN" altLang="en-US" b="1" dirty="0">
                <a:latin typeface="Times New Roman" panose="02020603050405020304" pitchFamily="18" charset="0"/>
              </a:rPr>
              <a:t>   这是衡量</a:t>
            </a:r>
            <a:r>
              <a:rPr lang="en-US" altLang="zh-CN" b="1" dirty="0">
                <a:latin typeface="Times New Roman" panose="02020603050405020304" pitchFamily="18" charset="0"/>
              </a:rPr>
              <a:t>PLC</a:t>
            </a:r>
            <a:r>
              <a:rPr lang="zh-CN" altLang="en-US" b="1" dirty="0">
                <a:latin typeface="Times New Roman" panose="02020603050405020304" pitchFamily="18" charset="0"/>
              </a:rPr>
              <a:t>编程能力强弱的主要指标。</a:t>
            </a:r>
            <a:r>
              <a:rPr lang="zh-CN" altLang="en-US" b="1" dirty="0">
                <a:solidFill>
                  <a:srgbClr val="FF0000"/>
                </a:solidFill>
                <a:latin typeface="Times New Roman" panose="02020603050405020304" pitchFamily="18" charset="0"/>
              </a:rPr>
              <a:t>一般指令种类及条数越多，其编程功能越强，即处理能力和控制能力越强。</a:t>
            </a:r>
          </a:p>
          <a:p>
            <a:pPr eaLnBrk="1" hangingPunct="1">
              <a:buNone/>
            </a:pPr>
            <a:endParaRPr lang="en-US" altLang="zh-CN" b="1" dirty="0">
              <a:solidFill>
                <a:srgbClr val="FF0000"/>
              </a:solidFill>
              <a:latin typeface="Times New Roman" panose="02020603050405020304" pitchFamily="18" charset="0"/>
            </a:endParaRPr>
          </a:p>
        </p:txBody>
      </p:sp>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p:cNvSpPr>
          <p:nvPr>
            <p:ph idx="1"/>
          </p:nvPr>
        </p:nvSpPr>
        <p:spPr>
          <a:xfrm>
            <a:off x="0" y="620713"/>
            <a:ext cx="8686800" cy="5592762"/>
          </a:xfrm>
        </p:spPr>
        <p:txBody>
          <a:bodyPr vert="horz" wrap="square" lIns="91440" tIns="45720" rIns="91440" bIns="45720" anchor="t" anchorCtr="0"/>
          <a:lstStyle/>
          <a:p>
            <a:pPr eaLnBrk="1" hangingPunct="1">
              <a:buNone/>
            </a:pPr>
            <a:r>
              <a:rPr lang="zh-CN" altLang="en-US"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rPr>
              <a:t>5</a:t>
            </a:r>
            <a:r>
              <a:rPr lang="zh-CN" altLang="en-US" b="1" dirty="0">
                <a:solidFill>
                  <a:srgbClr val="FF0000"/>
                </a:solidFill>
                <a:latin typeface="Times New Roman" panose="02020603050405020304" pitchFamily="18" charset="0"/>
              </a:rPr>
              <a:t>）软元件的种类和数量</a:t>
            </a:r>
          </a:p>
          <a:p>
            <a:pPr eaLnBrk="1" hangingPunct="1">
              <a:buNone/>
            </a:pPr>
            <a:r>
              <a:rPr lang="zh-CN" altLang="en-US" b="1" dirty="0">
                <a:latin typeface="Times New Roman" panose="02020603050405020304" pitchFamily="18" charset="0"/>
              </a:rPr>
              <a:t>   内部软元件（简称元件）指辅助继电器、定时器、计数器、状态、数据寄存器和各种特殊继电器等，其种类和数量越多，同样反应其控制功能越强。</a:t>
            </a:r>
          </a:p>
          <a:p>
            <a:pPr eaLnBrk="1" hangingPunct="1">
              <a:buNone/>
            </a:pPr>
            <a:r>
              <a:rPr lang="zh-CN" altLang="en-US" b="1" dirty="0">
                <a:latin typeface="Times New Roman" panose="02020603050405020304" pitchFamily="18" charset="0"/>
              </a:rPr>
              <a:t>   </a:t>
            </a:r>
            <a:endParaRPr lang="zh-CN" altLang="en-US" b="1" dirty="0">
              <a:solidFill>
                <a:srgbClr val="FF0000"/>
              </a:solidFill>
              <a:latin typeface="Times New Roman" panose="02020603050405020304" pitchFamily="18" charset="0"/>
            </a:endParaRPr>
          </a:p>
          <a:p>
            <a:pPr eaLnBrk="1" hangingPunct="1">
              <a:buNone/>
            </a:pPr>
            <a:endParaRPr lang="en-US" altLang="zh-CN" b="1" dirty="0">
              <a:solidFill>
                <a:srgbClr val="FF0000"/>
              </a:solidFill>
              <a:latin typeface="Times New Roman" panose="02020603050405020304" pitchFamily="18" charset="0"/>
            </a:endParaRPr>
          </a:p>
        </p:txBody>
      </p:sp>
    </p:spTree>
  </p:cSld>
  <p:clrMapOvr>
    <a:masterClrMapping/>
  </p:clrMapOvr>
  <p:transition>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3"/>
          <p:cNvSpPr>
            <a:spLocks noGrp="1"/>
          </p:cNvSpPr>
          <p:nvPr>
            <p:ph idx="1"/>
          </p:nvPr>
        </p:nvSpPr>
        <p:spPr>
          <a:xfrm>
            <a:off x="250825" y="836613"/>
            <a:ext cx="8229600" cy="4103687"/>
          </a:xfrm>
        </p:spPr>
        <p:txBody>
          <a:bodyPr vert="horz" wrap="square" lIns="91440" tIns="45720" rIns="91440" bIns="45720" anchor="t" anchorCtr="0"/>
          <a:lstStyle/>
          <a:p>
            <a:pPr eaLnBrk="1" hangingPunct="1">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sym typeface="宋体" panose="02010600030101010101" pitchFamily="2" charset="-122"/>
              </a:rPr>
              <a:t>在描述</a:t>
            </a:r>
            <a:r>
              <a:rPr lang="en-US" altLang="zh-CN" sz="2400" b="1" dirty="0">
                <a:latin typeface="Times New Roman" panose="02020603050405020304" pitchFamily="18" charset="0"/>
                <a:sym typeface="宋体" panose="02010600030101010101" pitchFamily="2" charset="-122"/>
              </a:rPr>
              <a:t>PLC</a:t>
            </a:r>
            <a:r>
              <a:rPr lang="zh-CN" altLang="en-US" sz="2400" b="1" dirty="0">
                <a:latin typeface="Times New Roman" panose="02020603050405020304" pitchFamily="18" charset="0"/>
                <a:sym typeface="宋体" panose="02010600030101010101" pitchFamily="2" charset="-122"/>
              </a:rPr>
              <a:t>的内部元件时，经常用到以下术语：</a:t>
            </a:r>
            <a:r>
              <a:rPr lang="zh-CN" altLang="en-US" sz="2400" b="1" dirty="0">
                <a:solidFill>
                  <a:srgbClr val="FF0000"/>
                </a:solidFill>
                <a:latin typeface="Times New Roman" panose="02020603050405020304" pitchFamily="18" charset="0"/>
                <a:sym typeface="宋体" panose="02010600030101010101" pitchFamily="2" charset="-122"/>
              </a:rPr>
              <a:t>位（</a:t>
            </a:r>
            <a:r>
              <a:rPr lang="en-US" altLang="zh-CN" sz="2400" b="1" dirty="0">
                <a:solidFill>
                  <a:srgbClr val="FF0000"/>
                </a:solidFill>
                <a:latin typeface="Times New Roman" panose="02020603050405020304" pitchFamily="18" charset="0"/>
                <a:sym typeface="宋体" panose="02010600030101010101" pitchFamily="2" charset="-122"/>
              </a:rPr>
              <a:t>bit</a:t>
            </a:r>
            <a:r>
              <a:rPr lang="zh-CN" altLang="en-US" sz="2400" b="1" dirty="0">
                <a:solidFill>
                  <a:srgbClr val="FF0000"/>
                </a:solidFill>
                <a:latin typeface="Times New Roman" panose="02020603050405020304" pitchFamily="18" charset="0"/>
                <a:sym typeface="宋体" panose="02010600030101010101" pitchFamily="2" charset="-122"/>
              </a:rPr>
              <a:t>）、数字（</a:t>
            </a:r>
            <a:r>
              <a:rPr lang="en-US" altLang="zh-CN" sz="2400" b="1" dirty="0">
                <a:solidFill>
                  <a:srgbClr val="FF0000"/>
                </a:solidFill>
                <a:latin typeface="Times New Roman" panose="02020603050405020304" pitchFamily="18" charset="0"/>
                <a:sym typeface="宋体" panose="02010600030101010101" pitchFamily="2" charset="-122"/>
              </a:rPr>
              <a:t>digit</a:t>
            </a:r>
            <a:r>
              <a:rPr lang="zh-CN" altLang="en-US" sz="2400" b="1" dirty="0">
                <a:solidFill>
                  <a:srgbClr val="FF0000"/>
                </a:solidFill>
                <a:latin typeface="Times New Roman" panose="02020603050405020304" pitchFamily="18" charset="0"/>
                <a:sym typeface="宋体" panose="02010600030101010101" pitchFamily="2" charset="-122"/>
              </a:rPr>
              <a:t>）、字节（</a:t>
            </a:r>
            <a:r>
              <a:rPr lang="en-US" altLang="zh-CN" sz="2400" b="1" dirty="0">
                <a:solidFill>
                  <a:srgbClr val="FF0000"/>
                </a:solidFill>
                <a:latin typeface="Times New Roman" panose="02020603050405020304" pitchFamily="18" charset="0"/>
                <a:sym typeface="宋体" panose="02010600030101010101" pitchFamily="2" charset="-122"/>
              </a:rPr>
              <a:t>byte</a:t>
            </a:r>
            <a:r>
              <a:rPr lang="zh-CN" altLang="en-US" sz="2400" b="1" dirty="0">
                <a:solidFill>
                  <a:srgbClr val="FF0000"/>
                </a:solidFill>
                <a:latin typeface="Times New Roman" panose="02020603050405020304" pitchFamily="18" charset="0"/>
                <a:sym typeface="宋体" panose="02010600030101010101" pitchFamily="2" charset="-122"/>
              </a:rPr>
              <a:t>）及字（</a:t>
            </a:r>
            <a:r>
              <a:rPr lang="en-US" altLang="zh-CN" sz="2400" b="1" dirty="0">
                <a:solidFill>
                  <a:srgbClr val="FF0000"/>
                </a:solidFill>
                <a:latin typeface="Times New Roman" panose="02020603050405020304" pitchFamily="18" charset="0"/>
                <a:sym typeface="宋体" panose="02010600030101010101" pitchFamily="2" charset="-122"/>
              </a:rPr>
              <a:t>word</a:t>
            </a:r>
            <a:r>
              <a:rPr lang="zh-CN" altLang="en-US" sz="2400" b="1" dirty="0">
                <a:solidFill>
                  <a:srgbClr val="FF0000"/>
                </a:solidFill>
                <a:latin typeface="Times New Roman" panose="02020603050405020304" pitchFamily="18" charset="0"/>
                <a:sym typeface="宋体" panose="02010600030101010101" pitchFamily="2" charset="-122"/>
              </a:rPr>
              <a:t>）或通道（</a:t>
            </a:r>
            <a:r>
              <a:rPr lang="en-US" altLang="zh-CN" sz="2400" b="1" dirty="0">
                <a:solidFill>
                  <a:srgbClr val="FF0000"/>
                </a:solidFill>
                <a:latin typeface="Times New Roman" panose="02020603050405020304" pitchFamily="18" charset="0"/>
                <a:sym typeface="宋体" panose="02010600030101010101" pitchFamily="2" charset="-122"/>
              </a:rPr>
              <a:t>channel</a:t>
            </a:r>
            <a:r>
              <a:rPr lang="zh-CN" altLang="en-US" sz="2400" b="1" dirty="0">
                <a:solidFill>
                  <a:srgbClr val="FF0000"/>
                </a:solidFill>
                <a:latin typeface="Times New Roman" panose="02020603050405020304" pitchFamily="18" charset="0"/>
                <a:sym typeface="宋体" panose="02010600030101010101" pitchFamily="2" charset="-122"/>
              </a:rPr>
              <a:t>）。</a:t>
            </a:r>
          </a:p>
          <a:p>
            <a:pPr eaLnBrk="1" hangingPunct="1">
              <a:buNone/>
            </a:pPr>
            <a:r>
              <a:rPr lang="en-US" altLang="zh-CN" sz="2400" b="1" dirty="0">
                <a:latin typeface="Times New Roman" panose="02020603050405020304" pitchFamily="18" charset="0"/>
              </a:rPr>
              <a:t>   </a:t>
            </a:r>
            <a:r>
              <a:rPr lang="zh-CN" altLang="en-US" sz="2400" b="1" dirty="0">
                <a:solidFill>
                  <a:srgbClr val="FF0000"/>
                </a:solidFill>
                <a:latin typeface="Times New Roman" panose="02020603050405020304" pitchFamily="18" charset="0"/>
              </a:rPr>
              <a:t>位是</a:t>
            </a:r>
            <a:r>
              <a:rPr lang="en-US" altLang="zh-CN" sz="2400" b="1" dirty="0">
                <a:solidFill>
                  <a:srgbClr val="FF0000"/>
                </a:solidFill>
                <a:latin typeface="Times New Roman" panose="02020603050405020304" pitchFamily="18" charset="0"/>
              </a:rPr>
              <a:t>1</a:t>
            </a:r>
            <a:r>
              <a:rPr lang="zh-CN" altLang="en-US" sz="2400" b="1" dirty="0">
                <a:solidFill>
                  <a:srgbClr val="FF0000"/>
                </a:solidFill>
                <a:latin typeface="Times New Roman" panose="02020603050405020304" pitchFamily="18" charset="0"/>
              </a:rPr>
              <a:t>位二进制数</a:t>
            </a:r>
            <a:r>
              <a:rPr lang="zh-CN" altLang="en-US" sz="2400" b="1" dirty="0">
                <a:latin typeface="Times New Roman" panose="02020603050405020304" pitchFamily="18" charset="0"/>
              </a:rPr>
              <a:t>，仅取</a:t>
            </a:r>
            <a:r>
              <a:rPr lang="en-US" altLang="zh-CN" sz="2400" b="1" dirty="0">
                <a:latin typeface="Times New Roman" panose="02020603050405020304" pitchFamily="18" charset="0"/>
              </a:rPr>
              <a:t>0</a:t>
            </a:r>
            <a:r>
              <a:rPr lang="zh-CN" altLang="en-US" sz="2400" b="1" dirty="0">
                <a:latin typeface="Times New Roman" panose="02020603050405020304" pitchFamily="18" charset="0"/>
              </a:rPr>
              <a:t>或</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两个值，分别对应继电器线圈失电（</a:t>
            </a:r>
            <a:r>
              <a:rPr lang="en-US" altLang="zh-CN" sz="2400" b="1" dirty="0">
                <a:latin typeface="Times New Roman" panose="02020603050405020304" pitchFamily="18" charset="0"/>
              </a:rPr>
              <a:t>OFF</a:t>
            </a:r>
            <a:r>
              <a:rPr lang="zh-CN" altLang="en-US" sz="2400" b="1" dirty="0">
                <a:latin typeface="Times New Roman" panose="02020603050405020304" pitchFamily="18" charset="0"/>
              </a:rPr>
              <a:t>）或得电（</a:t>
            </a:r>
            <a:r>
              <a:rPr lang="en-US" altLang="zh-CN" sz="2400" b="1" dirty="0">
                <a:latin typeface="Times New Roman" panose="02020603050405020304" pitchFamily="18" charset="0"/>
              </a:rPr>
              <a:t>ON</a:t>
            </a:r>
            <a:r>
              <a:rPr lang="zh-CN" altLang="en-US" sz="2400" b="1" dirty="0">
                <a:latin typeface="Times New Roman" panose="02020603050405020304" pitchFamily="18" charset="0"/>
              </a:rPr>
              <a:t>）及继电器触点的断开（</a:t>
            </a:r>
            <a:r>
              <a:rPr lang="en-US" altLang="zh-CN" sz="2400" b="1" dirty="0">
                <a:latin typeface="Times New Roman" panose="02020603050405020304" pitchFamily="18" charset="0"/>
              </a:rPr>
              <a:t>OFF</a:t>
            </a:r>
            <a:r>
              <a:rPr lang="zh-CN" altLang="en-US" sz="2400" b="1" dirty="0">
                <a:latin typeface="Times New Roman" panose="02020603050405020304" pitchFamily="18" charset="0"/>
              </a:rPr>
              <a:t>）或接通（</a:t>
            </a:r>
            <a:r>
              <a:rPr lang="en-US" altLang="zh-CN" sz="2400" b="1" dirty="0">
                <a:latin typeface="Times New Roman" panose="02020603050405020304" pitchFamily="18" charset="0"/>
              </a:rPr>
              <a:t>ON</a:t>
            </a:r>
            <a:r>
              <a:rPr lang="zh-CN" altLang="en-US" sz="2400" b="1" dirty="0">
                <a:latin typeface="Times New Roman" panose="02020603050405020304" pitchFamily="18" charset="0"/>
              </a:rPr>
              <a:t>）两个状态；</a:t>
            </a:r>
          </a:p>
          <a:p>
            <a:pPr eaLnBrk="1" hangingPunct="1">
              <a:buNone/>
            </a:pPr>
            <a:r>
              <a:rPr lang="zh-CN" altLang="en-US" sz="2400" b="1" dirty="0">
                <a:latin typeface="Times New Roman" panose="02020603050405020304" pitchFamily="18" charset="0"/>
              </a:rPr>
              <a:t>    </a:t>
            </a:r>
            <a:r>
              <a:rPr lang="en-US" altLang="zh-CN" sz="2400" b="1" dirty="0">
                <a:solidFill>
                  <a:srgbClr val="FF0000"/>
                </a:solidFill>
                <a:latin typeface="Times New Roman" panose="02020603050405020304" pitchFamily="18" charset="0"/>
              </a:rPr>
              <a:t>4</a:t>
            </a:r>
            <a:r>
              <a:rPr lang="zh-CN" altLang="en-US" sz="2400" b="1" dirty="0">
                <a:solidFill>
                  <a:srgbClr val="FF0000"/>
                </a:solidFill>
                <a:latin typeface="Times New Roman" panose="02020603050405020304" pitchFamily="18" charset="0"/>
              </a:rPr>
              <a:t>位二进制数构成一个数字</a:t>
            </a:r>
            <a:r>
              <a:rPr lang="zh-CN" altLang="en-US" sz="2400" b="1" dirty="0">
                <a:latin typeface="Times New Roman" panose="02020603050405020304" pitchFamily="18" charset="0"/>
              </a:rPr>
              <a:t>，这个数字可以是</a:t>
            </a:r>
            <a:r>
              <a:rPr lang="en-US" altLang="zh-CN" sz="2400" b="1" dirty="0">
                <a:latin typeface="Times New Roman" panose="02020603050405020304" pitchFamily="18" charset="0"/>
              </a:rPr>
              <a:t>0~9</a:t>
            </a:r>
            <a:r>
              <a:rPr lang="zh-CN" altLang="en-US" sz="2400" b="1" dirty="0">
                <a:latin typeface="Times New Roman" panose="02020603050405020304" pitchFamily="18" charset="0"/>
              </a:rPr>
              <a:t>（用于十进制数的表示），也可以是</a:t>
            </a:r>
            <a:r>
              <a:rPr lang="en-US" altLang="zh-CN" sz="2400" b="1" dirty="0">
                <a:latin typeface="Times New Roman" panose="02020603050405020304" pitchFamily="18" charset="0"/>
              </a:rPr>
              <a:t>0~F</a:t>
            </a:r>
            <a:r>
              <a:rPr lang="zh-CN" altLang="en-US" sz="2400" b="1" dirty="0">
                <a:latin typeface="Times New Roman" panose="02020603050405020304" pitchFamily="18" charset="0"/>
              </a:rPr>
              <a:t>（用于十六进制数的表示）；</a:t>
            </a:r>
          </a:p>
          <a:p>
            <a:pPr eaLnBrk="1" hangingPunct="1">
              <a:buNone/>
            </a:pPr>
            <a:r>
              <a:rPr lang="zh-CN" altLang="en-US" sz="2400" b="1" dirty="0">
                <a:solidFill>
                  <a:srgbClr val="FF0000"/>
                </a:solidFill>
                <a:latin typeface="Times New Roman" panose="02020603050405020304" pitchFamily="18" charset="0"/>
              </a:rPr>
              <a:t>    </a:t>
            </a:r>
            <a:r>
              <a:rPr lang="en-US" altLang="zh-CN" sz="2400" b="1" dirty="0">
                <a:solidFill>
                  <a:srgbClr val="FF0000"/>
                </a:solidFill>
                <a:latin typeface="Times New Roman" panose="02020603050405020304" pitchFamily="18" charset="0"/>
              </a:rPr>
              <a:t>2</a:t>
            </a:r>
            <a:r>
              <a:rPr lang="zh-CN" altLang="en-US" sz="2400" b="1" dirty="0">
                <a:solidFill>
                  <a:srgbClr val="FF0000"/>
                </a:solidFill>
                <a:latin typeface="Times New Roman" panose="02020603050405020304" pitchFamily="18" charset="0"/>
              </a:rPr>
              <a:t>个数字或</a:t>
            </a:r>
            <a:r>
              <a:rPr lang="en-US" altLang="zh-CN" sz="2400" b="1" dirty="0">
                <a:solidFill>
                  <a:srgbClr val="FF0000"/>
                </a:solidFill>
                <a:latin typeface="Times New Roman" panose="02020603050405020304" pitchFamily="18" charset="0"/>
              </a:rPr>
              <a:t>8</a:t>
            </a:r>
            <a:r>
              <a:rPr lang="zh-CN" altLang="en-US" sz="2400" b="1" dirty="0">
                <a:solidFill>
                  <a:srgbClr val="FF0000"/>
                </a:solidFill>
                <a:latin typeface="Times New Roman" panose="02020603050405020304" pitchFamily="18" charset="0"/>
              </a:rPr>
              <a:t>位二进制数构成</a:t>
            </a:r>
            <a:r>
              <a:rPr lang="en-US" altLang="zh-CN" sz="2400" b="1" dirty="0">
                <a:solidFill>
                  <a:srgbClr val="FF0000"/>
                </a:solidFill>
                <a:latin typeface="Times New Roman" panose="02020603050405020304" pitchFamily="18" charset="0"/>
              </a:rPr>
              <a:t>1</a:t>
            </a:r>
            <a:r>
              <a:rPr lang="zh-CN" altLang="en-US" sz="2400" b="1" dirty="0">
                <a:solidFill>
                  <a:srgbClr val="FF0000"/>
                </a:solidFill>
                <a:latin typeface="Times New Roman" panose="02020603050405020304" pitchFamily="18" charset="0"/>
              </a:rPr>
              <a:t>个字节</a:t>
            </a:r>
            <a:r>
              <a:rPr lang="zh-CN" altLang="en-US" sz="2400" b="1" dirty="0">
                <a:latin typeface="Times New Roman" panose="02020603050405020304" pitchFamily="18" charset="0"/>
              </a:rPr>
              <a:t>；</a:t>
            </a:r>
          </a:p>
          <a:p>
            <a:pPr eaLnBrk="1" hangingPunct="1">
              <a:buNone/>
            </a:pPr>
            <a:r>
              <a:rPr lang="zh-CN" altLang="en-US" sz="2400" b="1" dirty="0">
                <a:latin typeface="Times New Roman" panose="02020603050405020304" pitchFamily="18" charset="0"/>
              </a:rPr>
              <a:t>    </a:t>
            </a:r>
            <a:r>
              <a:rPr lang="en-US" altLang="zh-CN" sz="2400" b="1" dirty="0">
                <a:solidFill>
                  <a:srgbClr val="FF0000"/>
                </a:solidFill>
                <a:latin typeface="Times New Roman" panose="02020603050405020304" pitchFamily="18" charset="0"/>
              </a:rPr>
              <a:t>2</a:t>
            </a:r>
            <a:r>
              <a:rPr lang="zh-CN" altLang="en-US" sz="2400" b="1" dirty="0">
                <a:solidFill>
                  <a:srgbClr val="FF0000"/>
                </a:solidFill>
                <a:latin typeface="Times New Roman" panose="02020603050405020304" pitchFamily="18" charset="0"/>
              </a:rPr>
              <a:t>个字节构成</a:t>
            </a:r>
            <a:r>
              <a:rPr lang="en-US" altLang="zh-CN" sz="2400" b="1" dirty="0">
                <a:solidFill>
                  <a:srgbClr val="FF0000"/>
                </a:solidFill>
                <a:latin typeface="Times New Roman" panose="02020603050405020304" pitchFamily="18" charset="0"/>
              </a:rPr>
              <a:t>1</a:t>
            </a:r>
            <a:r>
              <a:rPr lang="zh-CN" altLang="en-US" sz="2400" b="1" dirty="0">
                <a:solidFill>
                  <a:srgbClr val="FF0000"/>
                </a:solidFill>
                <a:latin typeface="Times New Roman" panose="02020603050405020304" pitchFamily="18" charset="0"/>
              </a:rPr>
              <a:t>个字</a:t>
            </a:r>
            <a:r>
              <a:rPr lang="zh-CN" altLang="en-US" sz="2400" b="1" dirty="0">
                <a:latin typeface="Times New Roman" panose="02020603050405020304" pitchFamily="18" charset="0"/>
              </a:rPr>
              <a:t>；</a:t>
            </a:r>
          </a:p>
          <a:p>
            <a:pPr eaLnBrk="1" hangingPunct="1">
              <a:buNone/>
            </a:pPr>
            <a:r>
              <a:rPr lang="zh-CN" altLang="en-US" sz="2400" b="1" dirty="0">
                <a:solidFill>
                  <a:srgbClr val="FF0000"/>
                </a:solidFill>
                <a:latin typeface="Times New Roman" panose="02020603050405020304" pitchFamily="18" charset="0"/>
              </a:rPr>
              <a:t>    </a:t>
            </a:r>
            <a:r>
              <a:rPr lang="en-US" altLang="zh-CN" sz="2400" b="1" dirty="0">
                <a:solidFill>
                  <a:srgbClr val="FF0000"/>
                </a:solidFill>
                <a:latin typeface="Times New Roman" panose="02020603050405020304" pitchFamily="18" charset="0"/>
              </a:rPr>
              <a:t>1</a:t>
            </a:r>
            <a:r>
              <a:rPr lang="zh-CN" altLang="en-US" sz="2400" b="1" dirty="0">
                <a:solidFill>
                  <a:srgbClr val="FF0000"/>
                </a:solidFill>
                <a:latin typeface="Times New Roman" panose="02020603050405020304" pitchFamily="18" charset="0"/>
              </a:rPr>
              <a:t>个字即是</a:t>
            </a:r>
            <a:r>
              <a:rPr lang="en-US" altLang="zh-CN" sz="2400" b="1" dirty="0">
                <a:solidFill>
                  <a:srgbClr val="FF0000"/>
                </a:solidFill>
                <a:latin typeface="Times New Roman" panose="02020603050405020304" pitchFamily="18" charset="0"/>
              </a:rPr>
              <a:t>1</a:t>
            </a:r>
            <a:r>
              <a:rPr lang="zh-CN" altLang="en-US" sz="2400" b="1" dirty="0">
                <a:solidFill>
                  <a:srgbClr val="FF0000"/>
                </a:solidFill>
                <a:latin typeface="Times New Roman" panose="02020603050405020304" pitchFamily="18" charset="0"/>
              </a:rPr>
              <a:t>个通道</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个通道（或</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个字）包含</a:t>
            </a:r>
            <a:r>
              <a:rPr lang="en-US" altLang="zh-CN" sz="2400" b="1" dirty="0">
                <a:latin typeface="Times New Roman" panose="02020603050405020304" pitchFamily="18" charset="0"/>
              </a:rPr>
              <a:t>16</a:t>
            </a:r>
            <a:r>
              <a:rPr lang="zh-CN" altLang="en-US" sz="2400" b="1" dirty="0">
                <a:latin typeface="Times New Roman" panose="02020603050405020304" pitchFamily="18" charset="0"/>
              </a:rPr>
              <a:t>个二进制位，或者说包含</a:t>
            </a:r>
            <a:r>
              <a:rPr lang="en-US" altLang="zh-CN" sz="2400" b="1" dirty="0">
                <a:latin typeface="Times New Roman" panose="02020603050405020304" pitchFamily="18" charset="0"/>
              </a:rPr>
              <a:t>16</a:t>
            </a:r>
            <a:r>
              <a:rPr lang="zh-CN" altLang="en-US" sz="2400" b="1" dirty="0">
                <a:latin typeface="Times New Roman" panose="02020603050405020304" pitchFamily="18" charset="0"/>
              </a:rPr>
              <a:t>个继电器。</a:t>
            </a:r>
          </a:p>
        </p:txBody>
      </p:sp>
    </p:spTree>
  </p:cSld>
  <p:clrMapOvr>
    <a:masterClrMapping/>
  </p:clrMapOvr>
  <p:transition>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p:cNvSpPr>
          <p:nvPr>
            <p:ph idx="1"/>
          </p:nvPr>
        </p:nvSpPr>
        <p:spPr>
          <a:xfrm>
            <a:off x="457200" y="609600"/>
            <a:ext cx="8229600" cy="5592763"/>
          </a:xfrm>
        </p:spPr>
        <p:txBody>
          <a:bodyPr vert="horz" wrap="square" lIns="91440" tIns="45720" rIns="91440" bIns="45720" anchor="t" anchorCtr="0"/>
          <a:lstStyle/>
          <a:p>
            <a:pPr eaLnBrk="1" hangingPunct="1">
              <a:buNone/>
            </a:pPr>
            <a:r>
              <a:rPr lang="zh-CN" altLang="en-US" b="1" dirty="0">
                <a:solidFill>
                  <a:srgbClr val="FF0000"/>
                </a:solidFill>
              </a:rPr>
              <a:t>（</a:t>
            </a:r>
            <a:r>
              <a:rPr lang="en-US" altLang="zh-CN" b="1" dirty="0">
                <a:solidFill>
                  <a:srgbClr val="FF0000"/>
                </a:solidFill>
              </a:rPr>
              <a:t>6</a:t>
            </a:r>
            <a:r>
              <a:rPr lang="zh-CN" altLang="en-US" b="1" dirty="0">
                <a:solidFill>
                  <a:srgbClr val="FF0000"/>
                </a:solidFill>
              </a:rPr>
              <a:t>）扫描速度</a:t>
            </a:r>
          </a:p>
          <a:p>
            <a:pPr eaLnBrk="1" hangingPunct="1">
              <a:buNone/>
            </a:pPr>
            <a:r>
              <a:rPr lang="zh-CN" altLang="en-US" b="1" dirty="0"/>
              <a:t>   </a:t>
            </a:r>
            <a:r>
              <a:rPr lang="zh-CN" altLang="en-US" b="1" dirty="0">
                <a:solidFill>
                  <a:srgbClr val="FF0000"/>
                </a:solidFill>
              </a:rPr>
              <a:t>扫描速度是指</a:t>
            </a:r>
            <a:r>
              <a:rPr lang="en-US" altLang="zh-CN" b="1" dirty="0">
                <a:solidFill>
                  <a:srgbClr val="FF0000"/>
                </a:solidFill>
              </a:rPr>
              <a:t>PLC</a:t>
            </a:r>
            <a:r>
              <a:rPr lang="zh-CN" altLang="en-US" b="1" dirty="0">
                <a:solidFill>
                  <a:srgbClr val="FF0000"/>
                </a:solidFill>
              </a:rPr>
              <a:t>执行程序的速度，是衡量</a:t>
            </a:r>
            <a:r>
              <a:rPr lang="en-US" altLang="zh-CN" b="1" dirty="0">
                <a:solidFill>
                  <a:srgbClr val="FF0000"/>
                </a:solidFill>
              </a:rPr>
              <a:t>PLC</a:t>
            </a:r>
            <a:r>
              <a:rPr lang="zh-CN" altLang="en-US" b="1" dirty="0">
                <a:solidFill>
                  <a:srgbClr val="FF0000"/>
                </a:solidFill>
              </a:rPr>
              <a:t>控制速度的重要指标，以“</a:t>
            </a:r>
            <a:r>
              <a:rPr lang="en-US" altLang="zh-CN" b="1" dirty="0">
                <a:solidFill>
                  <a:srgbClr val="FF0000"/>
                </a:solidFill>
              </a:rPr>
              <a:t>ms/K</a:t>
            </a:r>
            <a:r>
              <a:rPr lang="zh-CN" altLang="en-US" b="1" dirty="0">
                <a:solidFill>
                  <a:srgbClr val="FF0000"/>
                </a:solidFill>
              </a:rPr>
              <a:t>字”或“</a:t>
            </a:r>
            <a:r>
              <a:rPr lang="en-US" altLang="zh-CN" b="1" dirty="0">
                <a:solidFill>
                  <a:srgbClr val="FF0000"/>
                </a:solidFill>
              </a:rPr>
              <a:t>us/</a:t>
            </a:r>
            <a:r>
              <a:rPr lang="zh-CN" altLang="en-US" b="1" dirty="0">
                <a:solidFill>
                  <a:srgbClr val="FF0000"/>
                </a:solidFill>
              </a:rPr>
              <a:t>步”表示。</a:t>
            </a:r>
            <a:r>
              <a:rPr lang="zh-CN" altLang="en-US" b="1" dirty="0"/>
              <a:t>例如，“</a:t>
            </a:r>
            <a:r>
              <a:rPr lang="en-US" altLang="zh-CN" b="1" dirty="0"/>
              <a:t>20ms/K</a:t>
            </a:r>
            <a:r>
              <a:rPr lang="zh-CN" altLang="en-US" b="1" dirty="0"/>
              <a:t>字”，“</a:t>
            </a:r>
            <a:r>
              <a:rPr lang="en-US" altLang="zh-CN" b="1" dirty="0"/>
              <a:t>0.74us/</a:t>
            </a:r>
            <a:r>
              <a:rPr lang="zh-CN" altLang="en-US" b="1" dirty="0"/>
              <a:t>步”。</a:t>
            </a:r>
          </a:p>
          <a:p>
            <a:pPr eaLnBrk="1" hangingPunct="1">
              <a:buNone/>
            </a:pPr>
            <a:r>
              <a:rPr lang="zh-CN" altLang="en-US" b="1" dirty="0">
                <a:solidFill>
                  <a:srgbClr val="FF0000"/>
                </a:solidFill>
              </a:rPr>
              <a:t>（</a:t>
            </a:r>
            <a:r>
              <a:rPr lang="en-US" altLang="zh-CN" b="1" dirty="0">
                <a:solidFill>
                  <a:srgbClr val="FF0000"/>
                </a:solidFill>
              </a:rPr>
              <a:t>7</a:t>
            </a:r>
            <a:r>
              <a:rPr lang="zh-CN" altLang="en-US" b="1" dirty="0">
                <a:solidFill>
                  <a:srgbClr val="FF0000"/>
                </a:solidFill>
              </a:rPr>
              <a:t>）其他指标</a:t>
            </a:r>
          </a:p>
          <a:p>
            <a:pPr eaLnBrk="1" hangingPunct="1">
              <a:buNone/>
            </a:pPr>
            <a:r>
              <a:rPr lang="zh-CN" altLang="en-US" b="1" dirty="0"/>
              <a:t>   如</a:t>
            </a:r>
            <a:r>
              <a:rPr lang="en-US" altLang="zh-CN" b="1" dirty="0"/>
              <a:t>PLC</a:t>
            </a:r>
            <a:r>
              <a:rPr lang="zh-CN" altLang="en-US" b="1" dirty="0"/>
              <a:t>的运行方式、输入</a:t>
            </a:r>
            <a:r>
              <a:rPr lang="en-US" altLang="zh-CN" b="1" dirty="0"/>
              <a:t>/</a:t>
            </a:r>
            <a:r>
              <a:rPr lang="zh-CN" altLang="en-US" b="1" dirty="0"/>
              <a:t>输出方式、自诊断功能、通信联网功能、远程监控等。</a:t>
            </a:r>
          </a:p>
        </p:txBody>
      </p:sp>
    </p:spTree>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文本框 2"/>
          <p:cNvSpPr txBox="1"/>
          <p:nvPr>
            <p:custDataLst>
              <p:tags r:id="rId2"/>
            </p:custDataLst>
          </p:nvPr>
        </p:nvSpPr>
        <p:spPr>
          <a:xfrm>
            <a:off x="914400" y="635000"/>
            <a:ext cx="7315200" cy="2143125"/>
          </a:xfrm>
          <a:prstGeom prst="rect">
            <a:avLst/>
          </a:prstGeom>
          <a:noFill/>
          <a:ln w="9525">
            <a:noFill/>
          </a:ln>
        </p:spPr>
        <p:txBody>
          <a:bodyPr anchor="ctr" anchorCtr="0"/>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PLC</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的性能指标中最重要的是？</a:t>
            </a:r>
          </a:p>
        </p:txBody>
      </p:sp>
      <p:sp>
        <p:nvSpPr>
          <p:cNvPr id="67586" name="文本框 3"/>
          <p:cNvSpPr txBox="1"/>
          <p:nvPr>
            <p:custDataLst>
              <p:tags r:id="rId3"/>
            </p:custDataLst>
          </p:nvPr>
        </p:nvSpPr>
        <p:spPr>
          <a:xfrm>
            <a:off x="1828800" y="2786063"/>
            <a:ext cx="6400800" cy="642937"/>
          </a:xfrm>
          <a:prstGeom prst="rect">
            <a:avLst/>
          </a:prstGeom>
          <a:noFill/>
          <a:ln w="9525">
            <a:noFill/>
          </a:ln>
        </p:spPr>
        <p:txBody>
          <a:bodyPr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扫描速度</a:t>
            </a:r>
          </a:p>
        </p:txBody>
      </p:sp>
      <p:sp>
        <p:nvSpPr>
          <p:cNvPr id="67587" name="文本框 4"/>
          <p:cNvSpPr txBox="1"/>
          <p:nvPr>
            <p:custDataLst>
              <p:tags r:id="rId4"/>
            </p:custDataLst>
          </p:nvPr>
        </p:nvSpPr>
        <p:spPr>
          <a:xfrm>
            <a:off x="1828800" y="3643313"/>
            <a:ext cx="6400800" cy="642937"/>
          </a:xfrm>
          <a:prstGeom prst="rect">
            <a:avLst/>
          </a:prstGeom>
          <a:noFill/>
          <a:ln w="9525">
            <a:noFill/>
          </a:ln>
        </p:spPr>
        <p:txBody>
          <a:bodyPr anchor="ctr" anchorCtr="0"/>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I/O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端口数</a:t>
            </a:r>
          </a:p>
        </p:txBody>
      </p:sp>
      <p:sp>
        <p:nvSpPr>
          <p:cNvPr id="67588" name="文本框 5"/>
          <p:cNvSpPr txBox="1"/>
          <p:nvPr>
            <p:custDataLst>
              <p:tags r:id="rId5"/>
            </p:custDataLst>
          </p:nvPr>
        </p:nvSpPr>
        <p:spPr>
          <a:xfrm>
            <a:off x="1828800" y="4500563"/>
            <a:ext cx="6400800" cy="642937"/>
          </a:xfrm>
          <a:prstGeom prst="rect">
            <a:avLst/>
          </a:prstGeom>
          <a:noFill/>
          <a:ln w="9525">
            <a:noFill/>
          </a:ln>
        </p:spPr>
        <p:txBody>
          <a:bodyPr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编程语言</a:t>
            </a:r>
          </a:p>
        </p:txBody>
      </p:sp>
      <p:sp>
        <p:nvSpPr>
          <p:cNvPr id="67589" name="文本框 6"/>
          <p:cNvSpPr txBox="1"/>
          <p:nvPr>
            <p:custDataLst>
              <p:tags r:id="rId6"/>
            </p:custDataLst>
          </p:nvPr>
        </p:nvSpPr>
        <p:spPr>
          <a:xfrm>
            <a:off x="1828800" y="5357813"/>
            <a:ext cx="6400800" cy="642937"/>
          </a:xfrm>
          <a:prstGeom prst="rect">
            <a:avLst/>
          </a:prstGeom>
          <a:noFill/>
          <a:ln w="9525">
            <a:noFill/>
          </a:ln>
        </p:spPr>
        <p:txBody>
          <a:bodyPr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用户程序存储器容量和类型</a:t>
            </a:r>
          </a:p>
        </p:txBody>
      </p:sp>
      <p:sp>
        <p:nvSpPr>
          <p:cNvPr id="8" name="椭圆 7"/>
          <p:cNvSpPr>
            <a:spLocks noChangeAspect="1"/>
          </p:cNvSpPr>
          <p:nvPr>
            <p:custDataLst>
              <p:tags r:id="rId7"/>
            </p:custDataLst>
          </p:nvPr>
        </p:nvSpPr>
        <p:spPr>
          <a:xfrm>
            <a:off x="1114425" y="2849563"/>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椭圆 8"/>
          <p:cNvSpPr>
            <a:spLocks noChangeAspect="1"/>
          </p:cNvSpPr>
          <p:nvPr>
            <p:custDataLst>
              <p:tags r:id="rId8"/>
            </p:custDataLst>
          </p:nvPr>
        </p:nvSpPr>
        <p:spPr>
          <a:xfrm>
            <a:off x="1114425" y="3706813"/>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0" name="椭圆 9"/>
          <p:cNvSpPr>
            <a:spLocks noChangeAspect="1"/>
          </p:cNvSpPr>
          <p:nvPr>
            <p:custDataLst>
              <p:tags r:id="rId9"/>
            </p:custDataLst>
          </p:nvPr>
        </p:nvSpPr>
        <p:spPr>
          <a:xfrm>
            <a:off x="1114425" y="4564063"/>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椭圆 10"/>
          <p:cNvSpPr>
            <a:spLocks noChangeAspect="1"/>
          </p:cNvSpPr>
          <p:nvPr>
            <p:custDataLst>
              <p:tags r:id="rId10"/>
            </p:custDataLst>
          </p:nvPr>
        </p:nvSpPr>
        <p:spPr>
          <a:xfrm>
            <a:off x="1114425" y="5421313"/>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圆角矩形 11"/>
          <p:cNvSpPr/>
          <p:nvPr>
            <p:custDataLst>
              <p:tags r:id="rId11"/>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提交</a:t>
            </a:r>
          </a:p>
        </p:txBody>
      </p:sp>
      <p:grpSp>
        <p:nvGrpSpPr>
          <p:cNvPr id="67595" name="组合 16"/>
          <p:cNvGrpSpPr/>
          <p:nvPr/>
        </p:nvGrpSpPr>
        <p:grpSpPr>
          <a:xfrm>
            <a:off x="0" y="0"/>
            <a:ext cx="9144000" cy="635000"/>
            <a:chOff x="0" y="0"/>
            <a:chExt cx="9144000" cy="635000"/>
          </a:xfrm>
        </p:grpSpPr>
        <p:sp>
          <p:nvSpPr>
            <p:cNvPr id="13" name="TitleBackground"/>
            <p:cNvSpPr/>
            <p:nvPr>
              <p:custDataLst>
                <p:tags r:id="rId13"/>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ColorBlock"/>
            <p:cNvSpPr/>
            <p:nvPr>
              <p:custDataLst>
                <p:tags r:id="rId14"/>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7598" name="TypeText"/>
            <p:cNvSpPr txBox="1"/>
            <p:nvPr>
              <p:custDataLst>
                <p:tags r:id="rId15"/>
              </p:custDataLst>
            </p:nvPr>
          </p:nvSpPr>
          <p:spPr>
            <a:xfrm>
              <a:off x="254000" y="0"/>
              <a:ext cx="1905000" cy="635000"/>
            </a:xfrm>
            <a:prstGeom prst="rect">
              <a:avLst/>
            </a:prstGeom>
            <a:noFill/>
            <a:ln w="9525">
              <a:noFill/>
            </a:ln>
          </p:spPr>
          <p:txBody>
            <a:bodyPr wrap="none"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67599" name="TipText"/>
            <p:cNvSpPr txBox="1"/>
            <p:nvPr>
              <p:custDataLst>
                <p:tags r:id="rId16"/>
              </p:custDataLst>
            </p:nvPr>
          </p:nvSpPr>
          <p:spPr>
            <a:xfrm>
              <a:off x="1427480" y="109220"/>
              <a:ext cx="2286000" cy="508000"/>
            </a:xfrm>
            <a:prstGeom prst="rect">
              <a:avLst/>
            </a:prstGeom>
            <a:noFill/>
            <a:ln w="9525">
              <a:noFill/>
            </a:ln>
          </p:spPr>
          <p:txBody>
            <a:bodyPr wrap="none" anchor="ctr" anchorCtr="0"/>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7600" name="图片 1"/>
          <p:cNvPicPr/>
          <p:nvPr>
            <p:custDataLst>
              <p:tags r:id="rId12"/>
            </p:custDataLst>
          </p:nvPr>
        </p:nvPicPr>
        <p:blipFill>
          <a:blip r:embed="rId18"/>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755650" y="1844675"/>
            <a:ext cx="73152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用户程序存储在 </a:t>
            </a:r>
            <a:r>
              <a:rPr lang="zh-CN" altLang="en-US" sz="2600">
                <a:solidFill>
                  <a:srgbClr val="639EF4"/>
                </a:solidFill>
                <a:latin typeface="微软雅黑" panose="020B0503020204020204" pitchFamily="34" charset="-122"/>
                <a:ea typeface="微软雅黑" panose="020B0503020204020204" pitchFamily="34" charset="-122"/>
              </a:rPr>
              <a:t>[填空1]</a:t>
            </a:r>
            <a:r>
              <a:rPr lang="zh-CN" altLang="en-US" sz="2600">
                <a:solidFill>
                  <a:srgbClr val="000000"/>
                </a:solidFill>
                <a:latin typeface="微软雅黑" panose="020B0503020204020204" pitchFamily="34" charset="-122"/>
                <a:ea typeface="微软雅黑" panose="020B0503020204020204" pitchFamily="34" charset="-122"/>
              </a:rPr>
              <a:t> 中，梯形图程序存储在 </a:t>
            </a:r>
            <a:r>
              <a:rPr lang="zh-CN" altLang="en-US" sz="2600">
                <a:solidFill>
                  <a:srgbClr val="639EF4"/>
                </a:solidFill>
                <a:latin typeface="微软雅黑" panose="020B0503020204020204" pitchFamily="34" charset="-122"/>
                <a:ea typeface="微软雅黑" panose="020B0503020204020204" pitchFamily="34" charset="-122"/>
              </a:rPr>
              <a:t>[填空2]</a:t>
            </a:r>
            <a:r>
              <a:rPr lang="zh-CN" altLang="en-US" sz="2600">
                <a:solidFill>
                  <a:srgbClr val="000000"/>
                </a:solidFill>
                <a:latin typeface="微软雅黑" panose="020B0503020204020204" pitchFamily="34" charset="-122"/>
                <a:ea typeface="微软雅黑" panose="020B0503020204020204" pitchFamily="34" charset="-122"/>
              </a:rPr>
              <a:t> 中。（写存储器的英文简写）</a:t>
            </a:r>
            <a:endParaRPr lang="en-US" altLang="zh-CN" sz="2600">
              <a:solidFill>
                <a:srgbClr val="000000"/>
              </a:solidFill>
              <a:latin typeface="微软雅黑" panose="020B0503020204020204" pitchFamily="34" charset="-122"/>
              <a:ea typeface="微软雅黑" panose="020B0503020204020204" pitchFamily="34" charset="-122"/>
            </a:endParaRPr>
          </a:p>
        </p:txBody>
      </p:sp>
      <p:sp>
        <p:nvSpPr>
          <p:cNvPr id="4" name="圆角矩形 3"/>
          <p:cNvSpPr/>
          <p:nvPr>
            <p:custDataLst>
              <p:tags r:id="rId3"/>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作答</a:t>
            </a:r>
          </a:p>
        </p:txBody>
      </p:sp>
      <p:sp>
        <p:nvSpPr>
          <p:cNvPr id="10" name="矩形 9"/>
          <p:cNvSpPr/>
          <p:nvPr>
            <p:custDataLst>
              <p:tags r:id="rId4"/>
            </p:custDataLst>
          </p:nvPr>
        </p:nvSpPr>
        <p:spPr>
          <a:xfrm>
            <a:off x="0" y="5848985"/>
            <a:ext cx="9144000" cy="365760"/>
          </a:xfrm>
          <a:prstGeom prst="rect">
            <a:avLst/>
          </a:prstGeom>
          <a:solidFill>
            <a:srgbClr val="FBFAEF"/>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noAutofit/>
          </a:bodyPr>
          <a:lstStyle/>
          <a:p>
            <a:pPr lvl="0" algn="l">
              <a:buNone/>
            </a:pPr>
            <a:r>
              <a:rPr lang="zh-CN" altLang="en-US" sz="1200">
                <a:solidFill>
                  <a:srgbClr val="F84F41"/>
                </a:solidFill>
                <a:latin typeface="微软雅黑" panose="020B0503020204020204" pitchFamily="34" charset="-122"/>
                <a:ea typeface="微软雅黑" panose="020B0503020204020204" pitchFamily="34" charset="-122"/>
                <a:cs typeface="微软雅黑" panose="020B0503020204020204" pitchFamily="34" charset="-122"/>
              </a:rPr>
              <a:t>正常使用填空题需3.0以上版本雨课堂</a:t>
            </a:r>
          </a:p>
        </p:txBody>
      </p:sp>
      <p:grpSp>
        <p:nvGrpSpPr>
          <p:cNvPr id="9" name="组合 8"/>
          <p:cNvGrpSpPr/>
          <p:nvPr>
            <p:custDataLst>
              <p:tags r:id="rId5"/>
            </p:custDataLst>
          </p:nvPr>
        </p:nvGrpSpPr>
        <p:grpSpPr>
          <a:xfrm>
            <a:off x="0" y="0"/>
            <a:ext cx="9144000" cy="635000"/>
            <a:chOff x="0" y="0"/>
            <a:chExt cx="14400" cy="1000"/>
          </a:xfrm>
        </p:grpSpPr>
        <p:sp>
          <p:nvSpPr>
            <p:cNvPr id="5" name="TitleBackground"/>
            <p:cNvSpPr/>
            <p:nvPr>
              <p:custDataLst>
                <p:tags r:id="rId7"/>
              </p:custDataLst>
            </p:nvPr>
          </p:nvSpPr>
          <p:spPr>
            <a:xfrm>
              <a:off x="0" y="0"/>
              <a:ext cx="1440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8"/>
              </p:custDataLst>
            </p:nvPr>
          </p:nvSpPr>
          <p:spPr>
            <a:xfrm>
              <a:off x="0" y="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9"/>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填空题</a:t>
              </a:r>
            </a:p>
          </p:txBody>
        </p:sp>
        <p:sp>
          <p:nvSpPr>
            <p:cNvPr id="8" name="TipText"/>
            <p:cNvSpPr txBox="1"/>
            <p:nvPr>
              <p:custDataLst>
                <p:tags r:id="rId10"/>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p>
          </p:txBody>
        </p:sp>
      </p:grpSp>
      <p:pic>
        <p:nvPicPr>
          <p:cNvPr id="2" name="图片 1" descr="tmp4412"/>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p:cNvSpPr>
          <p:nvPr>
            <p:ph idx="1"/>
          </p:nvPr>
        </p:nvSpPr>
        <p:spPr>
          <a:xfrm>
            <a:off x="457200" y="457200"/>
            <a:ext cx="8229600" cy="59436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§2.3   </a:t>
            </a:r>
            <a:r>
              <a:rPr lang="zh-CN" altLang="en-US" b="1" dirty="0">
                <a:latin typeface="Times New Roman" panose="02020603050405020304" pitchFamily="18" charset="0"/>
              </a:rPr>
              <a:t>可编程序控制器的工作原理</a:t>
            </a:r>
          </a:p>
          <a:p>
            <a:pPr eaLnBrk="1" hangingPunct="1">
              <a:buNone/>
            </a:pPr>
            <a:r>
              <a:rPr lang="en-US" altLang="zh-CN" b="1" dirty="0">
                <a:latin typeface="Times New Roman" panose="02020603050405020304" pitchFamily="18" charset="0"/>
              </a:rPr>
              <a:t>2.3.1   PLC</a:t>
            </a:r>
            <a:r>
              <a:rPr lang="zh-CN" altLang="en-US" b="1" dirty="0">
                <a:latin typeface="Times New Roman" panose="02020603050405020304" pitchFamily="18" charset="0"/>
              </a:rPr>
              <a:t>的扫描</a:t>
            </a:r>
          </a:p>
          <a:p>
            <a:pPr eaLnBrk="1" hangingPunct="1">
              <a:buNone/>
            </a:pPr>
            <a:r>
              <a:rPr lang="zh-CN" altLang="en-US" b="1" dirty="0">
                <a:latin typeface="Times New Roman" panose="02020603050405020304" pitchFamily="18" charset="0"/>
              </a:rPr>
              <a:t>           </a:t>
            </a:r>
            <a:r>
              <a:rPr lang="zh-CN" altLang="en-US" b="1" dirty="0">
                <a:solidFill>
                  <a:srgbClr val="FF0000"/>
                </a:solidFill>
                <a:latin typeface="Times New Roman" panose="02020603050405020304" pitchFamily="18" charset="0"/>
              </a:rPr>
              <a:t>当</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运行时，用户程序中有众多的操作需要执行，但</a:t>
            </a:r>
            <a:r>
              <a:rPr lang="en-US" altLang="zh-CN" b="1" dirty="0">
                <a:solidFill>
                  <a:srgbClr val="FF0000"/>
                </a:solidFill>
                <a:latin typeface="Times New Roman" panose="02020603050405020304" pitchFamily="18" charset="0"/>
              </a:rPr>
              <a:t>CPU</a:t>
            </a:r>
            <a:r>
              <a:rPr lang="zh-CN" altLang="en-US" b="1" dirty="0">
                <a:solidFill>
                  <a:srgbClr val="FF0000"/>
                </a:solidFill>
                <a:latin typeface="Times New Roman" panose="02020603050405020304" pitchFamily="18" charset="0"/>
              </a:rPr>
              <a:t>是不能同时执行多个操作的，它只能按分时操作原理工作，即每一时刻只执行一个操作。</a:t>
            </a:r>
            <a:r>
              <a:rPr lang="zh-CN" altLang="en-US" b="1" dirty="0">
                <a:latin typeface="Times New Roman" panose="02020603050405020304" pitchFamily="18" charset="0"/>
              </a:rPr>
              <a:t>由于</a:t>
            </a:r>
            <a:r>
              <a:rPr lang="en-US" altLang="zh-CN" b="1" dirty="0">
                <a:latin typeface="Times New Roman" panose="02020603050405020304" pitchFamily="18" charset="0"/>
              </a:rPr>
              <a:t>CPU</a:t>
            </a:r>
            <a:r>
              <a:rPr lang="zh-CN" altLang="en-US" b="1" dirty="0">
                <a:latin typeface="Times New Roman" panose="02020603050405020304" pitchFamily="18" charset="0"/>
              </a:rPr>
              <a:t>的运算处理速度很高，使得外部出现的结果从宏观上看好像是同时完成的。</a:t>
            </a:r>
            <a:r>
              <a:rPr lang="zh-CN" altLang="en-US" b="1" dirty="0">
                <a:solidFill>
                  <a:srgbClr val="FF0000"/>
                </a:solidFill>
                <a:latin typeface="Times New Roman" panose="02020603050405020304" pitchFamily="18" charset="0"/>
              </a:rPr>
              <a:t>这种按分时原则顺序执行程序的各种操作过程称为</a:t>
            </a:r>
            <a:r>
              <a:rPr lang="en-US" altLang="zh-CN" b="1" dirty="0">
                <a:solidFill>
                  <a:srgbClr val="FF0000"/>
                </a:solidFill>
                <a:latin typeface="Times New Roman" panose="02020603050405020304" pitchFamily="18" charset="0"/>
              </a:rPr>
              <a:t>CPU</a:t>
            </a:r>
            <a:r>
              <a:rPr lang="zh-CN" altLang="en-US" b="1" dirty="0">
                <a:solidFill>
                  <a:srgbClr val="FF0000"/>
                </a:solidFill>
                <a:latin typeface="Times New Roman" panose="02020603050405020304" pitchFamily="18" charset="0"/>
              </a:rPr>
              <a:t>对程序的扫描。执行一次扫描的时间称为扫描周期。</a:t>
            </a: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3"/>
          <p:cNvSpPr>
            <a:spLocks noGrp="1"/>
          </p:cNvSpPr>
          <p:nvPr>
            <p:ph idx="1"/>
          </p:nvPr>
        </p:nvSpPr>
        <p:spPr>
          <a:xfrm>
            <a:off x="457200" y="457200"/>
            <a:ext cx="8229600" cy="5943600"/>
          </a:xfrm>
        </p:spPr>
        <p:txBody>
          <a:bodyPr vert="horz" wrap="square" lIns="91440" tIns="45720" rIns="91440" bIns="45720" anchor="t" anchorCtr="0"/>
          <a:lstStyle/>
          <a:p>
            <a:pPr eaLnBrk="1" hangingPunct="1">
              <a:lnSpc>
                <a:spcPct val="90000"/>
              </a:lnSpc>
              <a:buNone/>
            </a:pPr>
            <a:r>
              <a:rPr lang="en-US" altLang="zh-CN" b="1" dirty="0">
                <a:latin typeface="Times New Roman" panose="02020603050405020304" pitchFamily="18" charset="0"/>
              </a:rPr>
              <a:t>   </a:t>
            </a:r>
            <a:r>
              <a:rPr lang="zh-CN" altLang="en-US" b="1" dirty="0">
                <a:latin typeface="Times New Roman" panose="02020603050405020304" pitchFamily="18" charset="0"/>
              </a:rPr>
              <a:t>可见，</a:t>
            </a:r>
            <a:r>
              <a:rPr lang="en-US" altLang="zh-CN" b="1" dirty="0">
                <a:latin typeface="Times New Roman" panose="02020603050405020304" pitchFamily="18" charset="0"/>
              </a:rPr>
              <a:t>PLC</a:t>
            </a:r>
            <a:r>
              <a:rPr lang="zh-CN" altLang="en-US" b="1" dirty="0">
                <a:latin typeface="Times New Roman" panose="02020603050405020304" pitchFamily="18" charset="0"/>
              </a:rPr>
              <a:t>与继电器控制的重要区别之一就是工作方式不同。</a:t>
            </a:r>
          </a:p>
          <a:p>
            <a:pPr eaLnBrk="1" hangingPunct="1">
              <a:lnSpc>
                <a:spcPct val="90000"/>
              </a:lnSpc>
              <a:buNone/>
            </a:pPr>
            <a:r>
              <a:rPr lang="zh-CN" altLang="en-US" b="1" dirty="0">
                <a:latin typeface="Times New Roman" panose="02020603050405020304" pitchFamily="18" charset="0"/>
              </a:rPr>
              <a:t>   </a:t>
            </a:r>
            <a:r>
              <a:rPr lang="zh-CN" altLang="en-US" b="1" dirty="0">
                <a:solidFill>
                  <a:srgbClr val="FF0000"/>
                </a:solidFill>
              </a:rPr>
              <a:t>＊</a:t>
            </a:r>
            <a:r>
              <a:rPr lang="zh-CN" altLang="en-US" b="1" dirty="0">
                <a:solidFill>
                  <a:srgbClr val="FF0000"/>
                </a:solidFill>
                <a:latin typeface="Times New Roman" panose="02020603050405020304" pitchFamily="18" charset="0"/>
              </a:rPr>
              <a:t>继电器控制是按“并行”方式工作的，或者  说是同时执行的，只要形成电流通路，可能同时有好几个电器动作。</a:t>
            </a:r>
          </a:p>
          <a:p>
            <a:pPr eaLnBrk="1" hangingPunct="1">
              <a:lnSpc>
                <a:spcPct val="90000"/>
              </a:lnSpc>
              <a:buNone/>
            </a:pPr>
            <a:r>
              <a:rPr lang="zh-CN" altLang="en-US" b="1" dirty="0">
                <a:latin typeface="Times New Roman" panose="02020603050405020304" pitchFamily="18" charset="0"/>
              </a:rPr>
              <a:t>  </a:t>
            </a:r>
            <a:r>
              <a:rPr lang="zh-CN" altLang="en-US" b="1" dirty="0">
                <a:solidFill>
                  <a:srgbClr val="FF0000"/>
                </a:solidFill>
              </a:rPr>
              <a:t>＊</a:t>
            </a:r>
            <a:r>
              <a:rPr lang="zh-CN" altLang="en-US" b="1" dirty="0">
                <a:solidFill>
                  <a:srgbClr val="FF0000"/>
                </a:solidFill>
                <a:latin typeface="Times New Roman" panose="02020603050405020304" pitchFamily="18" charset="0"/>
              </a:rPr>
              <a:t> </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是按顺序扫描的方式工作，也就是说 </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是以“串行”方式工作的。它是循环 地、连续地顺序逐条执行程序，任一时</a:t>
            </a:r>
          </a:p>
          <a:p>
            <a:pPr eaLnBrk="1" hangingPunct="1">
              <a:lnSpc>
                <a:spcPct val="90000"/>
              </a:lnSpc>
              <a:buNone/>
            </a:pPr>
            <a:r>
              <a:rPr lang="zh-CN" altLang="en-US" b="1" dirty="0">
                <a:solidFill>
                  <a:srgbClr val="FF0000"/>
                </a:solidFill>
                <a:latin typeface="Times New Roman" panose="02020603050405020304" pitchFamily="18" charset="0"/>
              </a:rPr>
              <a:t>    刻它只能执行一条指令。</a:t>
            </a:r>
          </a:p>
          <a:p>
            <a:pPr eaLnBrk="1" hangingPunct="1">
              <a:lnSpc>
                <a:spcPct val="90000"/>
              </a:lnSpc>
              <a:buNone/>
            </a:pPr>
            <a:r>
              <a:rPr lang="zh-CN" altLang="en-US" b="1" dirty="0">
                <a:latin typeface="Times New Roman" panose="02020603050405020304" pitchFamily="18" charset="0"/>
              </a:rPr>
              <a:t>    优点：可避免继电器控制的触点竞争和时序失配的问题。</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p:cNvSpPr>
          <p:nvPr>
            <p:ph idx="1"/>
          </p:nvPr>
        </p:nvSpPr>
        <p:spPr>
          <a:xfrm>
            <a:off x="468313" y="914400"/>
            <a:ext cx="8229600" cy="59436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   </a:t>
            </a:r>
            <a:r>
              <a:rPr lang="zh-CN" altLang="en-US" b="1" dirty="0">
                <a:solidFill>
                  <a:srgbClr val="FF0000"/>
                </a:solidFill>
                <a:latin typeface="Times New Roman" panose="02020603050405020304" pitchFamily="18" charset="0"/>
              </a:rPr>
              <a:t>值得说明的是：</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的扫描除可按固定的顺序进行外，还可按用户程序规定的可变顺序进行。</a:t>
            </a:r>
            <a:r>
              <a:rPr lang="zh-CN" altLang="en-US" b="1" dirty="0">
                <a:latin typeface="Times New Roman" panose="02020603050405020304" pitchFamily="18" charset="0"/>
              </a:rPr>
              <a:t>这不仅仅是因为有的程序不需要每扫描一次，执行一次。也因为在一个大型控制系统中，需要处理的</a:t>
            </a:r>
            <a:r>
              <a:rPr lang="en-US" altLang="zh-CN" b="1" dirty="0">
                <a:latin typeface="Times New Roman" panose="02020603050405020304" pitchFamily="18" charset="0"/>
              </a:rPr>
              <a:t>I/O</a:t>
            </a:r>
            <a:r>
              <a:rPr lang="zh-CN" altLang="en-US" b="1" dirty="0">
                <a:latin typeface="Times New Roman" panose="02020603050405020304" pitchFamily="18" charset="0"/>
              </a:rPr>
              <a:t>点数较多。通过不同的组织模块的安排，采用分时分批扫描的方法，可缩短扫描周期和提高控制的实时响应性。</a:t>
            </a: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5" name="图片 3" descr="试验台面板"/>
          <p:cNvPicPr>
            <a:picLocks noChangeAspect="1"/>
          </p:cNvPicPr>
          <p:nvPr/>
        </p:nvPicPr>
        <p:blipFill>
          <a:blip r:embed="rId2"/>
          <a:stretch>
            <a:fillRect/>
          </a:stretch>
        </p:blipFill>
        <p:spPr>
          <a:xfrm>
            <a:off x="1044575" y="1022350"/>
            <a:ext cx="6550025" cy="5645150"/>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29" name="图片 1" descr="实验台PLC"/>
          <p:cNvPicPr>
            <a:picLocks noChangeAspect="1"/>
          </p:cNvPicPr>
          <p:nvPr/>
        </p:nvPicPr>
        <p:blipFill>
          <a:blip r:embed="rId2"/>
          <a:srcRect l="-2989" t="21416" r="23621" b="10486"/>
          <a:stretch>
            <a:fillRect/>
          </a:stretch>
        </p:blipFill>
        <p:spPr>
          <a:xfrm>
            <a:off x="846138" y="895350"/>
            <a:ext cx="7150100" cy="5449888"/>
          </a:xfrm>
          <a:prstGeom prst="rect">
            <a:avLst/>
          </a:prstGeom>
          <a:noFill/>
          <a:ln w="9525">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828040" y="1628775"/>
            <a:ext cx="7315200" cy="2143125"/>
          </a:xfrm>
          <a:prstGeom prst="rect">
            <a:avLst/>
          </a:prstGeom>
          <a:noFill/>
        </p:spPr>
        <p:txBody>
          <a:bodyPr wrap="square" rtlCol="0" anchor="ctr" anchorCtr="0">
            <a:noAutofit/>
          </a:bodyPr>
          <a:lstStyle/>
          <a:p>
            <a:pPr lvl="0" algn="l">
              <a:buNone/>
            </a:pPr>
            <a:r>
              <a:rPr lang="zh-CN" altLang="en-US" sz="2600" b="1" dirty="0">
                <a:latin typeface="Times New Roman" panose="02020603050405020304" pitchFamily="18" charset="0"/>
                <a:sym typeface="+mn-ea"/>
              </a:rPr>
              <a:t> </a:t>
            </a:r>
            <a:r>
              <a:rPr lang="zh-CN" altLang="en-US" sz="2600" b="1" dirty="0">
                <a:solidFill>
                  <a:schemeClr val="tx1"/>
                </a:solidFill>
                <a:latin typeface="Times New Roman" panose="02020603050405020304" pitchFamily="18" charset="0"/>
                <a:sym typeface="+mn-ea"/>
              </a:rPr>
              <a:t>当</a:t>
            </a:r>
            <a:r>
              <a:rPr lang="en-US" altLang="zh-CN" sz="2600" b="1" dirty="0">
                <a:solidFill>
                  <a:schemeClr val="tx1"/>
                </a:solidFill>
                <a:latin typeface="Times New Roman" panose="02020603050405020304" pitchFamily="18" charset="0"/>
                <a:sym typeface="+mn-ea"/>
              </a:rPr>
              <a:t>PLC</a:t>
            </a:r>
            <a:r>
              <a:rPr lang="zh-CN" altLang="en-US" sz="2600" b="1" dirty="0">
                <a:solidFill>
                  <a:schemeClr val="tx1"/>
                </a:solidFill>
                <a:latin typeface="Times New Roman" panose="02020603050405020304" pitchFamily="18" charset="0"/>
                <a:sym typeface="+mn-ea"/>
              </a:rPr>
              <a:t>运行时，用户程序中有众多的操作需要执行，但</a:t>
            </a:r>
            <a:r>
              <a:rPr lang="en-US" altLang="zh-CN" sz="2600" b="1" dirty="0">
                <a:solidFill>
                  <a:schemeClr val="tx1"/>
                </a:solidFill>
                <a:latin typeface="Times New Roman" panose="02020603050405020304" pitchFamily="18" charset="0"/>
                <a:sym typeface="+mn-ea"/>
              </a:rPr>
              <a:t>CPU</a:t>
            </a:r>
            <a:r>
              <a:rPr lang="zh-CN" altLang="en-US" sz="2600" b="1" dirty="0">
                <a:solidFill>
                  <a:schemeClr val="tx1"/>
                </a:solidFill>
                <a:latin typeface="Times New Roman" panose="02020603050405020304" pitchFamily="18" charset="0"/>
                <a:sym typeface="+mn-ea"/>
              </a:rPr>
              <a:t>是不能同时执行多个操作的，它只能按 </a:t>
            </a:r>
            <a:r>
              <a:rPr lang="zh-CN" altLang="en-US" sz="2600" b="1" dirty="0">
                <a:solidFill>
                  <a:srgbClr val="639EF4"/>
                </a:solidFill>
                <a:latin typeface="Times New Roman" panose="02020603050405020304" pitchFamily="18" charset="0"/>
                <a:sym typeface="+mn-ea"/>
              </a:rPr>
              <a:t>[填空1]</a:t>
            </a:r>
            <a:r>
              <a:rPr lang="zh-CN" altLang="en-US" sz="2600" b="1" dirty="0">
                <a:solidFill>
                  <a:schemeClr val="tx1"/>
                </a:solidFill>
                <a:latin typeface="Times New Roman" panose="02020603050405020304" pitchFamily="18" charset="0"/>
                <a:sym typeface="+mn-ea"/>
              </a:rPr>
              <a:t> 原理工作，即每一时刻只执行一个操作。</a:t>
            </a:r>
            <a:endParaRPr lang="zh-CN" altLang="en-US" sz="2600" b="1" dirty="0">
              <a:solidFill>
                <a:schemeClr val="tx1"/>
              </a:solidFill>
              <a:latin typeface="Times New Roman" panose="02020603050405020304" pitchFamily="18" charset="0"/>
              <a:ea typeface="微软雅黑" panose="020B0503020204020204" pitchFamily="34" charset="-122"/>
              <a:sym typeface="+mn-ea"/>
            </a:endParaRPr>
          </a:p>
        </p:txBody>
      </p:sp>
      <p:sp>
        <p:nvSpPr>
          <p:cNvPr id="6" name="圆角矩形 5"/>
          <p:cNvSpPr/>
          <p:nvPr>
            <p:custDataLst>
              <p:tags r:id="rId3"/>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作答</a:t>
            </a:r>
          </a:p>
        </p:txBody>
      </p:sp>
      <p:sp>
        <p:nvSpPr>
          <p:cNvPr id="12" name="矩形 11"/>
          <p:cNvSpPr/>
          <p:nvPr>
            <p:custDataLst>
              <p:tags r:id="rId4"/>
            </p:custDataLst>
          </p:nvPr>
        </p:nvSpPr>
        <p:spPr>
          <a:xfrm>
            <a:off x="0" y="5848985"/>
            <a:ext cx="9144000" cy="365760"/>
          </a:xfrm>
          <a:prstGeom prst="rect">
            <a:avLst/>
          </a:prstGeom>
          <a:solidFill>
            <a:srgbClr val="FBFAEF"/>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noAutofit/>
          </a:bodyPr>
          <a:lstStyle/>
          <a:p>
            <a:pPr lvl="0" algn="l">
              <a:buNone/>
            </a:pPr>
            <a:r>
              <a:rPr lang="zh-CN" altLang="en-US" sz="1200">
                <a:solidFill>
                  <a:srgbClr val="F84F41"/>
                </a:solidFill>
                <a:latin typeface="微软雅黑" panose="020B0503020204020204" pitchFamily="34" charset="-122"/>
                <a:ea typeface="微软雅黑" panose="020B0503020204020204" pitchFamily="34" charset="-122"/>
                <a:cs typeface="微软雅黑" panose="020B0503020204020204" pitchFamily="34" charset="-122"/>
              </a:rPr>
              <a:t>正常使用填空题需3.0以上版本雨课堂</a:t>
            </a:r>
          </a:p>
        </p:txBody>
      </p:sp>
      <p:grpSp>
        <p:nvGrpSpPr>
          <p:cNvPr id="11" name="组合 10"/>
          <p:cNvGrpSpPr/>
          <p:nvPr>
            <p:custDataLst>
              <p:tags r:id="rId5"/>
            </p:custDataLst>
          </p:nvPr>
        </p:nvGrpSpPr>
        <p:grpSpPr>
          <a:xfrm>
            <a:off x="0" y="0"/>
            <a:ext cx="9144000" cy="635000"/>
            <a:chOff x="0" y="0"/>
            <a:chExt cx="14400" cy="1000"/>
          </a:xfrm>
        </p:grpSpPr>
        <p:sp>
          <p:nvSpPr>
            <p:cNvPr id="7" name="TitleBackground"/>
            <p:cNvSpPr/>
            <p:nvPr>
              <p:custDataLst>
                <p:tags r:id="rId7"/>
              </p:custDataLst>
            </p:nvPr>
          </p:nvSpPr>
          <p:spPr>
            <a:xfrm>
              <a:off x="0" y="0"/>
              <a:ext cx="1440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8"/>
              </p:custDataLst>
            </p:nvPr>
          </p:nvSpPr>
          <p:spPr>
            <a:xfrm>
              <a:off x="0" y="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9"/>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填空题</a:t>
              </a:r>
            </a:p>
          </p:txBody>
        </p:sp>
        <p:sp>
          <p:nvSpPr>
            <p:cNvPr id="10" name="TipText"/>
            <p:cNvSpPr txBox="1"/>
            <p:nvPr>
              <p:custDataLst>
                <p:tags r:id="rId10"/>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p>
          </p:txBody>
        </p:sp>
      </p:grpSp>
      <p:pic>
        <p:nvPicPr>
          <p:cNvPr id="4" name="图片 3" descr="tmpA8BE"/>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p:cNvSpPr>
          <p:nvPr>
            <p:ph idx="1"/>
          </p:nvPr>
        </p:nvSpPr>
        <p:spPr>
          <a:xfrm>
            <a:off x="457200" y="457200"/>
            <a:ext cx="8229600" cy="5943600"/>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2.3.2  PLC</a:t>
            </a:r>
            <a:r>
              <a:rPr lang="zh-CN" altLang="en-US" b="1" dirty="0">
                <a:latin typeface="Times New Roman" panose="02020603050405020304" pitchFamily="18" charset="0"/>
              </a:rPr>
              <a:t>的工作过程</a:t>
            </a:r>
          </a:p>
          <a:p>
            <a:pPr eaLnBrk="1" hangingPunct="1">
              <a:buNone/>
            </a:pPr>
            <a:r>
              <a:rPr lang="zh-CN" altLang="en-US" b="1" dirty="0">
                <a:latin typeface="Times New Roman" panose="02020603050405020304" pitchFamily="18" charset="0"/>
              </a:rPr>
              <a:t>            </a:t>
            </a:r>
            <a:r>
              <a:rPr lang="en-US" altLang="zh-CN" b="1" dirty="0">
                <a:latin typeface="Times New Roman" panose="02020603050405020304" pitchFamily="18" charset="0"/>
              </a:rPr>
              <a:t>PLC</a:t>
            </a:r>
            <a:r>
              <a:rPr lang="zh-CN" altLang="en-US" b="1" dirty="0">
                <a:latin typeface="Times New Roman" panose="02020603050405020304" pitchFamily="18" charset="0"/>
              </a:rPr>
              <a:t>虽然具有微机的许多特点，但它的工作方式却与微机有很大不同。</a:t>
            </a:r>
            <a:r>
              <a:rPr lang="zh-CN" altLang="en-US" b="1" dirty="0">
                <a:solidFill>
                  <a:srgbClr val="FF0000"/>
                </a:solidFill>
                <a:latin typeface="Times New Roman" panose="02020603050405020304" pitchFamily="18" charset="0"/>
              </a:rPr>
              <a:t>微机一般采用等待命令的工作方式，而</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是在系统软件的控制和指挥下，采用循环顺序扫描的方式工作的。</a:t>
            </a:r>
          </a:p>
          <a:p>
            <a:pPr eaLnBrk="1" hangingPunct="1">
              <a:buNone/>
            </a:pPr>
            <a:r>
              <a:rPr lang="zh-CN" altLang="en-US" b="1" dirty="0">
                <a:solidFill>
                  <a:srgbClr val="FF0000"/>
                </a:solidFill>
                <a:latin typeface="Times New Roman" panose="02020603050405020304" pitchFamily="18" charset="0"/>
              </a:rPr>
              <a:t>            </a:t>
            </a:r>
            <a:r>
              <a:rPr lang="en-US" altLang="zh-CN" b="1" dirty="0">
                <a:latin typeface="Times New Roman" panose="02020603050405020304" pitchFamily="18" charset="0"/>
              </a:rPr>
              <a:t>PLC</a:t>
            </a:r>
            <a:r>
              <a:rPr lang="zh-CN" altLang="en-US" b="1" dirty="0">
                <a:latin typeface="Times New Roman" panose="02020603050405020304" pitchFamily="18" charset="0"/>
              </a:rPr>
              <a:t>的工作过程就是程序的执行过程，</a:t>
            </a:r>
            <a:r>
              <a:rPr lang="zh-CN" altLang="en-US" b="1" dirty="0">
                <a:solidFill>
                  <a:srgbClr val="FF0000"/>
                </a:solidFill>
                <a:latin typeface="Times New Roman" panose="02020603050405020304" pitchFamily="18" charset="0"/>
              </a:rPr>
              <a:t>它分为输入采样（输入处理）、程序执行和输出刷新（输出处理）</a:t>
            </a:r>
            <a:r>
              <a:rPr lang="en-US" altLang="zh-CN" b="1" dirty="0">
                <a:solidFill>
                  <a:srgbClr val="FF0000"/>
                </a:solidFill>
                <a:latin typeface="Times New Roman" panose="02020603050405020304" pitchFamily="18" charset="0"/>
              </a:rPr>
              <a:t>3</a:t>
            </a:r>
            <a:r>
              <a:rPr lang="zh-CN" altLang="en-US" b="1" dirty="0">
                <a:solidFill>
                  <a:srgbClr val="FF0000"/>
                </a:solidFill>
                <a:latin typeface="Times New Roman" panose="02020603050405020304" pitchFamily="18" charset="0"/>
              </a:rPr>
              <a:t>个阶段，</a:t>
            </a:r>
            <a:r>
              <a:rPr lang="zh-CN" altLang="en-US" b="1" dirty="0">
                <a:latin typeface="Times New Roman" panose="02020603050405020304" pitchFamily="18" charset="0"/>
              </a:rPr>
              <a:t>如图</a:t>
            </a:r>
            <a:r>
              <a:rPr lang="en-US" altLang="zh-CN" b="1" dirty="0">
                <a:latin typeface="Times New Roman" panose="02020603050405020304" pitchFamily="18" charset="0"/>
              </a:rPr>
              <a:t>2.16</a:t>
            </a:r>
            <a:r>
              <a:rPr lang="zh-CN" altLang="en-US" b="1" dirty="0">
                <a:latin typeface="Times New Roman" panose="02020603050405020304" pitchFamily="18" charset="0"/>
              </a:rPr>
              <a:t>所示。</a:t>
            </a: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7" name="Picture 5" descr="2-16换"/>
          <p:cNvPicPr>
            <a:picLocks noChangeAspect="1"/>
          </p:cNvPicPr>
          <p:nvPr/>
        </p:nvPicPr>
        <p:blipFill>
          <a:blip r:embed="rId2"/>
          <a:stretch>
            <a:fillRect/>
          </a:stretch>
        </p:blipFill>
        <p:spPr>
          <a:xfrm>
            <a:off x="457200" y="990600"/>
            <a:ext cx="8153400" cy="3875088"/>
          </a:xfrm>
          <a:prstGeom prst="rect">
            <a:avLst/>
          </a:prstGeom>
          <a:noFill/>
          <a:ln w="9525">
            <a:noFill/>
          </a:ln>
        </p:spPr>
      </p:pic>
      <p:sp>
        <p:nvSpPr>
          <p:cNvPr id="75778" name="Rectangle 6"/>
          <p:cNvSpPr/>
          <p:nvPr/>
        </p:nvSpPr>
        <p:spPr>
          <a:xfrm>
            <a:off x="2286000" y="5334000"/>
            <a:ext cx="5353050"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2.16   PLC</a:t>
            </a:r>
            <a:r>
              <a:rPr lang="zh-CN" altLang="en-US" sz="3200" dirty="0">
                <a:latin typeface="Arial" panose="020B0604020202020204" pitchFamily="34" charset="0"/>
                <a:ea typeface="宋体" panose="02010600030101010101" pitchFamily="2" charset="-122"/>
              </a:rPr>
              <a:t>的扫描工作过程</a:t>
            </a: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p:cNvSpPr>
          <p:nvPr>
            <p:ph idx="1"/>
          </p:nvPr>
        </p:nvSpPr>
        <p:spPr>
          <a:xfrm>
            <a:off x="457200" y="457200"/>
            <a:ext cx="8229600" cy="5943600"/>
          </a:xfrm>
        </p:spPr>
        <p:txBody>
          <a:bodyPr vert="horz" wrap="square" lIns="91440" tIns="45720" rIns="91440" bIns="45720" anchor="t" anchorCtr="0"/>
          <a:lstStyle/>
          <a:p>
            <a:pPr eaLnBrk="1" hangingPunct="1">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）输入采样阶段</a:t>
            </a:r>
          </a:p>
          <a:p>
            <a:pPr eaLnBrk="1" hangingPunct="1">
              <a:buNone/>
            </a:pPr>
            <a:r>
              <a:rPr lang="zh-CN" altLang="en-US" sz="2800" b="1" dirty="0">
                <a:latin typeface="Times New Roman" panose="02020603050405020304" pitchFamily="18" charset="0"/>
              </a:rPr>
              <a:t>输入信号              输入映像寄存器          刷新（隔离）</a:t>
            </a:r>
          </a:p>
          <a:p>
            <a:pPr eaLnBrk="1" hangingPunct="1">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2</a:t>
            </a:r>
            <a:r>
              <a:rPr lang="zh-CN" altLang="en-US" sz="2800" b="1" dirty="0">
                <a:latin typeface="Times New Roman" panose="02020603050405020304" pitchFamily="18" charset="0"/>
              </a:rPr>
              <a:t>）程序执行阶段</a:t>
            </a:r>
          </a:p>
          <a:p>
            <a:pPr eaLnBrk="1" hangingPunct="1">
              <a:buNone/>
            </a:pPr>
            <a:r>
              <a:rPr lang="zh-CN" altLang="en-US" sz="2800" b="1" dirty="0">
                <a:latin typeface="Times New Roman" panose="02020603050405020304" pitchFamily="18" charset="0"/>
              </a:rPr>
              <a:t>从上到下从左到右逐条执行程序             元件映像寄存器           内容随程序的执行而变化</a:t>
            </a:r>
          </a:p>
          <a:p>
            <a:pPr eaLnBrk="1" hangingPunct="1">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3</a:t>
            </a:r>
            <a:r>
              <a:rPr lang="zh-CN" altLang="en-US" sz="2800" b="1" dirty="0">
                <a:latin typeface="Times New Roman" panose="02020603050405020304" pitchFamily="18" charset="0"/>
              </a:rPr>
              <a:t>）输出刷新阶段</a:t>
            </a:r>
          </a:p>
          <a:p>
            <a:pPr eaLnBrk="1" hangingPunct="1">
              <a:buNone/>
            </a:pPr>
            <a:r>
              <a:rPr lang="zh-CN" altLang="en-US" sz="2800" b="1" dirty="0">
                <a:latin typeface="Times New Roman" panose="02020603050405020304" pitchFamily="18" charset="0"/>
              </a:rPr>
              <a:t>将元件映像寄存器中输出元件的状态          转存到输出锁存器中          经隔离和功率放大</a:t>
            </a:r>
          </a:p>
          <a:p>
            <a:pPr eaLnBrk="1" hangingPunct="1">
              <a:buNone/>
            </a:pPr>
            <a:r>
              <a:rPr lang="zh-CN" altLang="en-US" sz="2800" b="1" dirty="0">
                <a:latin typeface="Times New Roman" panose="02020603050405020304" pitchFamily="18" charset="0"/>
              </a:rPr>
              <a:t>                  转换成</a:t>
            </a:r>
            <a:r>
              <a:rPr lang="en-US" altLang="zh-CN" sz="2800" b="1" dirty="0">
                <a:latin typeface="Times New Roman" panose="02020603050405020304" pitchFamily="18" charset="0"/>
              </a:rPr>
              <a:t>V/I</a:t>
            </a:r>
            <a:r>
              <a:rPr lang="zh-CN" altLang="en-US" sz="2800" b="1" dirty="0">
                <a:latin typeface="Times New Roman" panose="02020603050405020304" pitchFamily="18" charset="0"/>
              </a:rPr>
              <a:t>信号              驱动输出设备</a:t>
            </a:r>
          </a:p>
          <a:p>
            <a:pPr eaLnBrk="1" hangingPunct="1">
              <a:buNone/>
            </a:pPr>
            <a:r>
              <a:rPr lang="zh-CN" altLang="en-US" sz="2800" b="1" dirty="0">
                <a:latin typeface="Times New Roman" panose="02020603050405020304" pitchFamily="18" charset="0"/>
              </a:rPr>
              <a:t>                       </a:t>
            </a:r>
          </a:p>
        </p:txBody>
      </p:sp>
      <p:sp>
        <p:nvSpPr>
          <p:cNvPr id="76802" name="Line 3"/>
          <p:cNvSpPr/>
          <p:nvPr/>
        </p:nvSpPr>
        <p:spPr>
          <a:xfrm>
            <a:off x="1979613" y="1196975"/>
            <a:ext cx="1150937" cy="0"/>
          </a:xfrm>
          <a:prstGeom prst="line">
            <a:avLst/>
          </a:prstGeom>
          <a:ln w="9525" cap="flat" cmpd="sng">
            <a:solidFill>
              <a:schemeClr val="tx1"/>
            </a:solidFill>
            <a:prstDash val="solid"/>
            <a:round/>
            <a:headEnd type="none" w="med" len="med"/>
            <a:tailEnd type="triangle" w="med" len="med"/>
          </a:ln>
        </p:spPr>
      </p:sp>
      <p:sp>
        <p:nvSpPr>
          <p:cNvPr id="76803" name="Text Box 4"/>
          <p:cNvSpPr txBox="1"/>
          <p:nvPr/>
        </p:nvSpPr>
        <p:spPr>
          <a:xfrm>
            <a:off x="1979613" y="836613"/>
            <a:ext cx="1295400" cy="366712"/>
          </a:xfrm>
          <a:prstGeom prst="rect">
            <a:avLst/>
          </a:prstGeom>
          <a:noFill/>
          <a:ln w="9525">
            <a:noFill/>
          </a:ln>
        </p:spPr>
        <p:txBody>
          <a:bodyPr anchor="t" anchorCtr="0">
            <a:spAutoFit/>
          </a:bodyPr>
          <a:lstStyle/>
          <a:p>
            <a:pPr>
              <a:spcBef>
                <a:spcPct val="50000"/>
              </a:spcBef>
            </a:pPr>
            <a:r>
              <a:rPr lang="zh-CN" altLang="en-US" dirty="0">
                <a:latin typeface="Arial" panose="020B0604020202020204" pitchFamily="34" charset="0"/>
                <a:ea typeface="宋体" panose="02010600030101010101" pitchFamily="2" charset="-122"/>
              </a:rPr>
              <a:t>一次进入</a:t>
            </a:r>
          </a:p>
        </p:txBody>
      </p:sp>
      <p:sp>
        <p:nvSpPr>
          <p:cNvPr id="76804" name="Line 5"/>
          <p:cNvSpPr/>
          <p:nvPr/>
        </p:nvSpPr>
        <p:spPr>
          <a:xfrm>
            <a:off x="5724525" y="1196975"/>
            <a:ext cx="863600" cy="0"/>
          </a:xfrm>
          <a:prstGeom prst="line">
            <a:avLst/>
          </a:prstGeom>
          <a:ln w="9525" cap="flat" cmpd="sng">
            <a:solidFill>
              <a:schemeClr val="tx1"/>
            </a:solidFill>
            <a:prstDash val="solid"/>
            <a:round/>
            <a:headEnd type="none" w="med" len="med"/>
            <a:tailEnd type="triangle" w="med" len="med"/>
          </a:ln>
        </p:spPr>
      </p:sp>
      <p:sp>
        <p:nvSpPr>
          <p:cNvPr id="76805" name="Line 6"/>
          <p:cNvSpPr/>
          <p:nvPr/>
        </p:nvSpPr>
        <p:spPr>
          <a:xfrm>
            <a:off x="5580063" y="2276475"/>
            <a:ext cx="1079500" cy="0"/>
          </a:xfrm>
          <a:prstGeom prst="line">
            <a:avLst/>
          </a:prstGeom>
          <a:ln w="9525" cap="flat" cmpd="sng">
            <a:solidFill>
              <a:schemeClr val="tx1"/>
            </a:solidFill>
            <a:prstDash val="solid"/>
            <a:round/>
            <a:headEnd type="none" w="med" len="med"/>
            <a:tailEnd type="triangle" w="med" len="med"/>
          </a:ln>
        </p:spPr>
      </p:sp>
      <p:sp>
        <p:nvSpPr>
          <p:cNvPr id="76806" name="Text Box 7"/>
          <p:cNvSpPr txBox="1"/>
          <p:nvPr/>
        </p:nvSpPr>
        <p:spPr>
          <a:xfrm>
            <a:off x="5724525" y="1916113"/>
            <a:ext cx="792163" cy="366712"/>
          </a:xfrm>
          <a:prstGeom prst="rect">
            <a:avLst/>
          </a:prstGeom>
          <a:noFill/>
          <a:ln w="9525">
            <a:noFill/>
          </a:ln>
        </p:spPr>
        <p:txBody>
          <a:bodyPr anchor="t" anchorCtr="0">
            <a:spAutoFit/>
          </a:bodyPr>
          <a:lstStyle/>
          <a:p>
            <a:pPr>
              <a:spcBef>
                <a:spcPct val="50000"/>
              </a:spcBef>
            </a:pPr>
            <a:r>
              <a:rPr lang="zh-CN" altLang="en-US" dirty="0">
                <a:latin typeface="Arial" panose="020B0604020202020204" pitchFamily="34" charset="0"/>
                <a:ea typeface="宋体" panose="02010600030101010101" pitchFamily="2" charset="-122"/>
              </a:rPr>
              <a:t>结果</a:t>
            </a:r>
          </a:p>
        </p:txBody>
      </p:sp>
      <p:sp>
        <p:nvSpPr>
          <p:cNvPr id="76807" name="Line 8"/>
          <p:cNvSpPr/>
          <p:nvPr/>
        </p:nvSpPr>
        <p:spPr>
          <a:xfrm>
            <a:off x="1692275" y="2708275"/>
            <a:ext cx="792163" cy="0"/>
          </a:xfrm>
          <a:prstGeom prst="line">
            <a:avLst/>
          </a:prstGeom>
          <a:ln w="9525" cap="flat" cmpd="sng">
            <a:solidFill>
              <a:schemeClr val="tx1"/>
            </a:solidFill>
            <a:prstDash val="solid"/>
            <a:round/>
            <a:headEnd type="none" w="med" len="med"/>
            <a:tailEnd type="triangle" w="med" len="med"/>
          </a:ln>
        </p:spPr>
      </p:sp>
      <p:sp>
        <p:nvSpPr>
          <p:cNvPr id="76808" name="Line 9"/>
          <p:cNvSpPr/>
          <p:nvPr/>
        </p:nvSpPr>
        <p:spPr>
          <a:xfrm>
            <a:off x="6372225" y="3789363"/>
            <a:ext cx="790575" cy="0"/>
          </a:xfrm>
          <a:prstGeom prst="line">
            <a:avLst/>
          </a:prstGeom>
          <a:ln w="9525" cap="flat" cmpd="sng">
            <a:solidFill>
              <a:schemeClr val="tx1"/>
            </a:solidFill>
            <a:prstDash val="solid"/>
            <a:round/>
            <a:headEnd type="none" w="med" len="med"/>
            <a:tailEnd type="triangle" w="med" len="med"/>
          </a:ln>
        </p:spPr>
      </p:sp>
      <p:sp>
        <p:nvSpPr>
          <p:cNvPr id="76809" name="Line 10"/>
          <p:cNvSpPr/>
          <p:nvPr/>
        </p:nvSpPr>
        <p:spPr>
          <a:xfrm>
            <a:off x="2771775" y="4149725"/>
            <a:ext cx="719138" cy="0"/>
          </a:xfrm>
          <a:prstGeom prst="line">
            <a:avLst/>
          </a:prstGeom>
          <a:ln w="9525" cap="flat" cmpd="sng">
            <a:solidFill>
              <a:schemeClr val="tx1"/>
            </a:solidFill>
            <a:prstDash val="solid"/>
            <a:round/>
            <a:headEnd type="none" w="med" len="med"/>
            <a:tailEnd type="triangle" w="med" len="med"/>
          </a:ln>
        </p:spPr>
      </p:sp>
      <p:sp>
        <p:nvSpPr>
          <p:cNvPr id="76810" name="Line 11"/>
          <p:cNvSpPr/>
          <p:nvPr/>
        </p:nvSpPr>
        <p:spPr>
          <a:xfrm>
            <a:off x="900113" y="4724400"/>
            <a:ext cx="1079500" cy="0"/>
          </a:xfrm>
          <a:prstGeom prst="line">
            <a:avLst/>
          </a:prstGeom>
          <a:ln w="9525" cap="flat" cmpd="sng">
            <a:solidFill>
              <a:schemeClr val="tx1"/>
            </a:solidFill>
            <a:prstDash val="solid"/>
            <a:round/>
            <a:headEnd type="none" w="med" len="med"/>
            <a:tailEnd type="triangle" w="med" len="med"/>
          </a:ln>
        </p:spPr>
      </p:sp>
      <p:sp>
        <p:nvSpPr>
          <p:cNvPr id="76811" name="Line 12"/>
          <p:cNvSpPr/>
          <p:nvPr/>
        </p:nvSpPr>
        <p:spPr>
          <a:xfrm>
            <a:off x="4500563" y="4652963"/>
            <a:ext cx="1008062" cy="0"/>
          </a:xfrm>
          <a:prstGeom prst="line">
            <a:avLst/>
          </a:prstGeom>
          <a:ln w="9525" cap="flat" cmpd="sng">
            <a:solidFill>
              <a:schemeClr val="tx1"/>
            </a:solidFill>
            <a:prstDash val="solid"/>
            <a:round/>
            <a:headEnd type="none" w="med" len="med"/>
            <a:tailEnd type="triangle" w="med" len="med"/>
          </a:ln>
        </p:spPr>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p:cNvSpPr>
          <p:nvPr>
            <p:ph idx="1"/>
          </p:nvPr>
        </p:nvSpPr>
        <p:spPr>
          <a:xfrm>
            <a:off x="457200" y="533400"/>
            <a:ext cx="8229600" cy="5592763"/>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2.3.3   PLC</a:t>
            </a:r>
            <a:r>
              <a:rPr lang="zh-CN" altLang="en-US" b="1" dirty="0">
                <a:latin typeface="Times New Roman" panose="02020603050405020304" pitchFamily="18" charset="0"/>
              </a:rPr>
              <a:t>的输入</a:t>
            </a:r>
            <a:r>
              <a:rPr lang="en-US" altLang="zh-CN" b="1" dirty="0">
                <a:latin typeface="Times New Roman" panose="02020603050405020304" pitchFamily="18" charset="0"/>
              </a:rPr>
              <a:t>/</a:t>
            </a:r>
            <a:r>
              <a:rPr lang="zh-CN" altLang="en-US" b="1" dirty="0">
                <a:latin typeface="Times New Roman" panose="02020603050405020304" pitchFamily="18" charset="0"/>
              </a:rPr>
              <a:t>输出滞后现象</a:t>
            </a:r>
          </a:p>
          <a:p>
            <a:pPr eaLnBrk="1" hangingPunct="1">
              <a:buNone/>
            </a:pPr>
            <a:r>
              <a:rPr lang="zh-CN" altLang="en-US" b="1" dirty="0">
                <a:latin typeface="Times New Roman" panose="02020603050405020304" pitchFamily="18" charset="0"/>
              </a:rPr>
              <a:t>  产生输入</a:t>
            </a:r>
            <a:r>
              <a:rPr lang="en-US" altLang="zh-CN" b="1" dirty="0">
                <a:latin typeface="Times New Roman" panose="02020603050405020304" pitchFamily="18" charset="0"/>
              </a:rPr>
              <a:t>/</a:t>
            </a:r>
            <a:r>
              <a:rPr lang="zh-CN" altLang="en-US" b="1" dirty="0">
                <a:latin typeface="Times New Roman" panose="02020603050405020304" pitchFamily="18" charset="0"/>
              </a:rPr>
              <a:t>输出响应滞后的原因：</a:t>
            </a:r>
          </a:p>
          <a:p>
            <a:pPr eaLnBrk="1" hangingPunct="1">
              <a:buNone/>
            </a:pPr>
            <a:r>
              <a:rPr lang="zh-CN" altLang="en-US"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rPr>
              <a:t>1</a:t>
            </a:r>
            <a:r>
              <a:rPr lang="zh-CN" altLang="en-US" b="1" dirty="0">
                <a:solidFill>
                  <a:srgbClr val="FF0000"/>
                </a:solidFill>
                <a:latin typeface="Times New Roman" panose="02020603050405020304" pitchFamily="18" charset="0"/>
              </a:rPr>
              <a:t>）执行程序按扫描周期进行，每一扫描周期又分为输入采样、程序执行、输出刷新三个阶段进行</a:t>
            </a:r>
            <a:r>
              <a:rPr lang="zh-CN" altLang="en-US" b="1" dirty="0">
                <a:latin typeface="Times New Roman" panose="02020603050405020304" pitchFamily="18" charset="0"/>
              </a:rPr>
              <a:t>。</a:t>
            </a:r>
          </a:p>
          <a:p>
            <a:pPr eaLnBrk="1" hangingPunct="1">
              <a:buNone/>
            </a:pPr>
            <a:r>
              <a:rPr lang="zh-CN" altLang="en-US" b="1" dirty="0">
                <a:latin typeface="Times New Roman" panose="02020603050405020304" pitchFamily="18" charset="0"/>
              </a:rPr>
              <a:t>   例如，图</a:t>
            </a:r>
            <a:r>
              <a:rPr lang="en-US" altLang="zh-CN" b="1" dirty="0">
                <a:latin typeface="Times New Roman" panose="02020603050405020304" pitchFamily="18" charset="0"/>
              </a:rPr>
              <a:t>2.17</a:t>
            </a:r>
            <a:r>
              <a:rPr lang="zh-CN" altLang="en-US" b="1" dirty="0">
                <a:latin typeface="Times New Roman" panose="02020603050405020304" pitchFamily="18" charset="0"/>
              </a:rPr>
              <a:t>（</a:t>
            </a:r>
            <a:r>
              <a:rPr lang="en-US" altLang="zh-CN" b="1" dirty="0">
                <a:latin typeface="Times New Roman" panose="02020603050405020304" pitchFamily="18" charset="0"/>
              </a:rPr>
              <a:t>a</a:t>
            </a:r>
            <a:r>
              <a:rPr lang="zh-CN" altLang="en-US" b="1" dirty="0">
                <a:latin typeface="Times New Roman" panose="02020603050405020304" pitchFamily="18" charset="0"/>
              </a:rPr>
              <a:t>）所示的梯形图，其程序在执行过程中各元素的时序图如图</a:t>
            </a:r>
            <a:r>
              <a:rPr lang="en-US" altLang="zh-CN" b="1" dirty="0">
                <a:latin typeface="Times New Roman" panose="02020603050405020304" pitchFamily="18" charset="0"/>
              </a:rPr>
              <a:t>2.17</a:t>
            </a:r>
            <a:r>
              <a:rPr lang="zh-CN" altLang="en-US" b="1" dirty="0">
                <a:latin typeface="Times New Roman" panose="02020603050405020304" pitchFamily="18" charset="0"/>
              </a:rPr>
              <a:t>（</a:t>
            </a:r>
            <a:r>
              <a:rPr lang="en-US" altLang="zh-CN" b="1" dirty="0">
                <a:latin typeface="Times New Roman" panose="02020603050405020304" pitchFamily="18" charset="0"/>
              </a:rPr>
              <a:t>b</a:t>
            </a:r>
            <a:r>
              <a:rPr lang="zh-CN" altLang="en-US" b="1" dirty="0">
                <a:latin typeface="Times New Roman" panose="02020603050405020304" pitchFamily="18" charset="0"/>
              </a:rPr>
              <a:t>）所示。图中各元素的编号以</a:t>
            </a:r>
            <a:r>
              <a:rPr lang="en-US" altLang="zh-CN" b="1" dirty="0">
                <a:latin typeface="Times New Roman" panose="02020603050405020304" pitchFamily="18" charset="0"/>
              </a:rPr>
              <a:t>FX</a:t>
            </a:r>
            <a:r>
              <a:rPr lang="zh-CN" altLang="en-US" b="1" dirty="0">
                <a:latin typeface="Times New Roman" panose="02020603050405020304" pitchFamily="18" charset="0"/>
              </a:rPr>
              <a:t>系列</a:t>
            </a:r>
            <a:r>
              <a:rPr lang="en-US" altLang="zh-CN" b="1" dirty="0">
                <a:latin typeface="Times New Roman" panose="02020603050405020304" pitchFamily="18" charset="0"/>
              </a:rPr>
              <a:t>PLC</a:t>
            </a:r>
            <a:r>
              <a:rPr lang="zh-CN" altLang="en-US" b="1" dirty="0">
                <a:latin typeface="Times New Roman" panose="02020603050405020304" pitchFamily="18" charset="0"/>
              </a:rPr>
              <a:t>为例。其中</a:t>
            </a:r>
            <a:r>
              <a:rPr lang="en-US" altLang="zh-CN" b="1" dirty="0">
                <a:latin typeface="Times New Roman" panose="02020603050405020304" pitchFamily="18" charset="0"/>
              </a:rPr>
              <a:t>X0</a:t>
            </a:r>
            <a:r>
              <a:rPr lang="zh-CN" altLang="en-US" b="1" dirty="0">
                <a:latin typeface="Times New Roman" panose="02020603050405020304" pitchFamily="18" charset="0"/>
              </a:rPr>
              <a:t>为输入继电器，</a:t>
            </a:r>
            <a:r>
              <a:rPr lang="en-US" altLang="zh-CN" b="1" dirty="0">
                <a:latin typeface="Times New Roman" panose="02020603050405020304" pitchFamily="18" charset="0"/>
              </a:rPr>
              <a:t>Y6</a:t>
            </a:r>
            <a:r>
              <a:rPr lang="zh-CN" altLang="en-US" b="1" dirty="0">
                <a:latin typeface="Times New Roman" panose="02020603050405020304" pitchFamily="18" charset="0"/>
              </a:rPr>
              <a:t>为输出继电器，</a:t>
            </a:r>
            <a:r>
              <a:rPr lang="en-US" altLang="zh-CN" b="1" dirty="0">
                <a:latin typeface="Times New Roman" panose="02020603050405020304" pitchFamily="18" charset="0"/>
              </a:rPr>
              <a:t>M100</a:t>
            </a:r>
            <a:r>
              <a:rPr lang="zh-CN" altLang="en-US" b="1" dirty="0">
                <a:latin typeface="Times New Roman" panose="02020603050405020304" pitchFamily="18" charset="0"/>
              </a:rPr>
              <a:t>为辅助继电器。</a:t>
            </a:r>
          </a:p>
          <a:p>
            <a:pPr eaLnBrk="1" hangingPunct="1">
              <a:buNone/>
            </a:pPr>
            <a:endParaRPr lang="en-US" altLang="zh-CN" b="1" dirty="0">
              <a:latin typeface="Times New Roman" panose="02020603050405020304" pitchFamily="18" charset="0"/>
            </a:endParaRP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49" name="Picture 5" descr="2-17"/>
          <p:cNvPicPr>
            <a:picLocks noChangeAspect="1"/>
          </p:cNvPicPr>
          <p:nvPr/>
        </p:nvPicPr>
        <p:blipFill>
          <a:blip r:embed="rId2"/>
          <a:stretch>
            <a:fillRect/>
          </a:stretch>
        </p:blipFill>
        <p:spPr>
          <a:xfrm>
            <a:off x="685800" y="990600"/>
            <a:ext cx="7924800" cy="3668713"/>
          </a:xfrm>
          <a:prstGeom prst="rect">
            <a:avLst/>
          </a:prstGeom>
          <a:noFill/>
          <a:ln w="9525">
            <a:noFill/>
          </a:ln>
        </p:spPr>
      </p:pic>
      <p:sp>
        <p:nvSpPr>
          <p:cNvPr id="78850" name="Rectangle 6"/>
          <p:cNvSpPr/>
          <p:nvPr/>
        </p:nvSpPr>
        <p:spPr>
          <a:xfrm>
            <a:off x="762000" y="5105400"/>
            <a:ext cx="7772400" cy="1322388"/>
          </a:xfrm>
          <a:prstGeom prst="rect">
            <a:avLst/>
          </a:prstGeom>
          <a:noFill/>
          <a:ln w="9525">
            <a:noFill/>
          </a:ln>
        </p:spPr>
        <p:txBody>
          <a:bodyPr anchor="t" anchorCtr="0">
            <a:spAutoFit/>
          </a:bodyPr>
          <a:lstStyle/>
          <a:p>
            <a:pPr algn="ctr">
              <a:spcBef>
                <a:spcPct val="50000"/>
              </a:spcBef>
            </a:pPr>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2.17   </a:t>
            </a:r>
            <a:r>
              <a:rPr lang="zh-CN" altLang="en-US" sz="3200" dirty="0">
                <a:latin typeface="Arial" panose="020B0604020202020204" pitchFamily="34" charset="0"/>
                <a:ea typeface="宋体" panose="02010600030101010101" pitchFamily="2" charset="-122"/>
              </a:rPr>
              <a:t>程序执行过程中各元素的时序图</a:t>
            </a:r>
          </a:p>
          <a:p>
            <a:pPr algn="ctr">
              <a:spcBef>
                <a:spcPct val="50000"/>
              </a:spcBef>
            </a:pPr>
            <a:r>
              <a:rPr lang="en-US" altLang="zh-CN" sz="3200" dirty="0">
                <a:latin typeface="Arial" panose="020B0604020202020204" pitchFamily="34" charset="0"/>
                <a:ea typeface="宋体" panose="02010600030101010101" pitchFamily="2" charset="-122"/>
              </a:rPr>
              <a:t>(a)</a:t>
            </a:r>
            <a:r>
              <a:rPr lang="zh-CN" altLang="en-US" sz="3200" dirty="0">
                <a:latin typeface="Arial" panose="020B0604020202020204" pitchFamily="34" charset="0"/>
                <a:ea typeface="宋体" panose="02010600030101010101" pitchFamily="2" charset="-122"/>
              </a:rPr>
              <a:t>梯形图；</a:t>
            </a:r>
            <a:r>
              <a:rPr lang="en-US" altLang="zh-CN" sz="3200" dirty="0">
                <a:latin typeface="Arial" panose="020B0604020202020204" pitchFamily="34" charset="0"/>
                <a:ea typeface="宋体" panose="02010600030101010101" pitchFamily="2" charset="-122"/>
              </a:rPr>
              <a:t>(b)</a:t>
            </a:r>
            <a:r>
              <a:rPr lang="zh-CN" altLang="en-US" sz="3200" dirty="0">
                <a:latin typeface="Arial" panose="020B0604020202020204" pitchFamily="34" charset="0"/>
                <a:ea typeface="宋体" panose="02010600030101010101" pitchFamily="2" charset="-122"/>
              </a:rPr>
              <a:t>时序图</a:t>
            </a: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p:cNvSpPr>
          <p:nvPr>
            <p:ph idx="1"/>
          </p:nvPr>
        </p:nvSpPr>
        <p:spPr>
          <a:xfrm>
            <a:off x="395288" y="908050"/>
            <a:ext cx="8229600" cy="5592763"/>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   </a:t>
            </a:r>
            <a:r>
              <a:rPr lang="zh-CN" altLang="en-US" b="1" dirty="0">
                <a:latin typeface="Times New Roman" panose="02020603050405020304" pitchFamily="18" charset="0"/>
              </a:rPr>
              <a:t>一般而言，输入</a:t>
            </a:r>
            <a:r>
              <a:rPr lang="en-US" altLang="zh-CN" b="1" dirty="0">
                <a:latin typeface="Times New Roman" panose="02020603050405020304" pitchFamily="18" charset="0"/>
              </a:rPr>
              <a:t>/</a:t>
            </a:r>
            <a:r>
              <a:rPr lang="zh-CN" altLang="en-US" b="1" dirty="0">
                <a:latin typeface="Times New Roman" panose="02020603050405020304" pitchFamily="18" charset="0"/>
              </a:rPr>
              <a:t>输出滞后的最大滞后时间为</a:t>
            </a:r>
            <a:r>
              <a:rPr lang="en-US" altLang="zh-CN" b="1" dirty="0">
                <a:latin typeface="Times New Roman" panose="02020603050405020304" pitchFamily="18" charset="0"/>
              </a:rPr>
              <a:t>2~3</a:t>
            </a:r>
            <a:r>
              <a:rPr lang="zh-CN" altLang="en-US" b="1" dirty="0">
                <a:latin typeface="Times New Roman" panose="02020603050405020304" pitchFamily="18" charset="0"/>
              </a:rPr>
              <a:t>个周期，这与编程方法有关。</a:t>
            </a:r>
          </a:p>
          <a:p>
            <a:pPr eaLnBrk="1" hangingPunct="1">
              <a:buNone/>
            </a:pPr>
            <a:r>
              <a:rPr lang="zh-CN" altLang="en-US" b="1" dirty="0">
                <a:latin typeface="Times New Roman" panose="02020603050405020304" pitchFamily="18" charset="0"/>
              </a:rPr>
              <a:t>  （</a:t>
            </a:r>
            <a:r>
              <a:rPr lang="en-US" altLang="zh-CN" b="1" dirty="0">
                <a:latin typeface="Times New Roman" panose="02020603050405020304" pitchFamily="18" charset="0"/>
              </a:rPr>
              <a:t>2</a:t>
            </a:r>
            <a:r>
              <a:rPr lang="zh-CN" altLang="en-US" b="1" dirty="0">
                <a:latin typeface="Times New Roman" panose="02020603050405020304" pitchFamily="18" charset="0"/>
              </a:rPr>
              <a:t>）产生输入</a:t>
            </a:r>
            <a:r>
              <a:rPr lang="en-US" altLang="zh-CN" b="1" dirty="0">
                <a:latin typeface="Times New Roman" panose="02020603050405020304" pitchFamily="18" charset="0"/>
              </a:rPr>
              <a:t>/</a:t>
            </a:r>
            <a:r>
              <a:rPr lang="zh-CN" altLang="en-US" b="1" dirty="0">
                <a:latin typeface="Times New Roman" panose="02020603050405020304" pitchFamily="18" charset="0"/>
              </a:rPr>
              <a:t>输出响应滞后的其他原因还有输入滤波器电路的滞后作用及输出继电器的机械滞后等。</a:t>
            </a: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文本框 4"/>
          <p:cNvSpPr txBox="1"/>
          <p:nvPr>
            <p:custDataLst>
              <p:tags r:id="rId2"/>
            </p:custDataLst>
          </p:nvPr>
        </p:nvSpPr>
        <p:spPr>
          <a:xfrm>
            <a:off x="914400" y="635000"/>
            <a:ext cx="7315200" cy="2143125"/>
          </a:xfrm>
          <a:prstGeom prst="rect">
            <a:avLst/>
          </a:prstGeom>
          <a:noFill/>
          <a:ln w="9525">
            <a:noFill/>
          </a:ln>
        </p:spPr>
        <p:txBody>
          <a:bodyPr anchor="ctr" anchorCtr="0"/>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PLC</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的工作过程分为：</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填空</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1]</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填空</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2]</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填空</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3]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三个阶段。</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圆角矩形 5"/>
          <p:cNvSpPr/>
          <p:nvPr>
            <p:custDataLst>
              <p:tags r:id="rId3"/>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作答</a:t>
            </a:r>
          </a:p>
        </p:txBody>
      </p:sp>
      <p:sp>
        <p:nvSpPr>
          <p:cNvPr id="12" name="矩形 11"/>
          <p:cNvSpPr/>
          <p:nvPr>
            <p:custDataLst>
              <p:tags r:id="rId4"/>
            </p:custDataLst>
          </p:nvPr>
        </p:nvSpPr>
        <p:spPr>
          <a:xfrm>
            <a:off x="0" y="5849938"/>
            <a:ext cx="9144000" cy="365125"/>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1" forceAA="0" compatLnSpc="1">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rgbClr val="F84F4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正常使用填空题需</a:t>
            </a:r>
            <a:r>
              <a:rPr kumimoji="0" lang="en-US" altLang="zh-CN" sz="1200" b="0" i="0" u="none" strike="noStrike" kern="1200" cap="none" spc="0" normalizeH="0" baseline="0" noProof="0">
                <a:ln>
                  <a:noFill/>
                </a:ln>
                <a:solidFill>
                  <a:srgbClr val="F84F4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3.0</a:t>
            </a:r>
            <a:r>
              <a:rPr kumimoji="0" lang="zh-CN" altLang="en-US" sz="1200" b="0" i="0" u="none" strike="noStrike" kern="1200" cap="none" spc="0" normalizeH="0" baseline="0" noProof="0">
                <a:ln>
                  <a:noFill/>
                </a:ln>
                <a:solidFill>
                  <a:srgbClr val="F84F4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以上版本雨课堂</a:t>
            </a:r>
          </a:p>
        </p:txBody>
      </p:sp>
      <p:grpSp>
        <p:nvGrpSpPr>
          <p:cNvPr id="80900" name="组合 10"/>
          <p:cNvGrpSpPr/>
          <p:nvPr/>
        </p:nvGrpSpPr>
        <p:grpSpPr>
          <a:xfrm>
            <a:off x="0" y="0"/>
            <a:ext cx="9144000" cy="635000"/>
            <a:chOff x="0" y="0"/>
            <a:chExt cx="9144000" cy="635000"/>
          </a:xfrm>
        </p:grpSpPr>
        <p:sp>
          <p:nvSpPr>
            <p:cNvPr id="7"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0903" name="TypeText"/>
            <p:cNvSpPr txBox="1"/>
            <p:nvPr>
              <p:custDataLst>
                <p:tags r:id="rId8"/>
              </p:custDataLst>
            </p:nvPr>
          </p:nvSpPr>
          <p:spPr>
            <a:xfrm>
              <a:off x="254000" y="0"/>
              <a:ext cx="1905000" cy="635000"/>
            </a:xfrm>
            <a:prstGeom prst="rect">
              <a:avLst/>
            </a:prstGeom>
            <a:noFill/>
            <a:ln w="9525">
              <a:noFill/>
            </a:ln>
          </p:spPr>
          <p:txBody>
            <a:bodyPr wrap="none"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p>
          </p:txBody>
        </p:sp>
        <p:sp>
          <p:nvSpPr>
            <p:cNvPr id="80904" name="TipText"/>
            <p:cNvSpPr txBox="1"/>
            <p:nvPr>
              <p:custDataLst>
                <p:tags r:id="rId9"/>
              </p:custDataLst>
            </p:nvPr>
          </p:nvSpPr>
          <p:spPr>
            <a:xfrm>
              <a:off x="1427480" y="109220"/>
              <a:ext cx="2286000" cy="508000"/>
            </a:xfrm>
            <a:prstGeom prst="rect">
              <a:avLst/>
            </a:prstGeom>
            <a:noFill/>
            <a:ln w="9525">
              <a:noFill/>
            </a:ln>
          </p:spPr>
          <p:txBody>
            <a:bodyPr wrap="none" anchor="ctr" anchorCtr="0"/>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80905" name="图片 3"/>
          <p:cNvPicPr/>
          <p:nvPr>
            <p:custDataLst>
              <p:tags r:id="rId5"/>
            </p:custDataLst>
          </p:nvPr>
        </p:nvPicPr>
        <p:blipFill>
          <a:blip r:embed="rId11"/>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3"/>
          <p:cNvSpPr>
            <a:spLocks noGrp="1"/>
          </p:cNvSpPr>
          <p:nvPr>
            <p:ph idx="1"/>
          </p:nvPr>
        </p:nvSpPr>
        <p:spPr>
          <a:xfrm>
            <a:off x="457200" y="533400"/>
            <a:ext cx="8229600" cy="5592763"/>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2.4   </a:t>
            </a:r>
            <a:r>
              <a:rPr lang="zh-CN" altLang="en-US" b="1" dirty="0">
                <a:latin typeface="Times New Roman" panose="02020603050405020304" pitchFamily="18" charset="0"/>
              </a:rPr>
              <a:t>可编程序控制器的编程语言</a:t>
            </a:r>
          </a:p>
          <a:p>
            <a:pPr eaLnBrk="1" hangingPunct="1">
              <a:buNone/>
            </a:pPr>
            <a:r>
              <a:rPr lang="zh-CN" altLang="en-US" b="1" dirty="0">
                <a:latin typeface="Times New Roman" panose="02020603050405020304" pitchFamily="18" charset="0"/>
              </a:rPr>
              <a:t>            </a:t>
            </a:r>
            <a:r>
              <a:rPr lang="en-US" altLang="zh-CN" b="1" dirty="0">
                <a:latin typeface="Times New Roman" panose="02020603050405020304" pitchFamily="18" charset="0"/>
              </a:rPr>
              <a:t>PLC</a:t>
            </a:r>
            <a:r>
              <a:rPr lang="zh-CN" altLang="en-US" b="1" dirty="0">
                <a:latin typeface="Times New Roman" panose="02020603050405020304" pitchFamily="18" charset="0"/>
              </a:rPr>
              <a:t>是为工业环境而设计的自动控制装置，其主要使用的对象是广大电气技术人员及操作维护人员。为了满足他们的传统习惯，</a:t>
            </a:r>
            <a:r>
              <a:rPr lang="zh-CN" altLang="en-US" b="1" dirty="0">
                <a:solidFill>
                  <a:srgbClr val="FF0000"/>
                </a:solidFill>
                <a:latin typeface="Times New Roman" panose="02020603050405020304" pitchFamily="18" charset="0"/>
              </a:rPr>
              <a:t>通常</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不采用微机的编程语言，而采用面向控制过程、面向问题的“自然语言”编程，这些编程语言有梯形图</a:t>
            </a:r>
            <a:r>
              <a:rPr lang="en-US" altLang="zh-CN" b="1" dirty="0">
                <a:solidFill>
                  <a:srgbClr val="FF0000"/>
                </a:solidFill>
                <a:latin typeface="Times New Roman" panose="02020603050405020304" pitchFamily="18" charset="0"/>
              </a:rPr>
              <a:t>LAD</a:t>
            </a:r>
            <a:r>
              <a:rPr lang="zh-CN" altLang="en-US" b="1" dirty="0">
                <a:solidFill>
                  <a:srgbClr val="FF0000"/>
                </a:solidFill>
                <a:latin typeface="Times New Roman" panose="02020603050405020304" pitchFamily="18" charset="0"/>
              </a:rPr>
              <a:t>、语句表</a:t>
            </a:r>
            <a:r>
              <a:rPr lang="en-US" altLang="zh-CN" b="1" dirty="0">
                <a:solidFill>
                  <a:srgbClr val="FF0000"/>
                </a:solidFill>
                <a:latin typeface="Times New Roman" panose="02020603050405020304" pitchFamily="18" charset="0"/>
              </a:rPr>
              <a:t>STL</a:t>
            </a:r>
            <a:r>
              <a:rPr lang="zh-CN" altLang="en-US" b="1" dirty="0">
                <a:solidFill>
                  <a:srgbClr val="FF0000"/>
                </a:solidFill>
                <a:latin typeface="Times New Roman" panose="02020603050405020304" pitchFamily="18" charset="0"/>
              </a:rPr>
              <a:t>、功能块图</a:t>
            </a:r>
            <a:r>
              <a:rPr lang="en-US" altLang="zh-CN" b="1" dirty="0">
                <a:solidFill>
                  <a:srgbClr val="FF0000"/>
                </a:solidFill>
                <a:latin typeface="Times New Roman" panose="02020603050405020304" pitchFamily="18" charset="0"/>
              </a:rPr>
              <a:t>FBD</a:t>
            </a:r>
            <a:r>
              <a:rPr lang="zh-CN" altLang="en-US" b="1" dirty="0">
                <a:solidFill>
                  <a:srgbClr val="FF0000"/>
                </a:solidFill>
                <a:latin typeface="Times New Roman" panose="02020603050405020304" pitchFamily="18" charset="0"/>
              </a:rPr>
              <a:t>、逻辑方程式或布尔代数式等。</a:t>
            </a:r>
            <a:r>
              <a:rPr lang="zh-CN" altLang="en-US" b="1" dirty="0">
                <a:latin typeface="Times New Roman" panose="02020603050405020304" pitchFamily="18" charset="0"/>
              </a:rPr>
              <a:t>下面介绍</a:t>
            </a:r>
            <a:r>
              <a:rPr lang="en-US" altLang="zh-CN" b="1" dirty="0">
                <a:latin typeface="Times New Roman" panose="02020603050405020304" pitchFamily="18" charset="0"/>
              </a:rPr>
              <a:t>PLC</a:t>
            </a:r>
            <a:r>
              <a:rPr lang="zh-CN" altLang="en-US" b="1" dirty="0">
                <a:latin typeface="Times New Roman" panose="02020603050405020304" pitchFamily="18" charset="0"/>
              </a:rPr>
              <a:t>常用的几种编程语言。</a:t>
            </a:r>
          </a:p>
          <a:p>
            <a:pPr eaLnBrk="1" hangingPunct="1">
              <a:buNone/>
            </a:pPr>
            <a:endParaRPr lang="en-US" altLang="zh-CN" b="1" dirty="0">
              <a:latin typeface="Times New Roman" panose="02020603050405020304" pitchFamily="18" charset="0"/>
            </a:endParaRP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p:cNvSpPr>
          <p:nvPr>
            <p:ph idx="1"/>
          </p:nvPr>
        </p:nvSpPr>
        <p:spPr>
          <a:xfrm>
            <a:off x="457200" y="533400"/>
            <a:ext cx="8229600" cy="5592763"/>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2.4.1   </a:t>
            </a:r>
            <a:r>
              <a:rPr lang="zh-CN" altLang="en-US" b="1" dirty="0">
                <a:latin typeface="Times New Roman" panose="02020603050405020304" pitchFamily="18" charset="0"/>
              </a:rPr>
              <a:t>梯形图</a:t>
            </a:r>
          </a:p>
          <a:p>
            <a:pPr eaLnBrk="1" hangingPunct="1">
              <a:buNone/>
            </a:pPr>
            <a:r>
              <a:rPr lang="zh-CN" altLang="en-US" b="1" dirty="0">
                <a:latin typeface="Times New Roman" panose="02020603050405020304" pitchFamily="18" charset="0"/>
              </a:rPr>
              <a:t>            梯形图是一种图形语言，它在形式上类似于传统的继电器控制电路，但它比继电器控制电路增加了许多功能强而又使用灵活的指令符号，如图</a:t>
            </a:r>
            <a:r>
              <a:rPr lang="en-US" altLang="zh-CN" b="1" dirty="0">
                <a:latin typeface="Times New Roman" panose="02020603050405020304" pitchFamily="18" charset="0"/>
              </a:rPr>
              <a:t>2.18</a:t>
            </a:r>
            <a:r>
              <a:rPr lang="zh-CN" altLang="en-US" b="1" dirty="0">
                <a:latin typeface="Times New Roman" panose="02020603050405020304" pitchFamily="18" charset="0"/>
              </a:rPr>
              <a:t>所示。</a:t>
            </a:r>
          </a:p>
          <a:p>
            <a:pPr eaLnBrk="1" hangingPunct="1">
              <a:buNone/>
            </a:pPr>
            <a:endParaRPr lang="en-US" altLang="zh-CN" b="1" dirty="0">
              <a:latin typeface="Times New Roman" panose="02020603050405020304" pitchFamily="18" charset="0"/>
            </a:endParaRPr>
          </a:p>
        </p:txBody>
      </p:sp>
      <p:pic>
        <p:nvPicPr>
          <p:cNvPr id="82946" name="Picture 3" descr="2-18"/>
          <p:cNvPicPr>
            <a:picLocks noChangeAspect="1"/>
          </p:cNvPicPr>
          <p:nvPr/>
        </p:nvPicPr>
        <p:blipFill>
          <a:blip r:embed="rId2"/>
          <a:stretch>
            <a:fillRect/>
          </a:stretch>
        </p:blipFill>
        <p:spPr>
          <a:xfrm>
            <a:off x="2771775" y="3573463"/>
            <a:ext cx="3024188" cy="2363787"/>
          </a:xfrm>
          <a:prstGeom prst="rect">
            <a:avLst/>
          </a:prstGeom>
          <a:noFill/>
          <a:ln w="9525">
            <a:noFill/>
          </a:ln>
        </p:spPr>
      </p:pic>
      <p:sp>
        <p:nvSpPr>
          <p:cNvPr id="82947" name="Rectangle 4"/>
          <p:cNvSpPr/>
          <p:nvPr/>
        </p:nvSpPr>
        <p:spPr>
          <a:xfrm>
            <a:off x="2771775" y="5949950"/>
            <a:ext cx="2595563" cy="519113"/>
          </a:xfrm>
          <a:prstGeom prst="rect">
            <a:avLst/>
          </a:prstGeom>
          <a:noFill/>
          <a:ln w="9525">
            <a:noFill/>
          </a:ln>
        </p:spPr>
        <p:txBody>
          <a:bodyPr wrap="none" anchor="t" anchorCtr="0">
            <a:spAutoFit/>
          </a:bodyPr>
          <a:lstStyle/>
          <a:p>
            <a:r>
              <a:rPr lang="zh-CN" altLang="en-US" sz="2800" dirty="0">
                <a:latin typeface="Arial" panose="020B0604020202020204" pitchFamily="34" charset="0"/>
                <a:ea typeface="宋体" panose="02010600030101010101" pitchFamily="2" charset="-122"/>
              </a:rPr>
              <a:t>图</a:t>
            </a:r>
            <a:r>
              <a:rPr lang="en-US" altLang="zh-CN" sz="2800" dirty="0">
                <a:latin typeface="Arial" panose="020B0604020202020204" pitchFamily="34" charset="0"/>
                <a:ea typeface="宋体" panose="02010600030101010101" pitchFamily="2" charset="-122"/>
              </a:rPr>
              <a:t>2.18   </a:t>
            </a:r>
            <a:r>
              <a:rPr lang="zh-CN" altLang="en-US" sz="2800" dirty="0">
                <a:latin typeface="Arial" panose="020B0604020202020204" pitchFamily="34" charset="0"/>
                <a:ea typeface="宋体" panose="02010600030101010101" pitchFamily="2" charset="-122"/>
              </a:rPr>
              <a:t>梯形图</a:t>
            </a: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p:cNvSpPr>
          <p:nvPr>
            <p:ph idx="1"/>
          </p:nvPr>
        </p:nvSpPr>
        <p:spPr>
          <a:xfrm>
            <a:off x="457200" y="533400"/>
            <a:ext cx="8229600" cy="5592763"/>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rPr>
              <a:t>2.4.2   </a:t>
            </a:r>
            <a:r>
              <a:rPr lang="zh-CN" altLang="en-US" b="1" dirty="0">
                <a:latin typeface="Times New Roman" panose="02020603050405020304" pitchFamily="18" charset="0"/>
              </a:rPr>
              <a:t>语句表</a:t>
            </a:r>
          </a:p>
          <a:p>
            <a:pPr eaLnBrk="1" hangingPunct="1">
              <a:buNone/>
            </a:pPr>
            <a:r>
              <a:rPr lang="zh-CN" altLang="en-US" b="1" dirty="0">
                <a:latin typeface="Times New Roman" panose="02020603050405020304" pitchFamily="18" charset="0"/>
              </a:rPr>
              <a:t>            </a:t>
            </a:r>
            <a:r>
              <a:rPr lang="zh-CN" altLang="en-US" b="1" dirty="0">
                <a:solidFill>
                  <a:srgbClr val="FF0000"/>
                </a:solidFill>
                <a:latin typeface="Times New Roman" panose="02020603050405020304" pitchFamily="18" charset="0"/>
              </a:rPr>
              <a:t>语句表允许用户用指令助记符编写控制程序，通常也称为助记符语言。它是用来表示</a:t>
            </a:r>
            <a:r>
              <a:rPr lang="en-US" altLang="zh-CN" b="1" dirty="0">
                <a:solidFill>
                  <a:srgbClr val="FF0000"/>
                </a:solidFill>
                <a:latin typeface="Times New Roman" panose="02020603050405020304" pitchFamily="18" charset="0"/>
              </a:rPr>
              <a:t>PLC</a:t>
            </a:r>
            <a:r>
              <a:rPr lang="zh-CN" altLang="en-US" b="1" dirty="0">
                <a:solidFill>
                  <a:srgbClr val="FF0000"/>
                </a:solidFill>
                <a:latin typeface="Times New Roman" panose="02020603050405020304" pitchFamily="18" charset="0"/>
              </a:rPr>
              <a:t>中不同的助记符功能缩写符号和相应器件编号组成的程序表达式，如图</a:t>
            </a:r>
            <a:r>
              <a:rPr lang="en-US" altLang="zh-CN" b="1" dirty="0">
                <a:solidFill>
                  <a:srgbClr val="FF0000"/>
                </a:solidFill>
                <a:latin typeface="Times New Roman" panose="02020603050405020304" pitchFamily="18" charset="0"/>
              </a:rPr>
              <a:t>2.19</a:t>
            </a:r>
            <a:r>
              <a:rPr lang="zh-CN" altLang="en-US" b="1" dirty="0">
                <a:solidFill>
                  <a:srgbClr val="FF0000"/>
                </a:solidFill>
                <a:latin typeface="Times New Roman" panose="02020603050405020304" pitchFamily="18" charset="0"/>
              </a:rPr>
              <a:t>中的</a:t>
            </a:r>
            <a:r>
              <a:rPr lang="en-US" altLang="zh-CN" b="1" dirty="0">
                <a:solidFill>
                  <a:srgbClr val="FF0000"/>
                </a:solidFill>
                <a:latin typeface="Times New Roman" panose="02020603050405020304" pitchFamily="18" charset="0"/>
              </a:rPr>
              <a:t>LD  X0</a:t>
            </a:r>
            <a:r>
              <a:rPr lang="zh-CN" altLang="en-US" b="1" dirty="0">
                <a:solidFill>
                  <a:srgbClr val="FF0000"/>
                </a:solidFill>
                <a:latin typeface="Times New Roman" panose="02020603050405020304" pitchFamily="18" charset="0"/>
              </a:rPr>
              <a:t>等。</a:t>
            </a:r>
            <a:r>
              <a:rPr lang="zh-CN" altLang="en-US" b="1" dirty="0">
                <a:latin typeface="Times New Roman" panose="02020603050405020304" pitchFamily="18" charset="0"/>
              </a:rPr>
              <a:t>语句表编程对经验丰富的程序员更合适。与图</a:t>
            </a:r>
            <a:r>
              <a:rPr lang="en-US" altLang="zh-CN" b="1" dirty="0">
                <a:latin typeface="Times New Roman" panose="02020603050405020304" pitchFamily="18" charset="0"/>
              </a:rPr>
              <a:t>2.18</a:t>
            </a:r>
            <a:r>
              <a:rPr lang="zh-CN" altLang="en-US" b="1" dirty="0">
                <a:latin typeface="Times New Roman" panose="02020603050405020304" pitchFamily="18" charset="0"/>
              </a:rPr>
              <a:t>的梯形图对应的语句表如图</a:t>
            </a:r>
            <a:r>
              <a:rPr lang="en-US" altLang="zh-CN" b="1" dirty="0">
                <a:latin typeface="Times New Roman" panose="02020603050405020304" pitchFamily="18" charset="0"/>
              </a:rPr>
              <a:t>2.19</a:t>
            </a:r>
            <a:r>
              <a:rPr lang="zh-CN" altLang="en-US" b="1" dirty="0">
                <a:latin typeface="Times New Roman" panose="02020603050405020304" pitchFamily="18" charset="0"/>
              </a:rPr>
              <a:t>所示。</a:t>
            </a:r>
          </a:p>
          <a:p>
            <a:pPr eaLnBrk="1" hangingPunct="1">
              <a:buNone/>
            </a:pPr>
            <a:endParaRPr lang="en-US" altLang="zh-CN" b="1" dirty="0">
              <a:latin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113" name="Object 4"/>
          <p:cNvGraphicFramePr>
            <a:graphicFrameLocks noChangeAspect="1"/>
          </p:cNvGraphicFramePr>
          <p:nvPr/>
        </p:nvGraphicFramePr>
        <p:xfrm>
          <a:off x="3048000" y="838200"/>
          <a:ext cx="2876550" cy="3994150"/>
        </p:xfrm>
        <a:graphic>
          <a:graphicData uri="http://schemas.openxmlformats.org/presentationml/2006/ole">
            <mc:AlternateContent xmlns:mc="http://schemas.openxmlformats.org/markup-compatibility/2006">
              <mc:Choice xmlns:v="urn:schemas-microsoft-com:vml" Requires="v">
                <p:oleObj spid="_x0000_s5125" r:id="rId3" imgW="4453890" imgH="6184265" progId="Photoshop.Image.7">
                  <p:embed/>
                </p:oleObj>
              </mc:Choice>
              <mc:Fallback>
                <p:oleObj r:id="rId3" imgW="4453890" imgH="6184265" progId="Photoshop.Image.7">
                  <p:embed/>
                  <p:pic>
                    <p:nvPicPr>
                      <p:cNvPr id="0" name="图片 3077"/>
                      <p:cNvPicPr/>
                      <p:nvPr/>
                    </p:nvPicPr>
                    <p:blipFill>
                      <a:blip r:embed="rId4"/>
                      <a:stretch>
                        <a:fillRect/>
                      </a:stretch>
                    </p:blipFill>
                    <p:spPr>
                      <a:xfrm>
                        <a:off x="3048000" y="838200"/>
                        <a:ext cx="2876550" cy="3994150"/>
                      </a:xfrm>
                      <a:prstGeom prst="rect">
                        <a:avLst/>
                      </a:prstGeom>
                      <a:noFill/>
                      <a:ln w="38100">
                        <a:noFill/>
                        <a:miter/>
                      </a:ln>
                    </p:spPr>
                  </p:pic>
                </p:oleObj>
              </mc:Fallback>
            </mc:AlternateContent>
          </a:graphicData>
        </a:graphic>
      </p:graphicFrame>
      <p:sp>
        <p:nvSpPr>
          <p:cNvPr id="90114" name="Rectangle 5"/>
          <p:cNvSpPr/>
          <p:nvPr/>
        </p:nvSpPr>
        <p:spPr>
          <a:xfrm>
            <a:off x="3200400" y="4953000"/>
            <a:ext cx="2936875" cy="579438"/>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宋体" panose="02010600030101010101" pitchFamily="2" charset="-122"/>
              </a:rPr>
              <a:t>图</a:t>
            </a:r>
            <a:r>
              <a:rPr lang="en-US" altLang="zh-CN" sz="3200" dirty="0">
                <a:latin typeface="Arial" panose="020B0604020202020204" pitchFamily="34" charset="0"/>
                <a:ea typeface="宋体" panose="02010600030101010101" pitchFamily="2" charset="-122"/>
              </a:rPr>
              <a:t>2.19   </a:t>
            </a:r>
            <a:r>
              <a:rPr lang="zh-CN" altLang="en-US" sz="3200" dirty="0">
                <a:latin typeface="Arial" panose="020B0604020202020204" pitchFamily="34" charset="0"/>
                <a:ea typeface="宋体" panose="02010600030101010101" pitchFamily="2" charset="-122"/>
              </a:rPr>
              <a:t>语句表</a:t>
            </a: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p:cNvSpPr>
          <p:nvPr>
            <p:ph type="body" sz="half" idx="1"/>
          </p:nvPr>
        </p:nvSpPr>
        <p:spPr>
          <a:xfrm>
            <a:off x="676275" y="620713"/>
            <a:ext cx="8029575" cy="3886200"/>
          </a:xfrm>
        </p:spPr>
        <p:txBody>
          <a:bodyPr vert="horz" wrap="square" lIns="91440" tIns="45720" rIns="91440" bIns="45720" anchor="t" anchorCtr="0"/>
          <a:lstStyle/>
          <a:p>
            <a:pPr eaLnBrk="1" hangingPunct="1">
              <a:lnSpc>
                <a:spcPct val="90000"/>
              </a:lnSpc>
              <a:buClr>
                <a:schemeClr val="bg2"/>
              </a:buClr>
              <a:buSzPct val="75000"/>
              <a:buFont typeface="Wingdings" panose="05000000000000000000" pitchFamily="2" charset="2"/>
              <a:buNone/>
            </a:pPr>
            <a:r>
              <a:rPr lang="en-US" altLang="zh-CN" sz="2800" b="1" dirty="0">
                <a:latin typeface="Times New Roman" panose="02020603050405020304" pitchFamily="18" charset="0"/>
              </a:rPr>
              <a:t>2.4.3   </a:t>
            </a:r>
            <a:r>
              <a:rPr lang="zh-CN" altLang="en-US" sz="2800" b="1" dirty="0">
                <a:latin typeface="Times New Roman" panose="02020603050405020304" pitchFamily="18" charset="0"/>
              </a:rPr>
              <a:t>顺序功能图（</a:t>
            </a:r>
            <a:r>
              <a:rPr lang="en-US" altLang="zh-CN" sz="2800" b="1" dirty="0">
                <a:latin typeface="Times New Roman" panose="02020603050405020304" pitchFamily="18" charset="0"/>
              </a:rPr>
              <a:t>SFC</a:t>
            </a:r>
            <a:r>
              <a:rPr lang="zh-CN" altLang="en-US" sz="2800" b="1" dirty="0">
                <a:latin typeface="Times New Roman" panose="02020603050405020304" pitchFamily="18" charset="0"/>
              </a:rPr>
              <a:t>）</a:t>
            </a:r>
          </a:p>
          <a:p>
            <a:pPr eaLnBrk="1" hangingPunct="1">
              <a:lnSpc>
                <a:spcPct val="90000"/>
              </a:lnSpc>
              <a:buClr>
                <a:schemeClr val="bg2"/>
              </a:buClr>
              <a:buSzPct val="75000"/>
              <a:buFont typeface="Wingdings" panose="05000000000000000000" pitchFamily="2" charset="2"/>
              <a:buNone/>
            </a:pPr>
            <a:r>
              <a:rPr lang="zh-CN" altLang="en-US" sz="2800" b="1" dirty="0">
                <a:latin typeface="Times New Roman" panose="02020603050405020304" pitchFamily="18" charset="0"/>
              </a:rPr>
              <a:t>顺序功能图适合于时序混合型的多进程复杂控制。</a:t>
            </a:r>
            <a:endParaRPr lang="en-US" altLang="zh-CN" sz="2800" b="1" dirty="0">
              <a:latin typeface="Times New Roman" panose="02020603050405020304" pitchFamily="18" charset="0"/>
            </a:endParaRPr>
          </a:p>
          <a:p>
            <a:pPr eaLnBrk="1" hangingPunct="1">
              <a:lnSpc>
                <a:spcPct val="90000"/>
              </a:lnSpc>
              <a:buClr>
                <a:schemeClr val="bg2"/>
              </a:buClr>
              <a:buSzPct val="75000"/>
              <a:buFont typeface="Wingdings" panose="05000000000000000000" pitchFamily="2" charset="2"/>
              <a:buNone/>
            </a:pPr>
            <a:r>
              <a:rPr lang="en-US" altLang="zh-CN" sz="2800" b="1" dirty="0">
                <a:latin typeface="Times New Roman" panose="02020603050405020304" pitchFamily="18" charset="0"/>
              </a:rPr>
              <a:t>2.4.4 </a:t>
            </a:r>
            <a:r>
              <a:rPr lang="zh-CN" altLang="en-US" sz="2800" b="1" dirty="0">
                <a:latin typeface="Times New Roman" panose="02020603050405020304" pitchFamily="18" charset="0"/>
              </a:rPr>
              <a:t>其他编程语言</a:t>
            </a:r>
          </a:p>
          <a:p>
            <a:pPr eaLnBrk="1" hangingPunct="1">
              <a:lnSpc>
                <a:spcPct val="90000"/>
              </a:lnSpc>
              <a:buClr>
                <a:schemeClr val="bg2"/>
              </a:buClr>
              <a:buSzPct val="75000"/>
              <a:buFont typeface="Wingdings" panose="05000000000000000000" pitchFamily="2" charset="2"/>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）逻辑方程式或布尔代数式</a:t>
            </a:r>
          </a:p>
          <a:p>
            <a:pPr eaLnBrk="1" hangingPunct="1">
              <a:lnSpc>
                <a:spcPct val="90000"/>
              </a:lnSpc>
              <a:buClr>
                <a:schemeClr val="bg2"/>
              </a:buClr>
              <a:buSzPct val="75000"/>
              <a:buFont typeface="Wingdings" panose="05000000000000000000" pitchFamily="2" charset="2"/>
            </a:pPr>
            <a:r>
              <a:rPr lang="zh-CN" altLang="en-US" sz="2800" b="1" dirty="0">
                <a:latin typeface="Times New Roman" panose="02020603050405020304" pitchFamily="18" charset="0"/>
              </a:rPr>
              <a:t>对应于图</a:t>
            </a:r>
            <a:r>
              <a:rPr lang="en-US" altLang="zh-CN" sz="2800" b="1" dirty="0">
                <a:latin typeface="Times New Roman" panose="02020603050405020304" pitchFamily="18" charset="0"/>
              </a:rPr>
              <a:t>2.18</a:t>
            </a:r>
            <a:r>
              <a:rPr lang="zh-CN" altLang="en-US" sz="2800" b="1" dirty="0">
                <a:latin typeface="Times New Roman" panose="02020603050405020304" pitchFamily="18" charset="0"/>
              </a:rPr>
              <a:t>的逻辑方程式为：</a:t>
            </a:r>
          </a:p>
          <a:p>
            <a:pPr eaLnBrk="1" hangingPunct="1">
              <a:lnSpc>
                <a:spcPct val="90000"/>
              </a:lnSpc>
              <a:buClr>
                <a:schemeClr val="bg2"/>
              </a:buClr>
              <a:buSzPct val="75000"/>
              <a:buFont typeface="Wingdings" panose="05000000000000000000" pitchFamily="2" charset="2"/>
              <a:buNone/>
            </a:pPr>
            <a:endParaRPr lang="zh-CN" altLang="en-US" sz="2800" b="1" dirty="0">
              <a:latin typeface="Times New Roman" panose="02020603050405020304" pitchFamily="18" charset="0"/>
            </a:endParaRPr>
          </a:p>
          <a:p>
            <a:pPr eaLnBrk="1" hangingPunct="1">
              <a:lnSpc>
                <a:spcPct val="90000"/>
              </a:lnSpc>
              <a:buClr>
                <a:schemeClr val="bg2"/>
              </a:buClr>
              <a:buSzPct val="75000"/>
              <a:buFont typeface="Wingdings" panose="05000000000000000000" pitchFamily="2" charset="2"/>
            </a:pPr>
            <a:endParaRPr lang="zh-CN" altLang="en-US" sz="2800" b="1" dirty="0">
              <a:latin typeface="Times New Roman" panose="02020603050405020304" pitchFamily="18" charset="0"/>
            </a:endParaRPr>
          </a:p>
          <a:p>
            <a:pPr eaLnBrk="1" hangingPunct="1">
              <a:lnSpc>
                <a:spcPct val="90000"/>
              </a:lnSpc>
              <a:buClr>
                <a:schemeClr val="bg2"/>
              </a:buClr>
              <a:buSzPct val="75000"/>
              <a:buFont typeface="Wingdings" panose="05000000000000000000" pitchFamily="2" charset="2"/>
            </a:pPr>
            <a:endParaRPr lang="zh-CN" altLang="en-US" sz="2800" b="1" dirty="0">
              <a:latin typeface="Times New Roman" panose="02020603050405020304" pitchFamily="18" charset="0"/>
            </a:endParaRPr>
          </a:p>
          <a:p>
            <a:pPr eaLnBrk="1" hangingPunct="1">
              <a:lnSpc>
                <a:spcPct val="90000"/>
              </a:lnSpc>
              <a:buClr>
                <a:schemeClr val="bg2"/>
              </a:buClr>
              <a:buSzPct val="75000"/>
              <a:buFont typeface="Wingdings" panose="05000000000000000000" pitchFamily="2" charset="2"/>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2</a:t>
            </a:r>
            <a:r>
              <a:rPr lang="zh-CN" altLang="en-US" sz="2800" b="1" dirty="0">
                <a:latin typeface="Times New Roman" panose="02020603050405020304" pitchFamily="18" charset="0"/>
              </a:rPr>
              <a:t>）高级语言</a:t>
            </a:r>
          </a:p>
          <a:p>
            <a:pPr eaLnBrk="1" hangingPunct="1">
              <a:lnSpc>
                <a:spcPct val="90000"/>
              </a:lnSpc>
              <a:buClr>
                <a:schemeClr val="bg2"/>
              </a:buClr>
              <a:buSzPct val="75000"/>
              <a:buFont typeface="Wingdings" panose="05000000000000000000" pitchFamily="2" charset="2"/>
            </a:pPr>
            <a:endParaRPr lang="zh-CN" altLang="en-US" sz="2800" b="1" dirty="0">
              <a:latin typeface="Times New Roman" panose="02020603050405020304" pitchFamily="18" charset="0"/>
            </a:endParaRPr>
          </a:p>
          <a:p>
            <a:pPr eaLnBrk="1" hangingPunct="1">
              <a:lnSpc>
                <a:spcPct val="90000"/>
              </a:lnSpc>
              <a:buClr>
                <a:schemeClr val="bg2"/>
              </a:buClr>
              <a:buSzPct val="75000"/>
              <a:buFont typeface="Wingdings" panose="05000000000000000000" pitchFamily="2" charset="2"/>
            </a:pPr>
            <a:endParaRPr lang="zh-CN" altLang="en-US" sz="2800" b="1" dirty="0">
              <a:latin typeface="Times New Roman" panose="02020603050405020304" pitchFamily="18" charset="0"/>
            </a:endParaRPr>
          </a:p>
          <a:p>
            <a:pPr eaLnBrk="1" hangingPunct="1">
              <a:lnSpc>
                <a:spcPct val="90000"/>
              </a:lnSpc>
              <a:buClr>
                <a:schemeClr val="bg2"/>
              </a:buClr>
              <a:buSzPct val="75000"/>
              <a:buFont typeface="Wingdings" panose="05000000000000000000" pitchFamily="2" charset="2"/>
            </a:pPr>
            <a:endParaRPr lang="en-US" altLang="zh-CN" sz="2800" b="1" dirty="0">
              <a:latin typeface="Times New Roman" panose="02020603050405020304" pitchFamily="18" charset="0"/>
            </a:endParaRPr>
          </a:p>
        </p:txBody>
      </p:sp>
      <p:graphicFrame>
        <p:nvGraphicFramePr>
          <p:cNvPr id="91138" name="Object 3"/>
          <p:cNvGraphicFramePr>
            <a:graphicFrameLocks noGrp="1" noChangeAspect="1"/>
          </p:cNvGraphicFramePr>
          <p:nvPr>
            <p:ph sz="half" idx="2"/>
          </p:nvPr>
        </p:nvGraphicFramePr>
        <p:xfrm>
          <a:off x="1479550" y="3135313"/>
          <a:ext cx="4038600" cy="1209675"/>
        </p:xfrm>
        <a:graphic>
          <a:graphicData uri="http://schemas.openxmlformats.org/presentationml/2006/ole">
            <mc:AlternateContent xmlns:mc="http://schemas.openxmlformats.org/markup-compatibility/2006">
              <mc:Choice xmlns:v="urn:schemas-microsoft-com:vml" Requires="v">
                <p:oleObj spid="_x0000_s6149" r:id="rId3" imgW="8701405" imgH="2605405" progId="Photoshop.Image.7">
                  <p:embed/>
                </p:oleObj>
              </mc:Choice>
              <mc:Fallback>
                <p:oleObj r:id="rId3" imgW="8701405" imgH="2605405" progId="Photoshop.Image.7">
                  <p:embed/>
                  <p:pic>
                    <p:nvPicPr>
                      <p:cNvPr id="0" name="图片 3078"/>
                      <p:cNvPicPr/>
                      <p:nvPr/>
                    </p:nvPicPr>
                    <p:blipFill>
                      <a:blip r:embed="rId4"/>
                      <a:stretch>
                        <a:fillRect/>
                      </a:stretch>
                    </p:blipFill>
                    <p:spPr>
                      <a:xfrm>
                        <a:off x="1479550" y="3135313"/>
                        <a:ext cx="4038600" cy="1209675"/>
                      </a:xfrm>
                      <a:prstGeom prst="rect">
                        <a:avLst/>
                      </a:prstGeom>
                      <a:noFill/>
                      <a:ln w="38100">
                        <a:miter/>
                      </a:ln>
                    </p:spPr>
                  </p:pic>
                </p:oleObj>
              </mc:Fallback>
            </mc:AlternateContent>
          </a:graphicData>
        </a:graphic>
      </p:graphicFrame>
      <p:pic>
        <p:nvPicPr>
          <p:cNvPr id="91139" name="图片 1"/>
          <p:cNvPicPr>
            <a:picLocks noChangeAspect="1"/>
          </p:cNvPicPr>
          <p:nvPr/>
        </p:nvPicPr>
        <p:blipFill>
          <a:blip r:embed="rId5"/>
          <a:stretch>
            <a:fillRect/>
          </a:stretch>
        </p:blipFill>
        <p:spPr>
          <a:xfrm>
            <a:off x="6083300" y="2420938"/>
            <a:ext cx="2470150" cy="3709987"/>
          </a:xfrm>
          <a:prstGeom prst="rect">
            <a:avLst/>
          </a:prstGeom>
          <a:noFill/>
          <a:ln w="9525">
            <a:noFill/>
          </a:ln>
        </p:spPr>
      </p:pic>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1"/>
          <p:cNvSpPr>
            <a:spLocks noGrp="1"/>
          </p:cNvSpPr>
          <p:nvPr>
            <p:ph type="sldNum" sz="quarter" idx="11"/>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50000"/>
              </a:spcBef>
            </a:pPr>
            <a:fld id="{9A0DB2DC-4C9A-4742-B13C-FB6460FD3503}" type="slidenum">
              <a:rPr lang="en-US" altLang="en-US" sz="1400" dirty="0">
                <a:latin typeface="Times New Roman" panose="02020603050405020304" pitchFamily="18" charset="0"/>
              </a:rPr>
              <a:t>78</a:t>
            </a:fld>
            <a:endParaRPr lang="en-US" altLang="en-US" sz="1400" dirty="0">
              <a:latin typeface="Times New Roman" panose="02020603050405020304" pitchFamily="18" charset="0"/>
            </a:endParaRPr>
          </a:p>
        </p:txBody>
      </p:sp>
      <p:sp>
        <p:nvSpPr>
          <p:cNvPr id="83970" name="矩形 225281"/>
          <p:cNvSpPr/>
          <p:nvPr/>
        </p:nvSpPr>
        <p:spPr>
          <a:xfrm>
            <a:off x="530225" y="304800"/>
            <a:ext cx="8078788" cy="609600"/>
          </a:xfrm>
          <a:prstGeom prst="rect">
            <a:avLst/>
          </a:prstGeom>
          <a:solidFill>
            <a:schemeClr val="accent1"/>
          </a:solidFill>
          <a:ln w="9525">
            <a:noFill/>
          </a:ln>
        </p:spPr>
        <p:txBody>
          <a:bodyPr anchor="ctr" anchorCtr="0"/>
          <a:lstStyle/>
          <a:p>
            <a:r>
              <a:rPr lang="ja-JP" altLang="en-US" sz="2400" b="1" dirty="0">
                <a:latin typeface="黑体" panose="02010609060101010101" pitchFamily="49" charset="-122"/>
                <a:ea typeface="黑体" panose="02010609060101010101" pitchFamily="49" charset="-122"/>
              </a:rPr>
              <a:t>【</a:t>
            </a:r>
            <a:r>
              <a:rPr lang="en-US" altLang="ja-JP" sz="2400" b="1" dirty="0">
                <a:latin typeface="黑体" panose="02010609060101010101" pitchFamily="49" charset="-122"/>
                <a:ea typeface="黑体" panose="02010609060101010101" pitchFamily="49" charset="-122"/>
              </a:rPr>
              <a:t>3-2.</a:t>
            </a:r>
            <a:r>
              <a:rPr lang="ja-JP" altLang="en-US"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梯形图的阅读方法</a:t>
            </a:r>
            <a:r>
              <a:rPr lang="ja-JP" altLang="en-US" sz="2400" b="1" dirty="0">
                <a:latin typeface="黑体" panose="02010609060101010101" pitchFamily="49" charset="-122"/>
                <a:ea typeface="黑体" panose="02010609060101010101" pitchFamily="49" charset="-122"/>
              </a:rPr>
              <a:t>】</a:t>
            </a:r>
          </a:p>
        </p:txBody>
      </p:sp>
      <p:sp>
        <p:nvSpPr>
          <p:cNvPr id="83971" name="矩形 225282"/>
          <p:cNvSpPr/>
          <p:nvPr/>
        </p:nvSpPr>
        <p:spPr>
          <a:xfrm>
            <a:off x="473075" y="990600"/>
            <a:ext cx="4017963" cy="5486400"/>
          </a:xfrm>
          <a:prstGeom prst="rect">
            <a:avLst/>
          </a:prstGeom>
          <a:noFill/>
          <a:ln w="9525" cap="flat" cmpd="sng">
            <a:solidFill>
              <a:schemeClr val="accent2"/>
            </a:solidFill>
            <a:prstDash val="solid"/>
            <a:miter/>
            <a:headEnd type="none" w="med" len="med"/>
            <a:tailEnd type="none" w="med" len="med"/>
          </a:ln>
        </p:spPr>
        <p:txBody>
          <a:bodyPr anchor="t" anchorCtr="0"/>
          <a:lstStyle/>
          <a:p>
            <a:pPr>
              <a:spcBef>
                <a:spcPct val="20000"/>
              </a:spcBef>
            </a:pPr>
            <a:r>
              <a:rPr lang="zh-CN" altLang="en-US" sz="1400" b="1" dirty="0">
                <a:latin typeface="黑体" panose="02010609060101010101" pitchFamily="49" charset="-122"/>
                <a:ea typeface="黑体" panose="02010609060101010101" pitchFamily="49" charset="-122"/>
              </a:rPr>
              <a:t>【梯形图</a:t>
            </a:r>
            <a:r>
              <a:rPr lang="ja-JP" altLang="en-US" sz="1400" b="1" dirty="0">
                <a:latin typeface="黑体" panose="02010609060101010101" pitchFamily="49" charset="-122"/>
                <a:ea typeface="黑体" panose="02010609060101010101" pitchFamily="49" charset="-122"/>
              </a:rPr>
              <a:t>】</a:t>
            </a:r>
          </a:p>
          <a:p>
            <a:pPr>
              <a:spcBef>
                <a:spcPct val="20000"/>
              </a:spcBef>
            </a:pPr>
            <a:r>
              <a:rPr lang="ja-JP" altLang="en-US" sz="1400" b="1" dirty="0">
                <a:latin typeface="黑体" panose="02010609060101010101" pitchFamily="49" charset="-122"/>
                <a:ea typeface="黑体" panose="02010609060101010101" pitchFamily="49" charset="-122"/>
              </a:rPr>
              <a:t>　　</a:t>
            </a:r>
            <a:r>
              <a:rPr lang="zh-CN" altLang="en-US" sz="1200" dirty="0">
                <a:latin typeface="黑体" panose="02010609060101010101" pitchFamily="49" charset="-122"/>
                <a:ea typeface="黑体" panose="02010609060101010101" pitchFamily="49" charset="-122"/>
              </a:rPr>
              <a:t>一般在PLC的程序中，以梯形图形式表示电流方向。</a:t>
            </a:r>
            <a:endParaRPr lang="ja-JP" altLang="en-US" sz="1200" dirty="0">
              <a:latin typeface="黑体" panose="02010609060101010101" pitchFamily="49" charset="-122"/>
              <a:ea typeface="黑体" panose="02010609060101010101" pitchFamily="49" charset="-122"/>
            </a:endParaRPr>
          </a:p>
        </p:txBody>
      </p:sp>
      <p:sp>
        <p:nvSpPr>
          <p:cNvPr id="83972" name="矩形 225283"/>
          <p:cNvSpPr/>
          <p:nvPr/>
        </p:nvSpPr>
        <p:spPr>
          <a:xfrm>
            <a:off x="4649788" y="990600"/>
            <a:ext cx="4017962" cy="5486400"/>
          </a:xfrm>
          <a:prstGeom prst="rect">
            <a:avLst/>
          </a:prstGeom>
          <a:noFill/>
          <a:ln w="9525" cap="flat" cmpd="sng">
            <a:solidFill>
              <a:schemeClr val="accent2"/>
            </a:solidFill>
            <a:prstDash val="solid"/>
            <a:miter/>
            <a:headEnd type="none" w="med" len="med"/>
            <a:tailEnd type="none" w="med" len="med"/>
          </a:ln>
        </p:spPr>
        <p:txBody>
          <a:bodyPr anchor="t" anchorCtr="0"/>
          <a:lstStyle/>
          <a:p>
            <a:pPr>
              <a:spcBef>
                <a:spcPct val="20000"/>
              </a:spcBef>
            </a:pPr>
            <a:r>
              <a:rPr lang="zh-CN" altLang="en-US" sz="1400" b="1" dirty="0">
                <a:latin typeface="黑体" panose="02010609060101010101" pitchFamily="49" charset="-122"/>
                <a:ea typeface="黑体" panose="02010609060101010101" pitchFamily="49" charset="-122"/>
              </a:rPr>
              <a:t>【什么叫A触</a:t>
            </a:r>
            <a:r>
              <a:rPr lang="ja-JP" altLang="en-US" sz="1400" b="1" dirty="0">
                <a:latin typeface="黑体" panose="02010609060101010101" pitchFamily="49" charset="-122"/>
                <a:ea typeface="黑体" panose="02010609060101010101" pitchFamily="49" charset="-122"/>
              </a:rPr>
              <a:t>点、</a:t>
            </a:r>
            <a:r>
              <a:rPr lang="zh-CN" altLang="en-US" sz="1400" b="1" dirty="0">
                <a:latin typeface="黑体" panose="02010609060101010101" pitchFamily="49" charset="-122"/>
                <a:ea typeface="黑体" panose="02010609060101010101" pitchFamily="49" charset="-122"/>
              </a:rPr>
              <a:t>B触</a:t>
            </a:r>
            <a:r>
              <a:rPr lang="ja-JP" altLang="en-US" sz="1400" b="1" dirty="0">
                <a:latin typeface="黑体" panose="02010609060101010101" pitchFamily="49" charset="-122"/>
                <a:ea typeface="黑体" panose="02010609060101010101" pitchFamily="49" charset="-122"/>
              </a:rPr>
              <a:t>点？】</a:t>
            </a:r>
          </a:p>
          <a:p>
            <a:pPr>
              <a:spcBef>
                <a:spcPct val="20000"/>
              </a:spcBef>
            </a:pPr>
            <a:r>
              <a:rPr lang="ja-JP" altLang="en-US" sz="1200" b="1" dirty="0">
                <a:latin typeface="黑体" panose="02010609060101010101" pitchFamily="49" charset="-122"/>
                <a:ea typeface="黑体" panose="02010609060101010101" pitchFamily="49" charset="-122"/>
              </a:rPr>
              <a:t>　　</a:t>
            </a:r>
            <a:r>
              <a:rPr lang="ja-JP" altLang="en-US" sz="1200" dirty="0">
                <a:latin typeface="黑体" panose="02010609060101010101" pitchFamily="49" charset="-122"/>
                <a:ea typeface="黑体" panose="02010609060101010101" pitchFamily="49" charset="-122"/>
              </a:rPr>
              <a:t>例：</a:t>
            </a:r>
            <a:r>
              <a:rPr lang="zh-CN" altLang="en-US" sz="1200" dirty="0">
                <a:latin typeface="黑体" panose="02010609060101010101" pitchFamily="49" charset="-122"/>
                <a:ea typeface="黑体" panose="02010609060101010101" pitchFamily="49" charset="-122"/>
              </a:rPr>
              <a:t>按钮开关</a:t>
            </a:r>
            <a:endParaRPr lang="ja-JP" altLang="en-US" sz="1200" dirty="0">
              <a:latin typeface="黑体" panose="02010609060101010101" pitchFamily="49" charset="-122"/>
              <a:ea typeface="黑体" panose="02010609060101010101" pitchFamily="49" charset="-122"/>
            </a:endParaRPr>
          </a:p>
        </p:txBody>
      </p:sp>
      <p:sp>
        <p:nvSpPr>
          <p:cNvPr id="83973" name="文本框 225284"/>
          <p:cNvSpPr txBox="1"/>
          <p:nvPr/>
        </p:nvSpPr>
        <p:spPr>
          <a:xfrm>
            <a:off x="508000" y="3543300"/>
            <a:ext cx="3894138" cy="854075"/>
          </a:xfrm>
          <a:prstGeom prst="rect">
            <a:avLst/>
          </a:prstGeom>
          <a:noFill/>
          <a:ln w="28575">
            <a:noFill/>
          </a:ln>
        </p:spPr>
        <p:txBody>
          <a:bodyPr anchor="t" anchorCtr="0">
            <a:spAutoFit/>
          </a:bodyPr>
          <a:lstStyle/>
          <a:p>
            <a:pPr>
              <a:spcBef>
                <a:spcPct val="50000"/>
              </a:spcBef>
            </a:pPr>
            <a:r>
              <a:rPr lang="zh-CN" altLang="en-US" sz="1400" dirty="0">
                <a:latin typeface="黑体" panose="02010609060101010101" pitchFamily="49" charset="-122"/>
                <a:ea typeface="宋体" panose="02010600030101010101" pitchFamily="2" charset="-122"/>
              </a:rPr>
              <a:t>【梯形图的回路符号</a:t>
            </a:r>
            <a:r>
              <a:rPr lang="ja-JP" altLang="en-US" sz="1400" dirty="0">
                <a:latin typeface="黑体" panose="02010609060101010101" pitchFamily="49" charset="-122"/>
                <a:ea typeface="宋体" panose="02010600030101010101" pitchFamily="2" charset="-122"/>
              </a:rPr>
              <a:t>】</a:t>
            </a:r>
          </a:p>
          <a:p>
            <a:pPr>
              <a:spcBef>
                <a:spcPct val="50000"/>
              </a:spcBef>
            </a:pPr>
            <a:r>
              <a:rPr lang="ja-JP" altLang="en-US" sz="1200" dirty="0">
                <a:latin typeface="黑体" panose="02010609060101010101" pitchFamily="49" charset="-122"/>
                <a:ea typeface="宋体" panose="02010600030101010101" pitchFamily="2" charset="-122"/>
              </a:rPr>
              <a:t> 　</a:t>
            </a:r>
            <a:r>
              <a:rPr lang="zh-CN" altLang="en-US" sz="1200" dirty="0">
                <a:latin typeface="黑体" panose="02010609060101010101" pitchFamily="49" charset="-122"/>
                <a:ea typeface="宋体" panose="02010600030101010101" pitchFamily="2" charset="-122"/>
              </a:rPr>
              <a:t>为了打印出以往在PLC中使用的各种电路触点符号，</a:t>
            </a:r>
          </a:p>
          <a:p>
            <a:pPr>
              <a:spcBef>
                <a:spcPct val="50000"/>
              </a:spcBef>
            </a:pPr>
            <a:r>
              <a:rPr lang="zh-CN" altLang="en-US" sz="1200" dirty="0">
                <a:latin typeface="黑体" panose="02010609060101010101" pitchFamily="49" charset="-122"/>
                <a:ea typeface="宋体" panose="02010600030101010101" pitchFamily="2" charset="-122"/>
              </a:rPr>
              <a:t>   将这些内容文字符号化，统一成为A触</a:t>
            </a:r>
            <a:r>
              <a:rPr lang="ja-JP" altLang="en-US" sz="1200" dirty="0">
                <a:latin typeface="黑体" panose="02010609060101010101" pitchFamily="49" charset="-122"/>
                <a:ea typeface="宋体" panose="02010600030101010101" pitchFamily="2" charset="-122"/>
              </a:rPr>
              <a:t>点、</a:t>
            </a:r>
            <a:r>
              <a:rPr lang="en-US" altLang="ja-JP" sz="1200" dirty="0">
                <a:latin typeface="黑体" panose="02010609060101010101" pitchFamily="49" charset="-122"/>
                <a:ea typeface="宋体" panose="02010600030101010101" pitchFamily="2" charset="-122"/>
              </a:rPr>
              <a:t>B</a:t>
            </a:r>
            <a:r>
              <a:rPr lang="ja-JP" altLang="en-US" sz="1200" dirty="0">
                <a:latin typeface="黑体" panose="02010609060101010101" pitchFamily="49" charset="-122"/>
                <a:ea typeface="宋体" panose="02010600030101010101" pitchFamily="2" charset="-122"/>
              </a:rPr>
              <a:t>接点</a:t>
            </a:r>
            <a:r>
              <a:rPr lang="zh-CN" altLang="en-US" sz="1200" dirty="0">
                <a:latin typeface="黑体" panose="02010609060101010101" pitchFamily="49" charset="-122"/>
                <a:ea typeface="宋体" panose="02010600030101010101" pitchFamily="2" charset="-122"/>
              </a:rPr>
              <a:t>．</a:t>
            </a:r>
          </a:p>
        </p:txBody>
      </p:sp>
      <p:grpSp>
        <p:nvGrpSpPr>
          <p:cNvPr id="83974" name="组合 225285"/>
          <p:cNvGrpSpPr/>
          <p:nvPr/>
        </p:nvGrpSpPr>
        <p:grpSpPr>
          <a:xfrm>
            <a:off x="838200" y="1828800"/>
            <a:ext cx="2895600" cy="685800"/>
            <a:chOff x="528" y="1152"/>
            <a:chExt cx="1824" cy="432"/>
          </a:xfrm>
        </p:grpSpPr>
        <p:sp>
          <p:nvSpPr>
            <p:cNvPr id="83975" name="直接连接符 225286"/>
            <p:cNvSpPr/>
            <p:nvPr/>
          </p:nvSpPr>
          <p:spPr>
            <a:xfrm>
              <a:off x="528" y="1302"/>
              <a:ext cx="0" cy="282"/>
            </a:xfrm>
            <a:prstGeom prst="line">
              <a:avLst/>
            </a:prstGeom>
            <a:ln w="19050" cap="rnd" cmpd="sng">
              <a:solidFill>
                <a:schemeClr val="tx1"/>
              </a:solidFill>
              <a:prstDash val="sysDot"/>
              <a:round/>
              <a:headEnd type="none" w="med" len="med"/>
              <a:tailEnd type="none" w="med" len="med"/>
            </a:ln>
          </p:spPr>
        </p:sp>
        <p:sp>
          <p:nvSpPr>
            <p:cNvPr id="83976" name="直接连接符 225287"/>
            <p:cNvSpPr/>
            <p:nvPr/>
          </p:nvSpPr>
          <p:spPr>
            <a:xfrm>
              <a:off x="2352" y="1323"/>
              <a:ext cx="0" cy="261"/>
            </a:xfrm>
            <a:prstGeom prst="line">
              <a:avLst/>
            </a:prstGeom>
            <a:ln w="19050" cap="rnd" cmpd="sng">
              <a:solidFill>
                <a:schemeClr val="tx1"/>
              </a:solidFill>
              <a:prstDash val="sysDot"/>
              <a:round/>
              <a:headEnd type="none" w="med" len="med"/>
              <a:tailEnd type="none" w="med" len="med"/>
            </a:ln>
          </p:spPr>
        </p:sp>
        <p:sp>
          <p:nvSpPr>
            <p:cNvPr id="83977" name="直接连接符 225288"/>
            <p:cNvSpPr/>
            <p:nvPr/>
          </p:nvSpPr>
          <p:spPr>
            <a:xfrm>
              <a:off x="528" y="1284"/>
              <a:ext cx="912" cy="0"/>
            </a:xfrm>
            <a:prstGeom prst="line">
              <a:avLst/>
            </a:prstGeom>
            <a:ln w="19050" cap="rnd" cmpd="sng">
              <a:solidFill>
                <a:schemeClr val="tx1"/>
              </a:solidFill>
              <a:prstDash val="sysDot"/>
              <a:round/>
              <a:headEnd type="none" w="med" len="med"/>
              <a:tailEnd type="none" w="med" len="med"/>
            </a:ln>
          </p:spPr>
        </p:sp>
        <p:sp>
          <p:nvSpPr>
            <p:cNvPr id="83978" name="直接连接符 225289"/>
            <p:cNvSpPr/>
            <p:nvPr/>
          </p:nvSpPr>
          <p:spPr>
            <a:xfrm flipH="1">
              <a:off x="1546" y="1284"/>
              <a:ext cx="806" cy="0"/>
            </a:xfrm>
            <a:prstGeom prst="line">
              <a:avLst/>
            </a:prstGeom>
            <a:ln w="19050" cap="rnd" cmpd="sng">
              <a:solidFill>
                <a:schemeClr val="tx1"/>
              </a:solidFill>
              <a:prstDash val="sysDot"/>
              <a:round/>
              <a:headEnd type="none" w="med" len="med"/>
              <a:tailEnd type="none" w="med" len="med"/>
            </a:ln>
          </p:spPr>
        </p:sp>
        <p:sp>
          <p:nvSpPr>
            <p:cNvPr id="83979" name="直接连接符 225290"/>
            <p:cNvSpPr/>
            <p:nvPr/>
          </p:nvSpPr>
          <p:spPr>
            <a:xfrm>
              <a:off x="1430" y="1152"/>
              <a:ext cx="0" cy="265"/>
            </a:xfrm>
            <a:prstGeom prst="line">
              <a:avLst/>
            </a:prstGeom>
            <a:ln w="19050" cap="flat" cmpd="sng">
              <a:solidFill>
                <a:schemeClr val="tx1"/>
              </a:solidFill>
              <a:prstDash val="solid"/>
              <a:round/>
              <a:headEnd type="none" w="med" len="med"/>
              <a:tailEnd type="none" w="med" len="med"/>
            </a:ln>
          </p:spPr>
        </p:sp>
        <p:sp>
          <p:nvSpPr>
            <p:cNvPr id="83980" name="直接连接符 225291"/>
            <p:cNvSpPr/>
            <p:nvPr/>
          </p:nvSpPr>
          <p:spPr>
            <a:xfrm>
              <a:off x="1536" y="1201"/>
              <a:ext cx="0" cy="167"/>
            </a:xfrm>
            <a:prstGeom prst="line">
              <a:avLst/>
            </a:prstGeom>
            <a:ln w="38100" cap="flat" cmpd="sng">
              <a:solidFill>
                <a:schemeClr val="tx1"/>
              </a:solidFill>
              <a:prstDash val="solid"/>
              <a:round/>
              <a:headEnd type="none" w="med" len="med"/>
              <a:tailEnd type="none" w="med" len="med"/>
            </a:ln>
          </p:spPr>
        </p:sp>
      </p:grpSp>
      <p:sp>
        <p:nvSpPr>
          <p:cNvPr id="83981" name="直接连接符 225292"/>
          <p:cNvSpPr/>
          <p:nvPr/>
        </p:nvSpPr>
        <p:spPr>
          <a:xfrm>
            <a:off x="838200" y="2466975"/>
            <a:ext cx="0" cy="976313"/>
          </a:xfrm>
          <a:prstGeom prst="line">
            <a:avLst/>
          </a:prstGeom>
          <a:ln w="28575" cap="flat" cmpd="sng">
            <a:solidFill>
              <a:schemeClr val="tx1"/>
            </a:solidFill>
            <a:prstDash val="solid"/>
            <a:round/>
            <a:headEnd type="none" w="med" len="med"/>
            <a:tailEnd type="none" w="med" len="med"/>
          </a:ln>
        </p:spPr>
      </p:sp>
      <p:sp>
        <p:nvSpPr>
          <p:cNvPr id="83982" name="直接连接符 225293"/>
          <p:cNvSpPr/>
          <p:nvPr/>
        </p:nvSpPr>
        <p:spPr>
          <a:xfrm>
            <a:off x="3717925" y="2535238"/>
            <a:ext cx="0" cy="882650"/>
          </a:xfrm>
          <a:prstGeom prst="line">
            <a:avLst/>
          </a:prstGeom>
          <a:ln w="28575" cap="flat" cmpd="sng">
            <a:solidFill>
              <a:schemeClr val="tx1"/>
            </a:solidFill>
            <a:prstDash val="solid"/>
            <a:round/>
            <a:headEnd type="none" w="med" len="med"/>
            <a:tailEnd type="none" w="med" len="med"/>
          </a:ln>
        </p:spPr>
      </p:sp>
      <p:sp>
        <p:nvSpPr>
          <p:cNvPr id="83983" name="直接连接符 225294"/>
          <p:cNvSpPr/>
          <p:nvPr/>
        </p:nvSpPr>
        <p:spPr>
          <a:xfrm>
            <a:off x="1408113" y="2841625"/>
            <a:ext cx="0" cy="0"/>
          </a:xfrm>
          <a:prstGeom prst="line">
            <a:avLst/>
          </a:prstGeom>
          <a:ln w="28575" cap="flat" cmpd="sng">
            <a:solidFill>
              <a:schemeClr val="tx1"/>
            </a:solidFill>
            <a:prstDash val="solid"/>
            <a:round/>
            <a:headEnd type="none" w="med" len="med"/>
            <a:tailEnd type="none" w="med" len="med"/>
          </a:ln>
        </p:spPr>
      </p:sp>
      <p:grpSp>
        <p:nvGrpSpPr>
          <p:cNvPr id="83984" name="组合 225295"/>
          <p:cNvGrpSpPr/>
          <p:nvPr/>
        </p:nvGrpSpPr>
        <p:grpSpPr>
          <a:xfrm>
            <a:off x="1725613" y="2635250"/>
            <a:ext cx="138112" cy="336550"/>
            <a:chOff x="959" y="1684"/>
            <a:chExt cx="87" cy="212"/>
          </a:xfrm>
        </p:grpSpPr>
        <p:sp>
          <p:nvSpPr>
            <p:cNvPr id="83985" name="直接连接符 225296"/>
            <p:cNvSpPr/>
            <p:nvPr/>
          </p:nvSpPr>
          <p:spPr>
            <a:xfrm>
              <a:off x="959" y="1684"/>
              <a:ext cx="0" cy="212"/>
            </a:xfrm>
            <a:prstGeom prst="line">
              <a:avLst/>
            </a:prstGeom>
            <a:ln w="28575" cap="flat" cmpd="sng">
              <a:solidFill>
                <a:schemeClr val="tx1"/>
              </a:solidFill>
              <a:prstDash val="solid"/>
              <a:round/>
              <a:headEnd type="none" w="med" len="med"/>
              <a:tailEnd type="none" w="med" len="med"/>
            </a:ln>
          </p:spPr>
        </p:sp>
        <p:sp>
          <p:nvSpPr>
            <p:cNvPr id="83986" name="直接连接符 225297"/>
            <p:cNvSpPr/>
            <p:nvPr/>
          </p:nvSpPr>
          <p:spPr>
            <a:xfrm>
              <a:off x="1046" y="1684"/>
              <a:ext cx="0" cy="212"/>
            </a:xfrm>
            <a:prstGeom prst="line">
              <a:avLst/>
            </a:prstGeom>
            <a:ln w="28575" cap="flat" cmpd="sng">
              <a:solidFill>
                <a:schemeClr val="tx1"/>
              </a:solidFill>
              <a:prstDash val="solid"/>
              <a:round/>
              <a:headEnd type="none" w="med" len="med"/>
              <a:tailEnd type="none" w="med" len="med"/>
            </a:ln>
          </p:spPr>
        </p:sp>
      </p:grpSp>
      <p:sp>
        <p:nvSpPr>
          <p:cNvPr id="83987" name="直接连接符 225298"/>
          <p:cNvSpPr/>
          <p:nvPr/>
        </p:nvSpPr>
        <p:spPr>
          <a:xfrm>
            <a:off x="1870075" y="2809875"/>
            <a:ext cx="1162050" cy="0"/>
          </a:xfrm>
          <a:prstGeom prst="line">
            <a:avLst/>
          </a:prstGeom>
          <a:ln w="28575" cap="flat" cmpd="sng">
            <a:solidFill>
              <a:schemeClr val="tx1"/>
            </a:solidFill>
            <a:prstDash val="solid"/>
            <a:round/>
            <a:headEnd type="none" w="med" len="med"/>
            <a:tailEnd type="none" w="med" len="med"/>
          </a:ln>
        </p:spPr>
      </p:sp>
      <p:sp>
        <p:nvSpPr>
          <p:cNvPr id="83988" name="直接连接符 225299"/>
          <p:cNvSpPr/>
          <p:nvPr/>
        </p:nvSpPr>
        <p:spPr>
          <a:xfrm>
            <a:off x="3462338" y="2809875"/>
            <a:ext cx="246062" cy="0"/>
          </a:xfrm>
          <a:prstGeom prst="line">
            <a:avLst/>
          </a:prstGeom>
          <a:ln w="28575" cap="flat" cmpd="sng">
            <a:solidFill>
              <a:schemeClr val="tx1"/>
            </a:solidFill>
            <a:prstDash val="solid"/>
            <a:round/>
            <a:headEnd type="none" w="med" len="med"/>
            <a:tailEnd type="none" w="med" len="med"/>
          </a:ln>
        </p:spPr>
      </p:sp>
      <p:sp>
        <p:nvSpPr>
          <p:cNvPr id="83989" name="文本框 225300"/>
          <p:cNvSpPr txBox="1"/>
          <p:nvPr/>
        </p:nvSpPr>
        <p:spPr>
          <a:xfrm>
            <a:off x="1211263" y="2527300"/>
            <a:ext cx="461962" cy="304800"/>
          </a:xfrm>
          <a:prstGeom prst="rect">
            <a:avLst/>
          </a:prstGeom>
          <a:noFill/>
          <a:ln w="9525">
            <a:noFill/>
          </a:ln>
        </p:spPr>
        <p:txBody>
          <a:bodyPr anchor="t" anchorCtr="0">
            <a:spAutoFit/>
          </a:bodyPr>
          <a:lstStyle/>
          <a:p>
            <a:pPr>
              <a:spcBef>
                <a:spcPct val="50000"/>
              </a:spcBef>
            </a:pPr>
            <a:r>
              <a:rPr lang="en-US" altLang="ja-JP" sz="1400" dirty="0">
                <a:latin typeface="黑体" panose="02010609060101010101" pitchFamily="49" charset="-122"/>
                <a:ea typeface="宋体" panose="02010600030101010101" pitchFamily="2" charset="-122"/>
              </a:rPr>
              <a:t>X0</a:t>
            </a:r>
            <a:endParaRPr lang="en-US" altLang="ja-JP" sz="2400" dirty="0">
              <a:latin typeface="黑体" panose="02010609060101010101" pitchFamily="49" charset="-122"/>
              <a:ea typeface="宋体" panose="02010600030101010101" pitchFamily="2" charset="-122"/>
            </a:endParaRPr>
          </a:p>
        </p:txBody>
      </p:sp>
      <p:sp>
        <p:nvSpPr>
          <p:cNvPr id="83990" name="文本框 225301"/>
          <p:cNvSpPr txBox="1"/>
          <p:nvPr/>
        </p:nvSpPr>
        <p:spPr>
          <a:xfrm>
            <a:off x="3032125" y="2667000"/>
            <a:ext cx="461963" cy="304800"/>
          </a:xfrm>
          <a:prstGeom prst="rect">
            <a:avLst/>
          </a:prstGeom>
          <a:noFill/>
          <a:ln w="9525">
            <a:noFill/>
          </a:ln>
        </p:spPr>
        <p:txBody>
          <a:bodyPr anchor="t" anchorCtr="0">
            <a:spAutoFit/>
          </a:bodyPr>
          <a:lstStyle/>
          <a:p>
            <a:pPr>
              <a:spcBef>
                <a:spcPct val="50000"/>
              </a:spcBef>
            </a:pPr>
            <a:r>
              <a:rPr lang="en-US" altLang="ja-JP" sz="1400" dirty="0">
                <a:latin typeface="黑体" panose="02010609060101010101" pitchFamily="49" charset="-122"/>
                <a:ea typeface="宋体" panose="02010600030101010101" pitchFamily="2" charset="-122"/>
              </a:rPr>
              <a:t>Y0</a:t>
            </a:r>
          </a:p>
        </p:txBody>
      </p:sp>
      <p:sp>
        <p:nvSpPr>
          <p:cNvPr id="83991" name="直接连接符 225302"/>
          <p:cNvSpPr/>
          <p:nvPr/>
        </p:nvSpPr>
        <p:spPr>
          <a:xfrm flipV="1">
            <a:off x="838200" y="2790825"/>
            <a:ext cx="265113" cy="12700"/>
          </a:xfrm>
          <a:prstGeom prst="line">
            <a:avLst/>
          </a:prstGeom>
          <a:ln w="28575" cap="flat" cmpd="sng">
            <a:solidFill>
              <a:schemeClr val="tx1"/>
            </a:solidFill>
            <a:prstDash val="solid"/>
            <a:round/>
            <a:headEnd type="none" w="med" len="med"/>
            <a:tailEnd type="none" w="med" len="med"/>
          </a:ln>
        </p:spPr>
      </p:sp>
      <p:sp>
        <p:nvSpPr>
          <p:cNvPr id="83992" name="直接连接符 225303"/>
          <p:cNvSpPr/>
          <p:nvPr/>
        </p:nvSpPr>
        <p:spPr>
          <a:xfrm>
            <a:off x="963613" y="2841625"/>
            <a:ext cx="0" cy="0"/>
          </a:xfrm>
          <a:prstGeom prst="line">
            <a:avLst/>
          </a:prstGeom>
          <a:ln w="28575" cap="flat" cmpd="sng">
            <a:solidFill>
              <a:schemeClr val="tx1"/>
            </a:solidFill>
            <a:prstDash val="solid"/>
            <a:round/>
            <a:headEnd type="none" w="med" len="med"/>
            <a:tailEnd type="none" w="med" len="med"/>
          </a:ln>
        </p:spPr>
      </p:sp>
      <p:sp>
        <p:nvSpPr>
          <p:cNvPr id="83993" name="文本框 225304"/>
          <p:cNvSpPr txBox="1"/>
          <p:nvPr/>
        </p:nvSpPr>
        <p:spPr>
          <a:xfrm>
            <a:off x="1844675" y="2527300"/>
            <a:ext cx="461963" cy="304800"/>
          </a:xfrm>
          <a:prstGeom prst="rect">
            <a:avLst/>
          </a:prstGeom>
          <a:noFill/>
          <a:ln w="9525">
            <a:noFill/>
          </a:ln>
        </p:spPr>
        <p:txBody>
          <a:bodyPr anchor="t" anchorCtr="0">
            <a:spAutoFit/>
          </a:bodyPr>
          <a:lstStyle/>
          <a:p>
            <a:pPr>
              <a:spcBef>
                <a:spcPct val="50000"/>
              </a:spcBef>
            </a:pPr>
            <a:r>
              <a:rPr lang="en-US" altLang="ja-JP" sz="1400" dirty="0">
                <a:latin typeface="黑体" panose="02010609060101010101" pitchFamily="49" charset="-122"/>
                <a:ea typeface="宋体" panose="02010600030101010101" pitchFamily="2" charset="-122"/>
              </a:rPr>
              <a:t>X1</a:t>
            </a:r>
          </a:p>
        </p:txBody>
      </p:sp>
      <p:sp>
        <p:nvSpPr>
          <p:cNvPr id="83994" name="文本框 225305"/>
          <p:cNvSpPr txBox="1"/>
          <p:nvPr/>
        </p:nvSpPr>
        <p:spPr>
          <a:xfrm>
            <a:off x="2489200" y="1714500"/>
            <a:ext cx="1447800" cy="274638"/>
          </a:xfrm>
          <a:prstGeom prst="rect">
            <a:avLst/>
          </a:prstGeom>
          <a:noFill/>
          <a:ln w="28575">
            <a:noFill/>
          </a:ln>
        </p:spPr>
        <p:txBody>
          <a:bodyPr anchor="t" anchorCtr="0">
            <a:spAutoFit/>
          </a:bodyPr>
          <a:lstStyle/>
          <a:p>
            <a:pPr>
              <a:spcBef>
                <a:spcPct val="50000"/>
              </a:spcBef>
            </a:pPr>
            <a:r>
              <a:rPr lang="zh-CN" altLang="en-US" sz="1200" dirty="0">
                <a:solidFill>
                  <a:srgbClr val="FF0000"/>
                </a:solidFill>
                <a:latin typeface="黑体" panose="02010609060101010101" pitchFamily="49" charset="-122"/>
                <a:ea typeface="宋体" panose="02010600030101010101" pitchFamily="2" charset="-122"/>
              </a:rPr>
              <a:t>电源:被省略</a:t>
            </a:r>
          </a:p>
        </p:txBody>
      </p:sp>
      <p:sp>
        <p:nvSpPr>
          <p:cNvPr id="83995" name="文本框 225306"/>
          <p:cNvSpPr txBox="1"/>
          <p:nvPr/>
        </p:nvSpPr>
        <p:spPr>
          <a:xfrm>
            <a:off x="1727200" y="2266950"/>
            <a:ext cx="1219200" cy="241300"/>
          </a:xfrm>
          <a:prstGeom prst="rect">
            <a:avLst/>
          </a:prstGeom>
          <a:solidFill>
            <a:schemeClr val="bg1"/>
          </a:solidFill>
          <a:ln w="28575" cap="flat" cmpd="sng">
            <a:solidFill>
              <a:srgbClr val="FF0000"/>
            </a:solidFill>
            <a:prstDash val="solid"/>
            <a:miter/>
            <a:headEnd type="none" w="med" len="med"/>
            <a:tailEnd type="none" w="med" len="med"/>
          </a:ln>
        </p:spPr>
        <p:txBody>
          <a:bodyPr lIns="0" tIns="0" rIns="0" bIns="0" anchor="ctr" anchorCtr="1">
            <a:spAutoFit/>
          </a:bodyPr>
          <a:lstStyle/>
          <a:p>
            <a:pPr>
              <a:spcBef>
                <a:spcPct val="50000"/>
              </a:spcBef>
            </a:pPr>
            <a:r>
              <a:rPr lang="zh-CN" altLang="en-US" sz="1400" dirty="0">
                <a:solidFill>
                  <a:srgbClr val="FF0000"/>
                </a:solidFill>
                <a:latin typeface="黑体" panose="02010609060101010101" pitchFamily="49" charset="-122"/>
                <a:ea typeface="宋体" panose="02010600030101010101" pitchFamily="2" charset="-122"/>
              </a:rPr>
              <a:t>母线(电源线)</a:t>
            </a:r>
            <a:endParaRPr lang="en-US" altLang="ja-JP" sz="1400" dirty="0">
              <a:solidFill>
                <a:srgbClr val="FF0000"/>
              </a:solidFill>
              <a:latin typeface="黑体" panose="02010609060101010101" pitchFamily="49" charset="-122"/>
              <a:ea typeface="宋体" panose="02010600030101010101" pitchFamily="2" charset="-122"/>
            </a:endParaRPr>
          </a:p>
        </p:txBody>
      </p:sp>
      <p:sp>
        <p:nvSpPr>
          <p:cNvPr id="83996" name="文本框 225307"/>
          <p:cNvSpPr txBox="1"/>
          <p:nvPr/>
        </p:nvSpPr>
        <p:spPr>
          <a:xfrm>
            <a:off x="5721350" y="1550988"/>
            <a:ext cx="2844800" cy="633412"/>
          </a:xfrm>
          <a:prstGeom prst="rect">
            <a:avLst/>
          </a:prstGeom>
          <a:noFill/>
          <a:ln w="9525" cap="flat" cmpd="sng">
            <a:solidFill>
              <a:schemeClr val="tx1"/>
            </a:solidFill>
            <a:prstDash val="solid"/>
            <a:miter/>
            <a:headEnd type="none" w="med" len="med"/>
            <a:tailEnd type="none" w="med" len="med"/>
          </a:ln>
        </p:spPr>
        <p:txBody>
          <a:bodyPr lIns="90000" tIns="46800" rIns="90000" bIns="46800" anchor="ctr" anchorCtr="1">
            <a:spAutoFit/>
          </a:bodyPr>
          <a:lstStyle/>
          <a:p>
            <a:pPr>
              <a:lnSpc>
                <a:spcPct val="70000"/>
              </a:lnSpc>
              <a:spcBef>
                <a:spcPct val="50000"/>
              </a:spcBef>
            </a:pPr>
            <a:r>
              <a:rPr lang="zh-CN" altLang="en-US" sz="1200" dirty="0">
                <a:latin typeface="黑体" panose="02010609060101010101" pitchFamily="49" charset="-122"/>
                <a:ea typeface="宋体" panose="02010600030101010101" pitchFamily="2" charset="-122"/>
              </a:rPr>
              <a:t>按下后变为</a:t>
            </a:r>
            <a:r>
              <a:rPr lang="en-US" altLang="ja-JP" sz="1200" dirty="0">
                <a:latin typeface="黑体" panose="02010609060101010101" pitchFamily="49" charset="-122"/>
                <a:ea typeface="宋体" panose="02010600030101010101" pitchFamily="2" charset="-122"/>
              </a:rPr>
              <a:t>OFF</a:t>
            </a:r>
            <a:r>
              <a:rPr lang="ja-JP" altLang="en-US" sz="1200" dirty="0">
                <a:latin typeface="黑体" panose="02010609060101010101" pitchFamily="49" charset="-122"/>
                <a:ea typeface="宋体" panose="02010600030101010101" pitchFamily="2" charset="-122"/>
              </a:rPr>
              <a:t>　　　　　　　　　　　　</a:t>
            </a:r>
          </a:p>
          <a:p>
            <a:pPr>
              <a:lnSpc>
                <a:spcPct val="60000"/>
              </a:lnSpc>
              <a:spcBef>
                <a:spcPct val="50000"/>
              </a:spcBef>
            </a:pPr>
            <a:r>
              <a:rPr lang="zh-CN" altLang="ja-JP" sz="1200" dirty="0">
                <a:latin typeface="黑体" panose="02010609060101010101" pitchFamily="49" charset="-122"/>
                <a:ea typeface="宋体" panose="02010600030101010101" pitchFamily="2" charset="-122"/>
              </a:rPr>
              <a:t>  </a:t>
            </a:r>
            <a:r>
              <a:rPr lang="zh-CN" altLang="en-US" sz="1200" dirty="0">
                <a:latin typeface="黑体" panose="02010609060101010101" pitchFamily="49" charset="-122"/>
                <a:ea typeface="宋体" panose="02010600030101010101" pitchFamily="2" charset="-122"/>
              </a:rPr>
              <a:t>称为B型触</a:t>
            </a:r>
            <a:r>
              <a:rPr lang="ja-JP" altLang="en-US" sz="1200" dirty="0">
                <a:latin typeface="黑体" panose="02010609060101010101" pitchFamily="49" charset="-122"/>
                <a:ea typeface="宋体" panose="02010600030101010101" pitchFamily="2" charset="-122"/>
              </a:rPr>
              <a:t>点</a:t>
            </a:r>
            <a:r>
              <a:rPr lang="zh-CN" altLang="en-US" sz="1200" dirty="0">
                <a:latin typeface="黑体" panose="02010609060101010101" pitchFamily="49" charset="-122"/>
                <a:ea typeface="宋体" panose="02010600030101010101" pitchFamily="2" charset="-122"/>
              </a:rPr>
              <a:t>(BREAK触</a:t>
            </a:r>
            <a:r>
              <a:rPr lang="ja-JP" altLang="en-US" sz="1200" dirty="0">
                <a:latin typeface="黑体" panose="02010609060101010101" pitchFamily="49" charset="-122"/>
                <a:ea typeface="宋体" panose="02010600030101010101" pitchFamily="2" charset="-122"/>
              </a:rPr>
              <a:t>点</a:t>
            </a:r>
            <a:r>
              <a:rPr lang="zh-CN" altLang="en-US" sz="1200" dirty="0">
                <a:latin typeface="黑体" panose="02010609060101010101" pitchFamily="49" charset="-122"/>
                <a:ea typeface="宋体" panose="02010600030101010101" pitchFamily="2" charset="-122"/>
              </a:rPr>
              <a:t>)或</a:t>
            </a:r>
            <a:endParaRPr lang="ja-JP" altLang="en-US" sz="1200" dirty="0">
              <a:latin typeface="黑体" panose="02010609060101010101" pitchFamily="49" charset="-122"/>
              <a:ea typeface="宋体" panose="02010600030101010101" pitchFamily="2" charset="-122"/>
            </a:endParaRPr>
          </a:p>
          <a:p>
            <a:pPr>
              <a:lnSpc>
                <a:spcPct val="60000"/>
              </a:lnSpc>
              <a:spcBef>
                <a:spcPct val="50000"/>
              </a:spcBef>
            </a:pPr>
            <a:r>
              <a:rPr lang="zh-CN" altLang="en-US" sz="1200" dirty="0">
                <a:latin typeface="黑体" panose="02010609060101010101" pitchFamily="49" charset="-122"/>
                <a:ea typeface="宋体" panose="02010600030101010101" pitchFamily="2" charset="-122"/>
              </a:rPr>
              <a:t>  </a:t>
            </a:r>
            <a:r>
              <a:rPr lang="zh-CN" altLang="en-US" sz="1200" dirty="0">
                <a:solidFill>
                  <a:srgbClr val="FF0000"/>
                </a:solidFill>
                <a:latin typeface="黑体" panose="02010609060101010101" pitchFamily="49" charset="-122"/>
                <a:ea typeface="宋体" panose="02010600030101010101" pitchFamily="2" charset="-122"/>
              </a:rPr>
              <a:t>常闭触点</a:t>
            </a:r>
            <a:r>
              <a:rPr lang="zh-CN" altLang="en-US" sz="1200" dirty="0">
                <a:latin typeface="黑体" panose="02010609060101010101" pitchFamily="49" charset="-122"/>
                <a:ea typeface="宋体" panose="02010600030101010101" pitchFamily="2" charset="-122"/>
              </a:rPr>
              <a:t>、NC触</a:t>
            </a:r>
            <a:r>
              <a:rPr lang="ja-JP" altLang="en-US" sz="1200" dirty="0">
                <a:latin typeface="黑体" panose="02010609060101010101" pitchFamily="49" charset="-122"/>
                <a:ea typeface="宋体" panose="02010600030101010101" pitchFamily="2" charset="-122"/>
              </a:rPr>
              <a:t>点</a:t>
            </a:r>
            <a:r>
              <a:rPr lang="en-US" altLang="ja-JP" sz="1200" dirty="0">
                <a:latin typeface="黑体" panose="02010609060101010101" pitchFamily="49" charset="-122"/>
                <a:ea typeface="宋体" panose="02010600030101010101" pitchFamily="2" charset="-122"/>
              </a:rPr>
              <a:t>(NORMAL CLOSE)</a:t>
            </a:r>
          </a:p>
        </p:txBody>
      </p:sp>
      <p:sp>
        <p:nvSpPr>
          <p:cNvPr id="83997" name="文本框 225309"/>
          <p:cNvSpPr txBox="1"/>
          <p:nvPr/>
        </p:nvSpPr>
        <p:spPr>
          <a:xfrm>
            <a:off x="4476750" y="3403600"/>
            <a:ext cx="1257300" cy="411163"/>
          </a:xfrm>
          <a:prstGeom prst="rect">
            <a:avLst/>
          </a:prstGeom>
          <a:noFill/>
          <a:ln w="9525">
            <a:noFill/>
          </a:ln>
        </p:spPr>
        <p:txBody>
          <a:bodyPr wrap="none" lIns="90000" tIns="46800" rIns="90000" bIns="46800" anchor="ctr" anchorCtr="0">
            <a:spAutoFit/>
          </a:bodyPr>
          <a:lstStyle/>
          <a:p>
            <a:pPr>
              <a:lnSpc>
                <a:spcPct val="50000"/>
              </a:lnSpc>
              <a:spcBef>
                <a:spcPct val="50000"/>
              </a:spcBef>
            </a:pPr>
            <a:r>
              <a:rPr lang="en-US" altLang="ja-JP" sz="1400" dirty="0">
                <a:latin typeface="黑体" panose="02010609060101010101" pitchFamily="49" charset="-122"/>
                <a:ea typeface="宋体" panose="02010600030101010101" pitchFamily="2" charset="-122"/>
              </a:rPr>
              <a:t>COM</a:t>
            </a:r>
            <a:r>
              <a:rPr lang="ja-JP" altLang="en-US" sz="1400" dirty="0">
                <a:latin typeface="黑体" panose="02010609060101010101" pitchFamily="49" charset="-122"/>
                <a:ea typeface="宋体" panose="02010600030101010101" pitchFamily="2" charset="-122"/>
              </a:rPr>
              <a:t>端子</a:t>
            </a:r>
          </a:p>
          <a:p>
            <a:pPr>
              <a:lnSpc>
                <a:spcPct val="50000"/>
              </a:lnSpc>
              <a:spcBef>
                <a:spcPct val="50000"/>
              </a:spcBef>
            </a:pPr>
            <a:r>
              <a:rPr lang="ja-JP" altLang="en-US" sz="1400" dirty="0">
                <a:latin typeface="黑体" panose="02010609060101010101" pitchFamily="49" charset="-122"/>
                <a:ea typeface="宋体" panose="02010600030101010101" pitchFamily="2" charset="-122"/>
              </a:rPr>
              <a:t>（共</a:t>
            </a:r>
            <a:r>
              <a:rPr lang="zh-CN" altLang="en-US" sz="1400" dirty="0">
                <a:latin typeface="黑体" panose="02010609060101010101" pitchFamily="49" charset="-122"/>
                <a:ea typeface="宋体" panose="02010600030101010101" pitchFamily="2" charset="-122"/>
              </a:rPr>
              <a:t>用</a:t>
            </a:r>
            <a:r>
              <a:rPr lang="ja-JP" altLang="en-US" sz="1400" dirty="0">
                <a:latin typeface="黑体" panose="02010609060101010101" pitchFamily="49" charset="-122"/>
                <a:ea typeface="宋体" panose="02010600030101010101" pitchFamily="2" charset="-122"/>
              </a:rPr>
              <a:t>端子）</a:t>
            </a:r>
          </a:p>
        </p:txBody>
      </p:sp>
      <p:grpSp>
        <p:nvGrpSpPr>
          <p:cNvPr id="83998" name="组合 225310"/>
          <p:cNvGrpSpPr/>
          <p:nvPr/>
        </p:nvGrpSpPr>
        <p:grpSpPr>
          <a:xfrm>
            <a:off x="6858000" y="2590800"/>
            <a:ext cx="417513" cy="257175"/>
            <a:chOff x="3360" y="3346"/>
            <a:chExt cx="624" cy="384"/>
          </a:xfrm>
        </p:grpSpPr>
        <p:grpSp>
          <p:nvGrpSpPr>
            <p:cNvPr id="83999" name="组合 225311"/>
            <p:cNvGrpSpPr/>
            <p:nvPr/>
          </p:nvGrpSpPr>
          <p:grpSpPr>
            <a:xfrm>
              <a:off x="3360" y="3346"/>
              <a:ext cx="624" cy="384"/>
              <a:chOff x="2976" y="3364"/>
              <a:chExt cx="624" cy="384"/>
            </a:xfrm>
          </p:grpSpPr>
          <p:grpSp>
            <p:nvGrpSpPr>
              <p:cNvPr id="84000" name="组合 225312"/>
              <p:cNvGrpSpPr/>
              <p:nvPr/>
            </p:nvGrpSpPr>
            <p:grpSpPr>
              <a:xfrm>
                <a:off x="2976" y="3364"/>
                <a:ext cx="432" cy="384"/>
                <a:chOff x="864" y="1536"/>
                <a:chExt cx="432" cy="384"/>
              </a:xfrm>
            </p:grpSpPr>
            <p:sp>
              <p:nvSpPr>
                <p:cNvPr id="84001" name="直接连接符 225313"/>
                <p:cNvSpPr/>
                <p:nvPr/>
              </p:nvSpPr>
              <p:spPr>
                <a:xfrm>
                  <a:off x="864" y="1728"/>
                  <a:ext cx="144" cy="0"/>
                </a:xfrm>
                <a:prstGeom prst="line">
                  <a:avLst/>
                </a:prstGeom>
                <a:ln w="28575" cap="flat" cmpd="sng">
                  <a:solidFill>
                    <a:schemeClr val="tx1"/>
                  </a:solidFill>
                  <a:prstDash val="solid"/>
                  <a:round/>
                  <a:headEnd type="none" w="med" len="med"/>
                  <a:tailEnd type="none" w="med" len="med"/>
                </a:ln>
              </p:spPr>
            </p:sp>
            <p:sp>
              <p:nvSpPr>
                <p:cNvPr id="84002" name="直接连接符 225314"/>
                <p:cNvSpPr/>
                <p:nvPr/>
              </p:nvSpPr>
              <p:spPr>
                <a:xfrm>
                  <a:off x="1008" y="1728"/>
                  <a:ext cx="0" cy="0"/>
                </a:xfrm>
                <a:prstGeom prst="line">
                  <a:avLst/>
                </a:prstGeom>
                <a:ln w="28575" cap="flat" cmpd="sng">
                  <a:solidFill>
                    <a:schemeClr val="tx1"/>
                  </a:solidFill>
                  <a:prstDash val="solid"/>
                  <a:round/>
                  <a:headEnd type="none" w="med" len="med"/>
                  <a:tailEnd type="none" w="med" len="med"/>
                </a:ln>
              </p:spPr>
            </p:sp>
            <p:sp>
              <p:nvSpPr>
                <p:cNvPr id="84003" name="直接连接符 225315"/>
                <p:cNvSpPr/>
                <p:nvPr/>
              </p:nvSpPr>
              <p:spPr>
                <a:xfrm>
                  <a:off x="1008" y="1536"/>
                  <a:ext cx="0" cy="384"/>
                </a:xfrm>
                <a:prstGeom prst="line">
                  <a:avLst/>
                </a:prstGeom>
                <a:ln w="28575" cap="flat" cmpd="sng">
                  <a:solidFill>
                    <a:schemeClr val="tx1"/>
                  </a:solidFill>
                  <a:prstDash val="solid"/>
                  <a:round/>
                  <a:headEnd type="none" w="med" len="med"/>
                  <a:tailEnd type="none" w="med" len="med"/>
                </a:ln>
              </p:spPr>
            </p:sp>
            <p:sp>
              <p:nvSpPr>
                <p:cNvPr id="84004" name="直接连接符 225316"/>
                <p:cNvSpPr/>
                <p:nvPr/>
              </p:nvSpPr>
              <p:spPr>
                <a:xfrm>
                  <a:off x="1296" y="1536"/>
                  <a:ext cx="0" cy="384"/>
                </a:xfrm>
                <a:prstGeom prst="line">
                  <a:avLst/>
                </a:prstGeom>
                <a:ln w="28575" cap="flat" cmpd="sng">
                  <a:solidFill>
                    <a:schemeClr val="tx1"/>
                  </a:solidFill>
                  <a:prstDash val="solid"/>
                  <a:round/>
                  <a:headEnd type="none" w="med" len="med"/>
                  <a:tailEnd type="none" w="med" len="med"/>
                </a:ln>
              </p:spPr>
            </p:sp>
          </p:grpSp>
          <p:sp>
            <p:nvSpPr>
              <p:cNvPr id="84005" name="直接连接符 225317"/>
              <p:cNvSpPr/>
              <p:nvPr/>
            </p:nvSpPr>
            <p:spPr>
              <a:xfrm>
                <a:off x="3408" y="3556"/>
                <a:ext cx="192" cy="0"/>
              </a:xfrm>
              <a:prstGeom prst="line">
                <a:avLst/>
              </a:prstGeom>
              <a:ln w="28575" cap="flat" cmpd="sng">
                <a:solidFill>
                  <a:schemeClr val="tx1"/>
                </a:solidFill>
                <a:prstDash val="solid"/>
                <a:round/>
                <a:headEnd type="none" w="med" len="med"/>
                <a:tailEnd type="none" w="med" len="med"/>
              </a:ln>
            </p:spPr>
          </p:sp>
        </p:grpSp>
        <p:sp>
          <p:nvSpPr>
            <p:cNvPr id="84006" name="直接连接符 225318"/>
            <p:cNvSpPr/>
            <p:nvPr/>
          </p:nvSpPr>
          <p:spPr>
            <a:xfrm flipH="1">
              <a:off x="3536" y="3368"/>
              <a:ext cx="216" cy="341"/>
            </a:xfrm>
            <a:prstGeom prst="line">
              <a:avLst/>
            </a:prstGeom>
            <a:ln w="28575" cap="flat" cmpd="sng">
              <a:solidFill>
                <a:schemeClr val="tx1"/>
              </a:solidFill>
              <a:prstDash val="solid"/>
              <a:round/>
              <a:headEnd type="none" w="med" len="med"/>
              <a:tailEnd type="none" w="med" len="med"/>
            </a:ln>
          </p:spPr>
        </p:sp>
      </p:grpSp>
      <p:grpSp>
        <p:nvGrpSpPr>
          <p:cNvPr id="84007" name="组合 225319"/>
          <p:cNvGrpSpPr/>
          <p:nvPr/>
        </p:nvGrpSpPr>
        <p:grpSpPr>
          <a:xfrm>
            <a:off x="6858000" y="3048000"/>
            <a:ext cx="417513" cy="257175"/>
            <a:chOff x="2208" y="3120"/>
            <a:chExt cx="263" cy="162"/>
          </a:xfrm>
        </p:grpSpPr>
        <p:grpSp>
          <p:nvGrpSpPr>
            <p:cNvPr id="84008" name="组合 225320"/>
            <p:cNvGrpSpPr/>
            <p:nvPr/>
          </p:nvGrpSpPr>
          <p:grpSpPr>
            <a:xfrm>
              <a:off x="2208" y="3120"/>
              <a:ext cx="182" cy="162"/>
              <a:chOff x="864" y="1536"/>
              <a:chExt cx="432" cy="384"/>
            </a:xfrm>
          </p:grpSpPr>
          <p:sp>
            <p:nvSpPr>
              <p:cNvPr id="84009" name="直接连接符 225321"/>
              <p:cNvSpPr/>
              <p:nvPr/>
            </p:nvSpPr>
            <p:spPr>
              <a:xfrm>
                <a:off x="864" y="1728"/>
                <a:ext cx="144" cy="0"/>
              </a:xfrm>
              <a:prstGeom prst="line">
                <a:avLst/>
              </a:prstGeom>
              <a:ln w="28575" cap="flat" cmpd="sng">
                <a:solidFill>
                  <a:schemeClr val="tx1"/>
                </a:solidFill>
                <a:prstDash val="solid"/>
                <a:round/>
                <a:headEnd type="none" w="med" len="med"/>
                <a:tailEnd type="none" w="med" len="med"/>
              </a:ln>
            </p:spPr>
          </p:sp>
          <p:sp>
            <p:nvSpPr>
              <p:cNvPr id="84010" name="直接连接符 225322"/>
              <p:cNvSpPr/>
              <p:nvPr/>
            </p:nvSpPr>
            <p:spPr>
              <a:xfrm>
                <a:off x="1008" y="1728"/>
                <a:ext cx="0" cy="0"/>
              </a:xfrm>
              <a:prstGeom prst="line">
                <a:avLst/>
              </a:prstGeom>
              <a:ln w="28575" cap="flat" cmpd="sng">
                <a:solidFill>
                  <a:schemeClr val="tx1"/>
                </a:solidFill>
                <a:prstDash val="solid"/>
                <a:round/>
                <a:headEnd type="none" w="med" len="med"/>
                <a:tailEnd type="none" w="med" len="med"/>
              </a:ln>
            </p:spPr>
          </p:sp>
          <p:sp>
            <p:nvSpPr>
              <p:cNvPr id="84011" name="直接连接符 225323"/>
              <p:cNvSpPr/>
              <p:nvPr/>
            </p:nvSpPr>
            <p:spPr>
              <a:xfrm>
                <a:off x="1008" y="1536"/>
                <a:ext cx="0" cy="384"/>
              </a:xfrm>
              <a:prstGeom prst="line">
                <a:avLst/>
              </a:prstGeom>
              <a:ln w="28575" cap="flat" cmpd="sng">
                <a:solidFill>
                  <a:schemeClr val="tx1"/>
                </a:solidFill>
                <a:prstDash val="solid"/>
                <a:round/>
                <a:headEnd type="none" w="med" len="med"/>
                <a:tailEnd type="none" w="med" len="med"/>
              </a:ln>
            </p:spPr>
          </p:sp>
          <p:sp>
            <p:nvSpPr>
              <p:cNvPr id="84012" name="直接连接符 225324"/>
              <p:cNvSpPr/>
              <p:nvPr/>
            </p:nvSpPr>
            <p:spPr>
              <a:xfrm>
                <a:off x="1296" y="1536"/>
                <a:ext cx="0" cy="384"/>
              </a:xfrm>
              <a:prstGeom prst="line">
                <a:avLst/>
              </a:prstGeom>
              <a:ln w="28575" cap="flat" cmpd="sng">
                <a:solidFill>
                  <a:schemeClr val="tx1"/>
                </a:solidFill>
                <a:prstDash val="solid"/>
                <a:round/>
                <a:headEnd type="none" w="med" len="med"/>
                <a:tailEnd type="none" w="med" len="med"/>
              </a:ln>
            </p:spPr>
          </p:sp>
        </p:grpSp>
        <p:sp>
          <p:nvSpPr>
            <p:cNvPr id="84013" name="直接连接符 225325"/>
            <p:cNvSpPr/>
            <p:nvPr/>
          </p:nvSpPr>
          <p:spPr>
            <a:xfrm>
              <a:off x="2390" y="3201"/>
              <a:ext cx="81" cy="0"/>
            </a:xfrm>
            <a:prstGeom prst="line">
              <a:avLst/>
            </a:prstGeom>
            <a:ln w="28575" cap="flat" cmpd="sng">
              <a:solidFill>
                <a:schemeClr val="tx1"/>
              </a:solidFill>
              <a:prstDash val="solid"/>
              <a:round/>
              <a:headEnd type="none" w="med" len="med"/>
              <a:tailEnd type="none" w="med" len="med"/>
            </a:ln>
          </p:spPr>
        </p:sp>
      </p:grpSp>
      <p:sp>
        <p:nvSpPr>
          <p:cNvPr id="84014" name="文本框 225326"/>
          <p:cNvSpPr txBox="1"/>
          <p:nvPr/>
        </p:nvSpPr>
        <p:spPr>
          <a:xfrm>
            <a:off x="4953000" y="4495800"/>
            <a:ext cx="3352800" cy="304800"/>
          </a:xfrm>
          <a:prstGeom prst="rect">
            <a:avLst/>
          </a:prstGeom>
          <a:noFill/>
          <a:ln w="9525">
            <a:noFill/>
          </a:ln>
        </p:spPr>
        <p:txBody>
          <a:bodyPr lIns="90000" tIns="46800" rIns="90000" bIns="46800" anchor="t" anchorCtr="0">
            <a:spAutoFit/>
          </a:bodyPr>
          <a:lstStyle/>
          <a:p>
            <a:pPr>
              <a:spcBef>
                <a:spcPct val="50000"/>
              </a:spcBef>
            </a:pPr>
            <a:endParaRPr lang="zh-CN" altLang="en-US" sz="1400" dirty="0">
              <a:latin typeface="黑体" panose="02010609060101010101" pitchFamily="49" charset="-122"/>
              <a:ea typeface="宋体" panose="02010600030101010101" pitchFamily="2" charset="-122"/>
            </a:endParaRPr>
          </a:p>
        </p:txBody>
      </p:sp>
      <p:sp>
        <p:nvSpPr>
          <p:cNvPr id="84015" name="文本框 225327"/>
          <p:cNvSpPr txBox="1"/>
          <p:nvPr/>
        </p:nvSpPr>
        <p:spPr>
          <a:xfrm>
            <a:off x="4724400" y="4151313"/>
            <a:ext cx="3810000" cy="2100262"/>
          </a:xfrm>
          <a:prstGeom prst="rect">
            <a:avLst/>
          </a:prstGeom>
          <a:noFill/>
          <a:ln w="9525">
            <a:noFill/>
          </a:ln>
        </p:spPr>
        <p:txBody>
          <a:bodyPr lIns="90000" tIns="46800" rIns="90000" bIns="46800" anchor="t" anchorCtr="0">
            <a:spAutoFit/>
          </a:bodyPr>
          <a:lstStyle/>
          <a:p>
            <a:r>
              <a:rPr lang="zh-CN" altLang="en-US" sz="1200" dirty="0">
                <a:latin typeface="黑体" panose="02010609060101010101" pitchFamily="49" charset="-122"/>
                <a:ea typeface="宋体" panose="02010600030101010101" pitchFamily="2" charset="-122"/>
              </a:rPr>
              <a:t>【小结</a:t>
            </a:r>
            <a:r>
              <a:rPr lang="ja-JP" altLang="en-US" sz="1200" dirty="0">
                <a:latin typeface="黑体" panose="02010609060101010101" pitchFamily="49" charset="-122"/>
                <a:ea typeface="宋体" panose="02010600030101010101" pitchFamily="2" charset="-122"/>
              </a:rPr>
              <a:t>】</a:t>
            </a:r>
          </a:p>
          <a:p>
            <a:r>
              <a:rPr lang="zh-CN" altLang="en-US" sz="1200" dirty="0">
                <a:latin typeface="黑体" panose="02010609060101010101" pitchFamily="49" charset="-122"/>
                <a:ea typeface="宋体" panose="02010600030101010101" pitchFamily="2" charset="-122"/>
              </a:rPr>
              <a:t>    在PLC程序的多种</a:t>
            </a:r>
            <a:r>
              <a:rPr lang="ja-JP" altLang="en-US" sz="1200" dirty="0">
                <a:latin typeface="黑体" panose="02010609060101010101" pitchFamily="49" charset="-122"/>
                <a:ea typeface="宋体" panose="02010600030101010101" pitchFamily="2" charset="-122"/>
              </a:rPr>
              <a:t>方式</a:t>
            </a:r>
            <a:r>
              <a:rPr lang="zh-CN" altLang="en-US" sz="1200" dirty="0">
                <a:latin typeface="黑体" panose="02010609060101010101" pitchFamily="49" charset="-122"/>
                <a:ea typeface="宋体" panose="02010600030101010101" pitchFamily="2" charset="-122"/>
              </a:rPr>
              <a:t>中．作为具有代表性的</a:t>
            </a:r>
          </a:p>
          <a:p>
            <a:r>
              <a:rPr lang="zh-CN" altLang="en-US" sz="1200" dirty="0">
                <a:latin typeface="黑体" panose="02010609060101010101" pitchFamily="49" charset="-122"/>
                <a:ea typeface="宋体" panose="02010600030101010101" pitchFamily="2" charset="-122"/>
              </a:rPr>
              <a:t>    梯形图方式,由于非常类似继电器顺序控制回路</a:t>
            </a:r>
          </a:p>
          <a:p>
            <a:r>
              <a:rPr lang="zh-CN" altLang="en-US" sz="1200" dirty="0">
                <a:latin typeface="黑体" panose="02010609060101010101" pitchFamily="49" charset="-122"/>
                <a:ea typeface="宋体" panose="02010600030101010101" pitchFamily="2" charset="-122"/>
              </a:rPr>
              <a:t>    而被广泛使用．</a:t>
            </a:r>
            <a:endParaRPr lang="ja-JP" altLang="en-US" sz="1200" dirty="0">
              <a:latin typeface="黑体" panose="02010609060101010101" pitchFamily="49" charset="-122"/>
              <a:ea typeface="宋体" panose="02010600030101010101" pitchFamily="2" charset="-122"/>
            </a:endParaRPr>
          </a:p>
          <a:p>
            <a:r>
              <a:rPr lang="zh-CN" altLang="en-US" sz="1200" dirty="0">
                <a:latin typeface="黑体" panose="02010609060101010101" pitchFamily="49" charset="-122"/>
                <a:ea typeface="宋体" panose="02010600030101010101" pitchFamily="2" charset="-122"/>
              </a:rPr>
              <a:t>【梯形图的绘制步骤</a:t>
            </a:r>
            <a:r>
              <a:rPr lang="ja-JP" altLang="en-US" sz="1200" dirty="0">
                <a:latin typeface="黑体" panose="02010609060101010101" pitchFamily="49" charset="-122"/>
                <a:ea typeface="宋体" panose="02010600030101010101" pitchFamily="2" charset="-122"/>
              </a:rPr>
              <a:t>】</a:t>
            </a:r>
          </a:p>
          <a:p>
            <a:r>
              <a:rPr lang="ja-JP" altLang="en-US" sz="1200" dirty="0">
                <a:latin typeface="黑体" panose="02010609060101010101" pitchFamily="49" charset="-122"/>
                <a:ea typeface="宋体" panose="02010600030101010101" pitchFamily="2" charset="-122"/>
              </a:rPr>
              <a:t>　　</a:t>
            </a:r>
            <a:r>
              <a:rPr lang="zh-CN" altLang="en-US" sz="1200" dirty="0">
                <a:latin typeface="黑体" panose="02010609060101010101" pitchFamily="49" charset="-122"/>
                <a:ea typeface="宋体" panose="02010600030101010101" pitchFamily="2" charset="-122"/>
              </a:rPr>
              <a:t>①画出控制电源母线</a:t>
            </a:r>
            <a:endParaRPr lang="ja-JP" altLang="en-US" sz="1200" dirty="0">
              <a:latin typeface="黑体" panose="02010609060101010101" pitchFamily="49" charset="-122"/>
              <a:ea typeface="宋体" panose="02010600030101010101" pitchFamily="2" charset="-122"/>
            </a:endParaRPr>
          </a:p>
          <a:p>
            <a:r>
              <a:rPr lang="zh-CN" altLang="en-US" sz="1200" dirty="0">
                <a:latin typeface="黑体" panose="02010609060101010101" pitchFamily="49" charset="-122"/>
                <a:ea typeface="宋体" panose="02010600030101010101" pitchFamily="2" charset="-122"/>
              </a:rPr>
              <a:t>　　②在控制电源母线内连接各触点和输入输出</a:t>
            </a:r>
          </a:p>
          <a:p>
            <a:r>
              <a:rPr lang="zh-CN" altLang="en-US" sz="1200" dirty="0">
                <a:latin typeface="黑体" panose="02010609060101010101" pitchFamily="49" charset="-122"/>
                <a:ea typeface="宋体" panose="02010600030101010101" pitchFamily="2" charset="-122"/>
              </a:rPr>
              <a:t>      继电器等要素</a:t>
            </a:r>
            <a:endParaRPr lang="ja-JP" altLang="en-US" sz="1200" dirty="0">
              <a:latin typeface="黑体" panose="02010609060101010101" pitchFamily="49" charset="-122"/>
              <a:ea typeface="宋体" panose="02010600030101010101" pitchFamily="2" charset="-122"/>
            </a:endParaRPr>
          </a:p>
          <a:p>
            <a:r>
              <a:rPr lang="ja-JP" altLang="en-US" sz="1200" dirty="0">
                <a:latin typeface="黑体" panose="02010609060101010101" pitchFamily="49" charset="-122"/>
                <a:ea typeface="宋体" panose="02010600030101010101" pitchFamily="2" charset="-122"/>
              </a:rPr>
              <a:t>　　</a:t>
            </a:r>
            <a:r>
              <a:rPr lang="zh-CN" altLang="en-US" sz="1200" dirty="0">
                <a:latin typeface="黑体" panose="02010609060101010101" pitchFamily="49" charset="-122"/>
                <a:ea typeface="宋体" panose="02010600030101010101" pitchFamily="2" charset="-122"/>
              </a:rPr>
              <a:t>电路图中定时器、限位开关、继电器等触点的</a:t>
            </a:r>
          </a:p>
          <a:p>
            <a:r>
              <a:rPr lang="zh-CN" altLang="en-US" sz="1200" dirty="0">
                <a:latin typeface="黑体" panose="02010609060101010101" pitchFamily="49" charset="-122"/>
                <a:ea typeface="宋体" panose="02010600030101010101" pitchFamily="2" charset="-122"/>
              </a:rPr>
              <a:t>    符号各不相同，而在PLC的梯形图中却不加以</a:t>
            </a:r>
          </a:p>
          <a:p>
            <a:r>
              <a:rPr lang="zh-CN" altLang="en-US" sz="1200" dirty="0">
                <a:latin typeface="黑体" panose="02010609060101010101" pitchFamily="49" charset="-122"/>
                <a:ea typeface="宋体" panose="02010600030101010101" pitchFamily="2" charset="-122"/>
              </a:rPr>
              <a:t>    区别，仅使用打印机可以打印的文字符号．</a:t>
            </a:r>
          </a:p>
        </p:txBody>
      </p:sp>
      <p:grpSp>
        <p:nvGrpSpPr>
          <p:cNvPr id="84016" name="组合 225328"/>
          <p:cNvGrpSpPr/>
          <p:nvPr/>
        </p:nvGrpSpPr>
        <p:grpSpPr>
          <a:xfrm>
            <a:off x="1116013" y="2635250"/>
            <a:ext cx="138112" cy="336550"/>
            <a:chOff x="959" y="1684"/>
            <a:chExt cx="87" cy="212"/>
          </a:xfrm>
        </p:grpSpPr>
        <p:sp>
          <p:nvSpPr>
            <p:cNvPr id="84017" name="直接连接符 225329"/>
            <p:cNvSpPr/>
            <p:nvPr/>
          </p:nvSpPr>
          <p:spPr>
            <a:xfrm>
              <a:off x="959" y="1684"/>
              <a:ext cx="0" cy="212"/>
            </a:xfrm>
            <a:prstGeom prst="line">
              <a:avLst/>
            </a:prstGeom>
            <a:ln w="28575" cap="flat" cmpd="sng">
              <a:solidFill>
                <a:schemeClr val="tx1"/>
              </a:solidFill>
              <a:prstDash val="solid"/>
              <a:round/>
              <a:headEnd type="none" w="med" len="med"/>
              <a:tailEnd type="none" w="med" len="med"/>
            </a:ln>
          </p:spPr>
        </p:sp>
        <p:sp>
          <p:nvSpPr>
            <p:cNvPr id="84018" name="直接连接符 225330"/>
            <p:cNvSpPr/>
            <p:nvPr/>
          </p:nvSpPr>
          <p:spPr>
            <a:xfrm>
              <a:off x="1046" y="1684"/>
              <a:ext cx="0" cy="212"/>
            </a:xfrm>
            <a:prstGeom prst="line">
              <a:avLst/>
            </a:prstGeom>
            <a:ln w="28575" cap="flat" cmpd="sng">
              <a:solidFill>
                <a:schemeClr val="tx1"/>
              </a:solidFill>
              <a:prstDash val="solid"/>
              <a:round/>
              <a:headEnd type="none" w="med" len="med"/>
              <a:tailEnd type="none" w="med" len="med"/>
            </a:ln>
          </p:spPr>
        </p:sp>
      </p:grpSp>
      <p:sp>
        <p:nvSpPr>
          <p:cNvPr id="84019" name="直接连接符 225331"/>
          <p:cNvSpPr/>
          <p:nvPr/>
        </p:nvSpPr>
        <p:spPr>
          <a:xfrm>
            <a:off x="1257300" y="2790825"/>
            <a:ext cx="468313" cy="12700"/>
          </a:xfrm>
          <a:prstGeom prst="line">
            <a:avLst/>
          </a:prstGeom>
          <a:ln w="28575" cap="flat" cmpd="sng">
            <a:solidFill>
              <a:schemeClr val="tx1"/>
            </a:solidFill>
            <a:prstDash val="solid"/>
            <a:round/>
            <a:headEnd type="none" w="med" len="med"/>
            <a:tailEnd type="none" w="med" len="med"/>
          </a:ln>
        </p:spPr>
      </p:sp>
      <p:grpSp>
        <p:nvGrpSpPr>
          <p:cNvPr id="84020" name="组合 225332"/>
          <p:cNvGrpSpPr/>
          <p:nvPr/>
        </p:nvGrpSpPr>
        <p:grpSpPr>
          <a:xfrm>
            <a:off x="3009900" y="2692400"/>
            <a:ext cx="50800" cy="241300"/>
            <a:chOff x="1896" y="1680"/>
            <a:chExt cx="32" cy="152"/>
          </a:xfrm>
        </p:grpSpPr>
        <p:sp>
          <p:nvSpPr>
            <p:cNvPr id="84021" name="直接连接符 225333"/>
            <p:cNvSpPr/>
            <p:nvPr/>
          </p:nvSpPr>
          <p:spPr>
            <a:xfrm>
              <a:off x="1904" y="1688"/>
              <a:ext cx="0" cy="144"/>
            </a:xfrm>
            <a:prstGeom prst="line">
              <a:avLst/>
            </a:prstGeom>
            <a:ln w="28575" cap="flat" cmpd="sng">
              <a:solidFill>
                <a:schemeClr val="tx1"/>
              </a:solidFill>
              <a:prstDash val="solid"/>
              <a:round/>
              <a:headEnd type="none" w="med" len="med"/>
              <a:tailEnd type="none" w="med" len="med"/>
            </a:ln>
          </p:spPr>
        </p:sp>
        <p:sp>
          <p:nvSpPr>
            <p:cNvPr id="84022" name="直接连接符 225334"/>
            <p:cNvSpPr/>
            <p:nvPr/>
          </p:nvSpPr>
          <p:spPr>
            <a:xfrm>
              <a:off x="1896" y="1832"/>
              <a:ext cx="32" cy="0"/>
            </a:xfrm>
            <a:prstGeom prst="line">
              <a:avLst/>
            </a:prstGeom>
            <a:ln w="28575" cap="flat" cmpd="sng">
              <a:solidFill>
                <a:schemeClr val="tx1"/>
              </a:solidFill>
              <a:prstDash val="solid"/>
              <a:round/>
              <a:headEnd type="none" w="med" len="med"/>
              <a:tailEnd type="none" w="med" len="med"/>
            </a:ln>
          </p:spPr>
        </p:sp>
        <p:sp>
          <p:nvSpPr>
            <p:cNvPr id="84023" name="直接连接符 225335"/>
            <p:cNvSpPr/>
            <p:nvPr/>
          </p:nvSpPr>
          <p:spPr>
            <a:xfrm>
              <a:off x="1896" y="1680"/>
              <a:ext cx="32" cy="0"/>
            </a:xfrm>
            <a:prstGeom prst="line">
              <a:avLst/>
            </a:prstGeom>
            <a:ln w="28575" cap="flat" cmpd="sng">
              <a:solidFill>
                <a:schemeClr val="tx1"/>
              </a:solidFill>
              <a:prstDash val="solid"/>
              <a:round/>
              <a:headEnd type="none" w="med" len="med"/>
              <a:tailEnd type="none" w="med" len="med"/>
            </a:ln>
          </p:spPr>
        </p:sp>
      </p:grpSp>
      <p:grpSp>
        <p:nvGrpSpPr>
          <p:cNvPr id="84024" name="组合 225336"/>
          <p:cNvGrpSpPr/>
          <p:nvPr/>
        </p:nvGrpSpPr>
        <p:grpSpPr>
          <a:xfrm flipH="1">
            <a:off x="3416300" y="2692400"/>
            <a:ext cx="50800" cy="241300"/>
            <a:chOff x="1896" y="1680"/>
            <a:chExt cx="32" cy="152"/>
          </a:xfrm>
        </p:grpSpPr>
        <p:sp>
          <p:nvSpPr>
            <p:cNvPr id="84025" name="直接连接符 225337"/>
            <p:cNvSpPr/>
            <p:nvPr/>
          </p:nvSpPr>
          <p:spPr>
            <a:xfrm>
              <a:off x="1904" y="1688"/>
              <a:ext cx="0" cy="144"/>
            </a:xfrm>
            <a:prstGeom prst="line">
              <a:avLst/>
            </a:prstGeom>
            <a:ln w="28575" cap="flat" cmpd="sng">
              <a:solidFill>
                <a:schemeClr val="tx1"/>
              </a:solidFill>
              <a:prstDash val="solid"/>
              <a:round/>
              <a:headEnd type="none" w="med" len="med"/>
              <a:tailEnd type="none" w="med" len="med"/>
            </a:ln>
          </p:spPr>
        </p:sp>
        <p:sp>
          <p:nvSpPr>
            <p:cNvPr id="84026" name="直接连接符 225338"/>
            <p:cNvSpPr/>
            <p:nvPr/>
          </p:nvSpPr>
          <p:spPr>
            <a:xfrm>
              <a:off x="1896" y="1832"/>
              <a:ext cx="32" cy="0"/>
            </a:xfrm>
            <a:prstGeom prst="line">
              <a:avLst/>
            </a:prstGeom>
            <a:ln w="28575" cap="flat" cmpd="sng">
              <a:solidFill>
                <a:schemeClr val="tx1"/>
              </a:solidFill>
              <a:prstDash val="solid"/>
              <a:round/>
              <a:headEnd type="none" w="med" len="med"/>
              <a:tailEnd type="none" w="med" len="med"/>
            </a:ln>
          </p:spPr>
        </p:sp>
        <p:sp>
          <p:nvSpPr>
            <p:cNvPr id="84027" name="直接连接符 225339"/>
            <p:cNvSpPr/>
            <p:nvPr/>
          </p:nvSpPr>
          <p:spPr>
            <a:xfrm>
              <a:off x="1896" y="1680"/>
              <a:ext cx="32" cy="0"/>
            </a:xfrm>
            <a:prstGeom prst="line">
              <a:avLst/>
            </a:prstGeom>
            <a:ln w="28575" cap="flat" cmpd="sng">
              <a:solidFill>
                <a:schemeClr val="tx1"/>
              </a:solidFill>
              <a:prstDash val="solid"/>
              <a:round/>
              <a:headEnd type="none" w="med" len="med"/>
              <a:tailEnd type="none" w="med" len="med"/>
            </a:ln>
          </p:spPr>
        </p:sp>
      </p:grpSp>
      <p:sp>
        <p:nvSpPr>
          <p:cNvPr id="84028" name="直接连接符 225340"/>
          <p:cNvSpPr/>
          <p:nvPr/>
        </p:nvSpPr>
        <p:spPr>
          <a:xfrm>
            <a:off x="1408113" y="3260725"/>
            <a:ext cx="0" cy="0"/>
          </a:xfrm>
          <a:prstGeom prst="line">
            <a:avLst/>
          </a:prstGeom>
          <a:ln w="28575" cap="flat" cmpd="sng">
            <a:solidFill>
              <a:schemeClr val="tx1"/>
            </a:solidFill>
            <a:prstDash val="solid"/>
            <a:round/>
            <a:headEnd type="none" w="med" len="med"/>
            <a:tailEnd type="none" w="med" len="med"/>
          </a:ln>
        </p:spPr>
      </p:sp>
      <p:grpSp>
        <p:nvGrpSpPr>
          <p:cNvPr id="84029" name="组合 225341"/>
          <p:cNvGrpSpPr/>
          <p:nvPr/>
        </p:nvGrpSpPr>
        <p:grpSpPr>
          <a:xfrm>
            <a:off x="1725613" y="3054350"/>
            <a:ext cx="138112" cy="336550"/>
            <a:chOff x="959" y="1684"/>
            <a:chExt cx="87" cy="212"/>
          </a:xfrm>
        </p:grpSpPr>
        <p:sp>
          <p:nvSpPr>
            <p:cNvPr id="84030" name="直接连接符 225342"/>
            <p:cNvSpPr/>
            <p:nvPr/>
          </p:nvSpPr>
          <p:spPr>
            <a:xfrm>
              <a:off x="959" y="1684"/>
              <a:ext cx="0" cy="212"/>
            </a:xfrm>
            <a:prstGeom prst="line">
              <a:avLst/>
            </a:prstGeom>
            <a:ln w="28575" cap="flat" cmpd="sng">
              <a:solidFill>
                <a:schemeClr val="tx1"/>
              </a:solidFill>
              <a:prstDash val="solid"/>
              <a:round/>
              <a:headEnd type="none" w="med" len="med"/>
              <a:tailEnd type="none" w="med" len="med"/>
            </a:ln>
          </p:spPr>
        </p:sp>
        <p:sp>
          <p:nvSpPr>
            <p:cNvPr id="84031" name="直接连接符 225343"/>
            <p:cNvSpPr/>
            <p:nvPr/>
          </p:nvSpPr>
          <p:spPr>
            <a:xfrm>
              <a:off x="1046" y="1684"/>
              <a:ext cx="0" cy="212"/>
            </a:xfrm>
            <a:prstGeom prst="line">
              <a:avLst/>
            </a:prstGeom>
            <a:ln w="28575" cap="flat" cmpd="sng">
              <a:solidFill>
                <a:schemeClr val="tx1"/>
              </a:solidFill>
              <a:prstDash val="solid"/>
              <a:round/>
              <a:headEnd type="none" w="med" len="med"/>
              <a:tailEnd type="none" w="med" len="med"/>
            </a:ln>
          </p:spPr>
        </p:sp>
      </p:grpSp>
      <p:sp>
        <p:nvSpPr>
          <p:cNvPr id="84032" name="直接连接符 225344"/>
          <p:cNvSpPr/>
          <p:nvPr/>
        </p:nvSpPr>
        <p:spPr>
          <a:xfrm>
            <a:off x="2473325" y="3228975"/>
            <a:ext cx="546100" cy="0"/>
          </a:xfrm>
          <a:prstGeom prst="line">
            <a:avLst/>
          </a:prstGeom>
          <a:ln w="28575" cap="flat" cmpd="sng">
            <a:solidFill>
              <a:schemeClr val="tx1"/>
            </a:solidFill>
            <a:prstDash val="solid"/>
            <a:round/>
            <a:headEnd type="none" w="med" len="med"/>
            <a:tailEnd type="none" w="med" len="med"/>
          </a:ln>
        </p:spPr>
      </p:sp>
      <p:sp>
        <p:nvSpPr>
          <p:cNvPr id="84033" name="直接连接符 225345"/>
          <p:cNvSpPr/>
          <p:nvPr/>
        </p:nvSpPr>
        <p:spPr>
          <a:xfrm>
            <a:off x="3452813" y="3228975"/>
            <a:ext cx="255587" cy="0"/>
          </a:xfrm>
          <a:prstGeom prst="line">
            <a:avLst/>
          </a:prstGeom>
          <a:ln w="28575" cap="flat" cmpd="sng">
            <a:solidFill>
              <a:schemeClr val="tx1"/>
            </a:solidFill>
            <a:prstDash val="solid"/>
            <a:round/>
            <a:headEnd type="none" w="med" len="med"/>
            <a:tailEnd type="none" w="med" len="med"/>
          </a:ln>
        </p:spPr>
      </p:sp>
      <p:sp>
        <p:nvSpPr>
          <p:cNvPr id="84034" name="文本框 225346"/>
          <p:cNvSpPr txBox="1"/>
          <p:nvPr/>
        </p:nvSpPr>
        <p:spPr>
          <a:xfrm>
            <a:off x="1211263" y="2946400"/>
            <a:ext cx="461962" cy="304800"/>
          </a:xfrm>
          <a:prstGeom prst="rect">
            <a:avLst/>
          </a:prstGeom>
          <a:noFill/>
          <a:ln w="9525">
            <a:noFill/>
          </a:ln>
        </p:spPr>
        <p:txBody>
          <a:bodyPr anchor="t" anchorCtr="0">
            <a:spAutoFit/>
          </a:bodyPr>
          <a:lstStyle/>
          <a:p>
            <a:pPr>
              <a:spcBef>
                <a:spcPct val="50000"/>
              </a:spcBef>
            </a:pPr>
            <a:r>
              <a:rPr lang="en-US" altLang="ja-JP" sz="1400" dirty="0">
                <a:latin typeface="黑体" panose="02010609060101010101" pitchFamily="49" charset="-122"/>
                <a:ea typeface="宋体" panose="02010600030101010101" pitchFamily="2" charset="-122"/>
              </a:rPr>
              <a:t>X0</a:t>
            </a:r>
            <a:endParaRPr lang="en-US" altLang="ja-JP" sz="2400" dirty="0">
              <a:latin typeface="黑体" panose="02010609060101010101" pitchFamily="49" charset="-122"/>
              <a:ea typeface="宋体" panose="02010600030101010101" pitchFamily="2" charset="-122"/>
            </a:endParaRPr>
          </a:p>
        </p:txBody>
      </p:sp>
      <p:sp>
        <p:nvSpPr>
          <p:cNvPr id="84035" name="文本框 225347"/>
          <p:cNvSpPr txBox="1"/>
          <p:nvPr/>
        </p:nvSpPr>
        <p:spPr>
          <a:xfrm>
            <a:off x="3032125" y="3086100"/>
            <a:ext cx="461963" cy="304800"/>
          </a:xfrm>
          <a:prstGeom prst="rect">
            <a:avLst/>
          </a:prstGeom>
          <a:noFill/>
          <a:ln w="9525">
            <a:noFill/>
          </a:ln>
        </p:spPr>
        <p:txBody>
          <a:bodyPr anchor="t" anchorCtr="0">
            <a:spAutoFit/>
          </a:bodyPr>
          <a:lstStyle/>
          <a:p>
            <a:pPr>
              <a:spcBef>
                <a:spcPct val="50000"/>
              </a:spcBef>
            </a:pPr>
            <a:r>
              <a:rPr lang="en-US" altLang="ja-JP" sz="1400" dirty="0">
                <a:latin typeface="黑体" panose="02010609060101010101" pitchFamily="49" charset="-122"/>
                <a:ea typeface="宋体" panose="02010600030101010101" pitchFamily="2" charset="-122"/>
              </a:rPr>
              <a:t>Y1</a:t>
            </a:r>
          </a:p>
        </p:txBody>
      </p:sp>
      <p:sp>
        <p:nvSpPr>
          <p:cNvPr id="84036" name="直接连接符 225348"/>
          <p:cNvSpPr/>
          <p:nvPr/>
        </p:nvSpPr>
        <p:spPr>
          <a:xfrm flipV="1">
            <a:off x="838200" y="3209925"/>
            <a:ext cx="265113" cy="12700"/>
          </a:xfrm>
          <a:prstGeom prst="line">
            <a:avLst/>
          </a:prstGeom>
          <a:ln w="28575" cap="flat" cmpd="sng">
            <a:solidFill>
              <a:schemeClr val="tx1"/>
            </a:solidFill>
            <a:prstDash val="solid"/>
            <a:round/>
            <a:headEnd type="none" w="med" len="med"/>
            <a:tailEnd type="none" w="med" len="med"/>
          </a:ln>
        </p:spPr>
      </p:sp>
      <p:sp>
        <p:nvSpPr>
          <p:cNvPr id="84037" name="直接连接符 225349"/>
          <p:cNvSpPr/>
          <p:nvPr/>
        </p:nvSpPr>
        <p:spPr>
          <a:xfrm>
            <a:off x="963613" y="3260725"/>
            <a:ext cx="0" cy="0"/>
          </a:xfrm>
          <a:prstGeom prst="line">
            <a:avLst/>
          </a:prstGeom>
          <a:ln w="28575" cap="flat" cmpd="sng">
            <a:solidFill>
              <a:schemeClr val="tx1"/>
            </a:solidFill>
            <a:prstDash val="solid"/>
            <a:round/>
            <a:headEnd type="none" w="med" len="med"/>
            <a:tailEnd type="none" w="med" len="med"/>
          </a:ln>
        </p:spPr>
      </p:sp>
      <p:sp>
        <p:nvSpPr>
          <p:cNvPr id="84038" name="文本框 225350"/>
          <p:cNvSpPr txBox="1"/>
          <p:nvPr/>
        </p:nvSpPr>
        <p:spPr>
          <a:xfrm>
            <a:off x="1844675" y="2946400"/>
            <a:ext cx="461963" cy="304800"/>
          </a:xfrm>
          <a:prstGeom prst="rect">
            <a:avLst/>
          </a:prstGeom>
          <a:noFill/>
          <a:ln w="9525">
            <a:noFill/>
          </a:ln>
        </p:spPr>
        <p:txBody>
          <a:bodyPr anchor="t" anchorCtr="0">
            <a:spAutoFit/>
          </a:bodyPr>
          <a:lstStyle/>
          <a:p>
            <a:pPr>
              <a:spcBef>
                <a:spcPct val="50000"/>
              </a:spcBef>
            </a:pPr>
            <a:r>
              <a:rPr lang="en-US" altLang="ja-JP" sz="1400" dirty="0">
                <a:latin typeface="黑体" panose="02010609060101010101" pitchFamily="49" charset="-122"/>
                <a:ea typeface="宋体" panose="02010600030101010101" pitchFamily="2" charset="-122"/>
              </a:rPr>
              <a:t>X1</a:t>
            </a:r>
          </a:p>
        </p:txBody>
      </p:sp>
      <p:grpSp>
        <p:nvGrpSpPr>
          <p:cNvPr id="84039" name="组合 225351"/>
          <p:cNvGrpSpPr/>
          <p:nvPr/>
        </p:nvGrpSpPr>
        <p:grpSpPr>
          <a:xfrm>
            <a:off x="1116013" y="3054350"/>
            <a:ext cx="138112" cy="336550"/>
            <a:chOff x="959" y="1684"/>
            <a:chExt cx="87" cy="212"/>
          </a:xfrm>
        </p:grpSpPr>
        <p:sp>
          <p:nvSpPr>
            <p:cNvPr id="84040" name="直接连接符 225352"/>
            <p:cNvSpPr/>
            <p:nvPr/>
          </p:nvSpPr>
          <p:spPr>
            <a:xfrm>
              <a:off x="959" y="1684"/>
              <a:ext cx="0" cy="212"/>
            </a:xfrm>
            <a:prstGeom prst="line">
              <a:avLst/>
            </a:prstGeom>
            <a:ln w="28575" cap="flat" cmpd="sng">
              <a:solidFill>
                <a:schemeClr val="tx1"/>
              </a:solidFill>
              <a:prstDash val="solid"/>
              <a:round/>
              <a:headEnd type="none" w="med" len="med"/>
              <a:tailEnd type="none" w="med" len="med"/>
            </a:ln>
          </p:spPr>
        </p:sp>
        <p:sp>
          <p:nvSpPr>
            <p:cNvPr id="84041" name="直接连接符 225353"/>
            <p:cNvSpPr/>
            <p:nvPr/>
          </p:nvSpPr>
          <p:spPr>
            <a:xfrm>
              <a:off x="1046" y="1684"/>
              <a:ext cx="0" cy="212"/>
            </a:xfrm>
            <a:prstGeom prst="line">
              <a:avLst/>
            </a:prstGeom>
            <a:ln w="28575" cap="flat" cmpd="sng">
              <a:solidFill>
                <a:schemeClr val="tx1"/>
              </a:solidFill>
              <a:prstDash val="solid"/>
              <a:round/>
              <a:headEnd type="none" w="med" len="med"/>
              <a:tailEnd type="none" w="med" len="med"/>
            </a:ln>
          </p:spPr>
        </p:sp>
      </p:grpSp>
      <p:sp>
        <p:nvSpPr>
          <p:cNvPr id="84042" name="直接连接符 225354"/>
          <p:cNvSpPr/>
          <p:nvPr/>
        </p:nvSpPr>
        <p:spPr>
          <a:xfrm>
            <a:off x="1257300" y="3209925"/>
            <a:ext cx="468313" cy="12700"/>
          </a:xfrm>
          <a:prstGeom prst="line">
            <a:avLst/>
          </a:prstGeom>
          <a:ln w="28575" cap="flat" cmpd="sng">
            <a:solidFill>
              <a:schemeClr val="tx1"/>
            </a:solidFill>
            <a:prstDash val="solid"/>
            <a:round/>
            <a:headEnd type="none" w="med" len="med"/>
            <a:tailEnd type="none" w="med" len="med"/>
          </a:ln>
        </p:spPr>
      </p:sp>
      <p:grpSp>
        <p:nvGrpSpPr>
          <p:cNvPr id="84043" name="组合 225355"/>
          <p:cNvGrpSpPr/>
          <p:nvPr/>
        </p:nvGrpSpPr>
        <p:grpSpPr>
          <a:xfrm>
            <a:off x="3009900" y="3111500"/>
            <a:ext cx="50800" cy="241300"/>
            <a:chOff x="1896" y="1680"/>
            <a:chExt cx="32" cy="152"/>
          </a:xfrm>
        </p:grpSpPr>
        <p:sp>
          <p:nvSpPr>
            <p:cNvPr id="84044" name="直接连接符 225356"/>
            <p:cNvSpPr/>
            <p:nvPr/>
          </p:nvSpPr>
          <p:spPr>
            <a:xfrm>
              <a:off x="1904" y="1688"/>
              <a:ext cx="0" cy="144"/>
            </a:xfrm>
            <a:prstGeom prst="line">
              <a:avLst/>
            </a:prstGeom>
            <a:ln w="28575" cap="flat" cmpd="sng">
              <a:solidFill>
                <a:schemeClr val="tx1"/>
              </a:solidFill>
              <a:prstDash val="solid"/>
              <a:round/>
              <a:headEnd type="none" w="med" len="med"/>
              <a:tailEnd type="none" w="med" len="med"/>
            </a:ln>
          </p:spPr>
        </p:sp>
        <p:sp>
          <p:nvSpPr>
            <p:cNvPr id="84045" name="直接连接符 225357"/>
            <p:cNvSpPr/>
            <p:nvPr/>
          </p:nvSpPr>
          <p:spPr>
            <a:xfrm>
              <a:off x="1896" y="1832"/>
              <a:ext cx="32" cy="0"/>
            </a:xfrm>
            <a:prstGeom prst="line">
              <a:avLst/>
            </a:prstGeom>
            <a:ln w="28575" cap="flat" cmpd="sng">
              <a:solidFill>
                <a:schemeClr val="tx1"/>
              </a:solidFill>
              <a:prstDash val="solid"/>
              <a:round/>
              <a:headEnd type="none" w="med" len="med"/>
              <a:tailEnd type="none" w="med" len="med"/>
            </a:ln>
          </p:spPr>
        </p:sp>
        <p:sp>
          <p:nvSpPr>
            <p:cNvPr id="84046" name="直接连接符 225358"/>
            <p:cNvSpPr/>
            <p:nvPr/>
          </p:nvSpPr>
          <p:spPr>
            <a:xfrm>
              <a:off x="1896" y="1680"/>
              <a:ext cx="32" cy="0"/>
            </a:xfrm>
            <a:prstGeom prst="line">
              <a:avLst/>
            </a:prstGeom>
            <a:ln w="28575" cap="flat" cmpd="sng">
              <a:solidFill>
                <a:schemeClr val="tx1"/>
              </a:solidFill>
              <a:prstDash val="solid"/>
              <a:round/>
              <a:headEnd type="none" w="med" len="med"/>
              <a:tailEnd type="none" w="med" len="med"/>
            </a:ln>
          </p:spPr>
        </p:sp>
      </p:grpSp>
      <p:grpSp>
        <p:nvGrpSpPr>
          <p:cNvPr id="84047" name="组合 225359"/>
          <p:cNvGrpSpPr/>
          <p:nvPr/>
        </p:nvGrpSpPr>
        <p:grpSpPr>
          <a:xfrm flipH="1">
            <a:off x="3416300" y="3111500"/>
            <a:ext cx="50800" cy="241300"/>
            <a:chOff x="1896" y="1680"/>
            <a:chExt cx="32" cy="152"/>
          </a:xfrm>
        </p:grpSpPr>
        <p:sp>
          <p:nvSpPr>
            <p:cNvPr id="84048" name="直接连接符 225360"/>
            <p:cNvSpPr/>
            <p:nvPr/>
          </p:nvSpPr>
          <p:spPr>
            <a:xfrm>
              <a:off x="1904" y="1688"/>
              <a:ext cx="0" cy="144"/>
            </a:xfrm>
            <a:prstGeom prst="line">
              <a:avLst/>
            </a:prstGeom>
            <a:ln w="28575" cap="flat" cmpd="sng">
              <a:solidFill>
                <a:schemeClr val="tx1"/>
              </a:solidFill>
              <a:prstDash val="solid"/>
              <a:round/>
              <a:headEnd type="none" w="med" len="med"/>
              <a:tailEnd type="none" w="med" len="med"/>
            </a:ln>
          </p:spPr>
        </p:sp>
        <p:sp>
          <p:nvSpPr>
            <p:cNvPr id="84049" name="直接连接符 225361"/>
            <p:cNvSpPr/>
            <p:nvPr/>
          </p:nvSpPr>
          <p:spPr>
            <a:xfrm>
              <a:off x="1896" y="1832"/>
              <a:ext cx="32" cy="0"/>
            </a:xfrm>
            <a:prstGeom prst="line">
              <a:avLst/>
            </a:prstGeom>
            <a:ln w="28575" cap="flat" cmpd="sng">
              <a:solidFill>
                <a:schemeClr val="tx1"/>
              </a:solidFill>
              <a:prstDash val="solid"/>
              <a:round/>
              <a:headEnd type="none" w="med" len="med"/>
              <a:tailEnd type="none" w="med" len="med"/>
            </a:ln>
          </p:spPr>
        </p:sp>
        <p:sp>
          <p:nvSpPr>
            <p:cNvPr id="84050" name="直接连接符 225362"/>
            <p:cNvSpPr/>
            <p:nvPr/>
          </p:nvSpPr>
          <p:spPr>
            <a:xfrm>
              <a:off x="1896" y="1680"/>
              <a:ext cx="32" cy="0"/>
            </a:xfrm>
            <a:prstGeom prst="line">
              <a:avLst/>
            </a:prstGeom>
            <a:ln w="28575" cap="flat" cmpd="sng">
              <a:solidFill>
                <a:schemeClr val="tx1"/>
              </a:solidFill>
              <a:prstDash val="solid"/>
              <a:round/>
              <a:headEnd type="none" w="med" len="med"/>
              <a:tailEnd type="none" w="med" len="med"/>
            </a:ln>
          </p:spPr>
        </p:sp>
      </p:grpSp>
      <p:grpSp>
        <p:nvGrpSpPr>
          <p:cNvPr id="84051" name="组合 225363"/>
          <p:cNvGrpSpPr/>
          <p:nvPr/>
        </p:nvGrpSpPr>
        <p:grpSpPr>
          <a:xfrm>
            <a:off x="2335213" y="3054350"/>
            <a:ext cx="138112" cy="336550"/>
            <a:chOff x="959" y="1684"/>
            <a:chExt cx="87" cy="212"/>
          </a:xfrm>
        </p:grpSpPr>
        <p:sp>
          <p:nvSpPr>
            <p:cNvPr id="84052" name="直接连接符 225364"/>
            <p:cNvSpPr/>
            <p:nvPr/>
          </p:nvSpPr>
          <p:spPr>
            <a:xfrm>
              <a:off x="959" y="1684"/>
              <a:ext cx="0" cy="212"/>
            </a:xfrm>
            <a:prstGeom prst="line">
              <a:avLst/>
            </a:prstGeom>
            <a:ln w="28575" cap="flat" cmpd="sng">
              <a:solidFill>
                <a:schemeClr val="tx1"/>
              </a:solidFill>
              <a:prstDash val="solid"/>
              <a:round/>
              <a:headEnd type="none" w="med" len="med"/>
              <a:tailEnd type="none" w="med" len="med"/>
            </a:ln>
          </p:spPr>
        </p:sp>
        <p:sp>
          <p:nvSpPr>
            <p:cNvPr id="84053" name="直接连接符 225365"/>
            <p:cNvSpPr/>
            <p:nvPr/>
          </p:nvSpPr>
          <p:spPr>
            <a:xfrm>
              <a:off x="1046" y="1684"/>
              <a:ext cx="0" cy="212"/>
            </a:xfrm>
            <a:prstGeom prst="line">
              <a:avLst/>
            </a:prstGeom>
            <a:ln w="28575" cap="flat" cmpd="sng">
              <a:solidFill>
                <a:schemeClr val="tx1"/>
              </a:solidFill>
              <a:prstDash val="solid"/>
              <a:round/>
              <a:headEnd type="none" w="med" len="med"/>
              <a:tailEnd type="none" w="med" len="med"/>
            </a:ln>
          </p:spPr>
        </p:sp>
      </p:grpSp>
      <p:sp>
        <p:nvSpPr>
          <p:cNvPr id="84054" name="文本框 225366"/>
          <p:cNvSpPr txBox="1"/>
          <p:nvPr/>
        </p:nvSpPr>
        <p:spPr>
          <a:xfrm>
            <a:off x="2454275" y="2946400"/>
            <a:ext cx="461963" cy="304800"/>
          </a:xfrm>
          <a:prstGeom prst="rect">
            <a:avLst/>
          </a:prstGeom>
          <a:noFill/>
          <a:ln w="9525">
            <a:noFill/>
          </a:ln>
        </p:spPr>
        <p:txBody>
          <a:bodyPr anchor="t" anchorCtr="0">
            <a:spAutoFit/>
          </a:bodyPr>
          <a:lstStyle/>
          <a:p>
            <a:pPr>
              <a:spcBef>
                <a:spcPct val="50000"/>
              </a:spcBef>
            </a:pPr>
            <a:r>
              <a:rPr lang="en-US" altLang="ja-JP" sz="1400" dirty="0">
                <a:latin typeface="黑体" panose="02010609060101010101" pitchFamily="49" charset="-122"/>
                <a:ea typeface="宋体" panose="02010600030101010101" pitchFamily="2" charset="-122"/>
              </a:rPr>
              <a:t>X2</a:t>
            </a:r>
          </a:p>
        </p:txBody>
      </p:sp>
      <p:sp>
        <p:nvSpPr>
          <p:cNvPr id="84055" name="直接连接符 225367"/>
          <p:cNvSpPr/>
          <p:nvPr/>
        </p:nvSpPr>
        <p:spPr>
          <a:xfrm>
            <a:off x="1863725" y="3228975"/>
            <a:ext cx="457200" cy="0"/>
          </a:xfrm>
          <a:prstGeom prst="line">
            <a:avLst/>
          </a:prstGeom>
          <a:ln w="28575" cap="flat" cmpd="sng">
            <a:solidFill>
              <a:schemeClr val="tx1"/>
            </a:solidFill>
            <a:prstDash val="solid"/>
            <a:round/>
            <a:headEnd type="none" w="med" len="med"/>
            <a:tailEnd type="none" w="med" len="med"/>
          </a:ln>
        </p:spPr>
      </p:sp>
      <p:sp>
        <p:nvSpPr>
          <p:cNvPr id="84056" name="直接连接符 225368"/>
          <p:cNvSpPr/>
          <p:nvPr/>
        </p:nvSpPr>
        <p:spPr>
          <a:xfrm>
            <a:off x="2946400" y="2387600"/>
            <a:ext cx="736600" cy="190500"/>
          </a:xfrm>
          <a:prstGeom prst="line">
            <a:avLst/>
          </a:prstGeom>
          <a:ln w="28575" cap="flat" cmpd="sng">
            <a:solidFill>
              <a:srgbClr val="FF0000"/>
            </a:solidFill>
            <a:prstDash val="solid"/>
            <a:round/>
            <a:headEnd type="none" w="med" len="med"/>
            <a:tailEnd type="triangle" w="med" len="med"/>
          </a:ln>
        </p:spPr>
      </p:sp>
      <p:sp>
        <p:nvSpPr>
          <p:cNvPr id="84057" name="直接连接符 225369"/>
          <p:cNvSpPr/>
          <p:nvPr/>
        </p:nvSpPr>
        <p:spPr>
          <a:xfrm flipH="1">
            <a:off x="863600" y="2374900"/>
            <a:ext cx="850900" cy="152400"/>
          </a:xfrm>
          <a:prstGeom prst="line">
            <a:avLst/>
          </a:prstGeom>
          <a:ln w="28575" cap="flat" cmpd="sng">
            <a:solidFill>
              <a:srgbClr val="FF0000"/>
            </a:solidFill>
            <a:prstDash val="solid"/>
            <a:round/>
            <a:headEnd type="none" w="med" len="med"/>
            <a:tailEnd type="triangle" w="med" len="med"/>
          </a:ln>
        </p:spPr>
      </p:sp>
      <p:grpSp>
        <p:nvGrpSpPr>
          <p:cNvPr id="84058" name="组合 225370"/>
          <p:cNvGrpSpPr/>
          <p:nvPr/>
        </p:nvGrpSpPr>
        <p:grpSpPr>
          <a:xfrm>
            <a:off x="711200" y="4673600"/>
            <a:ext cx="3771900" cy="1625600"/>
            <a:chOff x="448" y="2944"/>
            <a:chExt cx="2376" cy="1024"/>
          </a:xfrm>
        </p:grpSpPr>
        <p:sp>
          <p:nvSpPr>
            <p:cNvPr id="84059" name="文本框 225371"/>
            <p:cNvSpPr txBox="1"/>
            <p:nvPr/>
          </p:nvSpPr>
          <p:spPr>
            <a:xfrm>
              <a:off x="1000" y="2944"/>
              <a:ext cx="872" cy="192"/>
            </a:xfrm>
            <a:prstGeom prst="rect">
              <a:avLst/>
            </a:prstGeom>
            <a:noFill/>
            <a:ln w="28575">
              <a:noFill/>
            </a:ln>
          </p:spPr>
          <p:txBody>
            <a:bodyPr anchor="t" anchorCtr="0">
              <a:spAutoFit/>
            </a:bodyPr>
            <a:lstStyle/>
            <a:p>
              <a:pPr>
                <a:spcBef>
                  <a:spcPct val="50000"/>
                </a:spcBef>
              </a:pPr>
              <a:r>
                <a:rPr lang="zh-CN" altLang="en-US" sz="1400" dirty="0">
                  <a:solidFill>
                    <a:srgbClr val="CC0000"/>
                  </a:solidFill>
                  <a:latin typeface="黑体" panose="02010609060101010101" pitchFamily="49" charset="-122"/>
                  <a:ea typeface="宋体" panose="02010600030101010101" pitchFamily="2" charset="-122"/>
                </a:rPr>
                <a:t>【电路</a:t>
              </a:r>
              <a:r>
                <a:rPr lang="ja-JP" altLang="en-US" sz="1400" dirty="0">
                  <a:solidFill>
                    <a:srgbClr val="CC0000"/>
                  </a:solidFill>
                  <a:latin typeface="黑体" panose="02010609060101010101" pitchFamily="49" charset="-122"/>
                  <a:ea typeface="宋体" panose="02010600030101010101" pitchFamily="2" charset="-122"/>
                </a:rPr>
                <a:t>】</a:t>
              </a:r>
            </a:p>
          </p:txBody>
        </p:sp>
        <p:sp>
          <p:nvSpPr>
            <p:cNvPr id="84060" name="文本框 225372"/>
            <p:cNvSpPr txBox="1"/>
            <p:nvPr/>
          </p:nvSpPr>
          <p:spPr>
            <a:xfrm>
              <a:off x="2072" y="2944"/>
              <a:ext cx="752" cy="192"/>
            </a:xfrm>
            <a:prstGeom prst="rect">
              <a:avLst/>
            </a:prstGeom>
            <a:noFill/>
            <a:ln w="28575">
              <a:noFill/>
            </a:ln>
          </p:spPr>
          <p:txBody>
            <a:bodyPr anchor="t" anchorCtr="0">
              <a:spAutoFit/>
            </a:bodyPr>
            <a:lstStyle/>
            <a:p>
              <a:pPr>
                <a:spcBef>
                  <a:spcPct val="50000"/>
                </a:spcBef>
              </a:pPr>
              <a:r>
                <a:rPr lang="zh-CN" altLang="en-US" sz="1400" dirty="0">
                  <a:solidFill>
                    <a:srgbClr val="CC0000"/>
                  </a:solidFill>
                  <a:latin typeface="黑体" panose="02010609060101010101" pitchFamily="49" charset="-122"/>
                  <a:ea typeface="宋体" panose="02010600030101010101" pitchFamily="2" charset="-122"/>
                </a:rPr>
                <a:t>【梯形图</a:t>
              </a:r>
              <a:r>
                <a:rPr lang="ja-JP" altLang="en-US" sz="1400" dirty="0">
                  <a:solidFill>
                    <a:srgbClr val="CC0000"/>
                  </a:solidFill>
                  <a:latin typeface="黑体" panose="02010609060101010101" pitchFamily="49" charset="-122"/>
                  <a:ea typeface="宋体" panose="02010600030101010101" pitchFamily="2" charset="-122"/>
                </a:rPr>
                <a:t>】</a:t>
              </a:r>
            </a:p>
          </p:txBody>
        </p:sp>
        <p:grpSp>
          <p:nvGrpSpPr>
            <p:cNvPr id="84061" name="组合 225373"/>
            <p:cNvGrpSpPr/>
            <p:nvPr/>
          </p:nvGrpSpPr>
          <p:grpSpPr>
            <a:xfrm>
              <a:off x="1131" y="3447"/>
              <a:ext cx="565" cy="113"/>
              <a:chOff x="1019" y="3223"/>
              <a:chExt cx="565" cy="113"/>
            </a:xfrm>
          </p:grpSpPr>
          <p:grpSp>
            <p:nvGrpSpPr>
              <p:cNvPr id="84062" name="组合 225374"/>
              <p:cNvGrpSpPr/>
              <p:nvPr/>
            </p:nvGrpSpPr>
            <p:grpSpPr>
              <a:xfrm>
                <a:off x="1019" y="3283"/>
                <a:ext cx="565" cy="45"/>
                <a:chOff x="576" y="2930"/>
                <a:chExt cx="1200" cy="96"/>
              </a:xfrm>
            </p:grpSpPr>
            <p:grpSp>
              <p:nvGrpSpPr>
                <p:cNvPr id="84063" name="组合 225375"/>
                <p:cNvGrpSpPr/>
                <p:nvPr/>
              </p:nvGrpSpPr>
              <p:grpSpPr>
                <a:xfrm>
                  <a:off x="576" y="2930"/>
                  <a:ext cx="480" cy="96"/>
                  <a:chOff x="576" y="2930"/>
                  <a:chExt cx="480" cy="96"/>
                </a:xfrm>
              </p:grpSpPr>
              <p:sp>
                <p:nvSpPr>
                  <p:cNvPr id="84064" name="椭圆 225376"/>
                  <p:cNvSpPr/>
                  <p:nvPr/>
                </p:nvSpPr>
                <p:spPr>
                  <a:xfrm>
                    <a:off x="960" y="2930"/>
                    <a:ext cx="96" cy="96"/>
                  </a:xfrm>
                  <a:prstGeom prst="ellipse">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sz="2400" dirty="0">
                      <a:latin typeface="黑体" panose="02010609060101010101" pitchFamily="49" charset="-122"/>
                      <a:ea typeface="宋体" panose="02010600030101010101" pitchFamily="2" charset="-122"/>
                    </a:endParaRPr>
                  </a:p>
                </p:txBody>
              </p:sp>
              <p:sp>
                <p:nvSpPr>
                  <p:cNvPr id="84065" name="直接连接符 225377"/>
                  <p:cNvSpPr/>
                  <p:nvPr/>
                </p:nvSpPr>
                <p:spPr>
                  <a:xfrm>
                    <a:off x="576" y="2978"/>
                    <a:ext cx="384" cy="0"/>
                  </a:xfrm>
                  <a:prstGeom prst="line">
                    <a:avLst/>
                  </a:prstGeom>
                  <a:ln w="28575" cap="flat" cmpd="sng">
                    <a:solidFill>
                      <a:schemeClr val="tx1"/>
                    </a:solidFill>
                    <a:prstDash val="solid"/>
                    <a:round/>
                    <a:headEnd type="none" w="med" len="med"/>
                    <a:tailEnd type="none" w="med" len="med"/>
                  </a:ln>
                </p:spPr>
              </p:sp>
            </p:grpSp>
            <p:grpSp>
              <p:nvGrpSpPr>
                <p:cNvPr id="84066" name="组合 225378"/>
                <p:cNvGrpSpPr/>
                <p:nvPr/>
              </p:nvGrpSpPr>
              <p:grpSpPr>
                <a:xfrm flipH="1">
                  <a:off x="1296" y="2930"/>
                  <a:ext cx="480" cy="96"/>
                  <a:chOff x="576" y="2930"/>
                  <a:chExt cx="480" cy="96"/>
                </a:xfrm>
              </p:grpSpPr>
              <p:sp>
                <p:nvSpPr>
                  <p:cNvPr id="84067" name="椭圆 225379"/>
                  <p:cNvSpPr/>
                  <p:nvPr/>
                </p:nvSpPr>
                <p:spPr>
                  <a:xfrm>
                    <a:off x="960" y="2930"/>
                    <a:ext cx="96" cy="96"/>
                  </a:xfrm>
                  <a:prstGeom prst="ellipse">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sz="2400" dirty="0">
                      <a:latin typeface="黑体" panose="02010609060101010101" pitchFamily="49" charset="-122"/>
                      <a:ea typeface="宋体" panose="02010600030101010101" pitchFamily="2" charset="-122"/>
                    </a:endParaRPr>
                  </a:p>
                </p:txBody>
              </p:sp>
              <p:sp>
                <p:nvSpPr>
                  <p:cNvPr id="84068" name="直接连接符 225380"/>
                  <p:cNvSpPr/>
                  <p:nvPr/>
                </p:nvSpPr>
                <p:spPr>
                  <a:xfrm>
                    <a:off x="576" y="2978"/>
                    <a:ext cx="384" cy="0"/>
                  </a:xfrm>
                  <a:prstGeom prst="line">
                    <a:avLst/>
                  </a:prstGeom>
                  <a:ln w="28575" cap="flat" cmpd="sng">
                    <a:solidFill>
                      <a:schemeClr val="tx1"/>
                    </a:solidFill>
                    <a:prstDash val="solid"/>
                    <a:round/>
                    <a:headEnd type="none" w="med" len="med"/>
                    <a:tailEnd type="none" w="med" len="med"/>
                  </a:ln>
                </p:spPr>
              </p:sp>
            </p:grpSp>
          </p:grpSp>
          <p:sp>
            <p:nvSpPr>
              <p:cNvPr id="84069" name="直接连接符 225381"/>
              <p:cNvSpPr/>
              <p:nvPr/>
            </p:nvSpPr>
            <p:spPr>
              <a:xfrm>
                <a:off x="1166" y="3336"/>
                <a:ext cx="271" cy="0"/>
              </a:xfrm>
              <a:prstGeom prst="line">
                <a:avLst/>
              </a:prstGeom>
              <a:ln w="28575" cap="flat" cmpd="sng">
                <a:solidFill>
                  <a:schemeClr val="tx1"/>
                </a:solidFill>
                <a:prstDash val="solid"/>
                <a:round/>
                <a:headEnd type="none" w="med" len="med"/>
                <a:tailEnd type="none" w="med" len="med"/>
              </a:ln>
            </p:spPr>
          </p:sp>
          <p:sp>
            <p:nvSpPr>
              <p:cNvPr id="84070" name="直接连接符 225382"/>
              <p:cNvSpPr/>
              <p:nvPr/>
            </p:nvSpPr>
            <p:spPr>
              <a:xfrm>
                <a:off x="1302" y="3223"/>
                <a:ext cx="0" cy="113"/>
              </a:xfrm>
              <a:prstGeom prst="line">
                <a:avLst/>
              </a:prstGeom>
              <a:ln w="28575" cap="flat" cmpd="sng">
                <a:solidFill>
                  <a:schemeClr val="tx1"/>
                </a:solidFill>
                <a:prstDash val="solid"/>
                <a:round/>
                <a:headEnd type="none" w="med" len="med"/>
                <a:tailEnd type="none" w="med" len="med"/>
              </a:ln>
            </p:spPr>
          </p:sp>
        </p:grpSp>
        <p:grpSp>
          <p:nvGrpSpPr>
            <p:cNvPr id="84071" name="组合 225383"/>
            <p:cNvGrpSpPr/>
            <p:nvPr/>
          </p:nvGrpSpPr>
          <p:grpSpPr>
            <a:xfrm>
              <a:off x="1131" y="3137"/>
              <a:ext cx="565" cy="134"/>
              <a:chOff x="971" y="3209"/>
              <a:chExt cx="565" cy="134"/>
            </a:xfrm>
          </p:grpSpPr>
          <p:sp>
            <p:nvSpPr>
              <p:cNvPr id="84072" name="椭圆 225384"/>
              <p:cNvSpPr/>
              <p:nvPr/>
            </p:nvSpPr>
            <p:spPr>
              <a:xfrm>
                <a:off x="1152" y="3298"/>
                <a:ext cx="45" cy="45"/>
              </a:xfrm>
              <a:prstGeom prst="ellipse">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sz="2400" dirty="0">
                  <a:latin typeface="黑体" panose="02010609060101010101" pitchFamily="49" charset="-122"/>
                  <a:ea typeface="宋体" panose="02010600030101010101" pitchFamily="2" charset="-122"/>
                </a:endParaRPr>
              </a:p>
            </p:txBody>
          </p:sp>
          <p:sp>
            <p:nvSpPr>
              <p:cNvPr id="84073" name="直接连接符 225385"/>
              <p:cNvSpPr/>
              <p:nvPr/>
            </p:nvSpPr>
            <p:spPr>
              <a:xfrm>
                <a:off x="971" y="3321"/>
                <a:ext cx="181" cy="0"/>
              </a:xfrm>
              <a:prstGeom prst="line">
                <a:avLst/>
              </a:prstGeom>
              <a:ln w="28575" cap="flat" cmpd="sng">
                <a:solidFill>
                  <a:schemeClr val="tx1"/>
                </a:solidFill>
                <a:prstDash val="solid"/>
                <a:round/>
                <a:headEnd type="none" w="med" len="med"/>
                <a:tailEnd type="none" w="med" len="med"/>
              </a:ln>
            </p:spPr>
          </p:sp>
          <p:grpSp>
            <p:nvGrpSpPr>
              <p:cNvPr id="84074" name="组合 225386"/>
              <p:cNvGrpSpPr/>
              <p:nvPr/>
            </p:nvGrpSpPr>
            <p:grpSpPr>
              <a:xfrm flipH="1">
                <a:off x="1310" y="3298"/>
                <a:ext cx="226" cy="45"/>
                <a:chOff x="576" y="2930"/>
                <a:chExt cx="480" cy="96"/>
              </a:xfrm>
            </p:grpSpPr>
            <p:sp>
              <p:nvSpPr>
                <p:cNvPr id="84075" name="椭圆 225387"/>
                <p:cNvSpPr/>
                <p:nvPr/>
              </p:nvSpPr>
              <p:spPr>
                <a:xfrm>
                  <a:off x="960" y="2930"/>
                  <a:ext cx="96" cy="96"/>
                </a:xfrm>
                <a:prstGeom prst="ellipse">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sz="2400" dirty="0">
                    <a:latin typeface="黑体" panose="02010609060101010101" pitchFamily="49" charset="-122"/>
                    <a:ea typeface="宋体" panose="02010600030101010101" pitchFamily="2" charset="-122"/>
                  </a:endParaRPr>
                </a:p>
              </p:txBody>
            </p:sp>
            <p:sp>
              <p:nvSpPr>
                <p:cNvPr id="84076" name="直接连接符 225388"/>
                <p:cNvSpPr/>
                <p:nvPr/>
              </p:nvSpPr>
              <p:spPr>
                <a:xfrm>
                  <a:off x="576" y="2978"/>
                  <a:ext cx="384" cy="0"/>
                </a:xfrm>
                <a:prstGeom prst="line">
                  <a:avLst/>
                </a:prstGeom>
                <a:ln w="28575" cap="flat" cmpd="sng">
                  <a:solidFill>
                    <a:schemeClr val="tx1"/>
                  </a:solidFill>
                  <a:prstDash val="solid"/>
                  <a:round/>
                  <a:headEnd type="none" w="med" len="med"/>
                  <a:tailEnd type="none" w="med" len="med"/>
                </a:ln>
              </p:spPr>
            </p:sp>
          </p:grpSp>
          <p:sp>
            <p:nvSpPr>
              <p:cNvPr id="84077" name="直接连接符 225389"/>
              <p:cNvSpPr/>
              <p:nvPr/>
            </p:nvSpPr>
            <p:spPr>
              <a:xfrm flipV="1">
                <a:off x="1152" y="3209"/>
                <a:ext cx="203" cy="89"/>
              </a:xfrm>
              <a:prstGeom prst="line">
                <a:avLst/>
              </a:prstGeom>
              <a:ln w="28575" cap="flat" cmpd="sng">
                <a:solidFill>
                  <a:schemeClr val="tx1"/>
                </a:solidFill>
                <a:prstDash val="solid"/>
                <a:round/>
                <a:headEnd type="none" w="med" len="med"/>
                <a:tailEnd type="none" w="med" len="med"/>
              </a:ln>
            </p:spPr>
          </p:sp>
        </p:grpSp>
        <p:grpSp>
          <p:nvGrpSpPr>
            <p:cNvPr id="84078" name="组合 225390"/>
            <p:cNvGrpSpPr/>
            <p:nvPr/>
          </p:nvGrpSpPr>
          <p:grpSpPr>
            <a:xfrm>
              <a:off x="2316" y="3159"/>
              <a:ext cx="263" cy="162"/>
              <a:chOff x="2208" y="3120"/>
              <a:chExt cx="263" cy="162"/>
            </a:xfrm>
          </p:grpSpPr>
          <p:grpSp>
            <p:nvGrpSpPr>
              <p:cNvPr id="84079" name="组合 225391"/>
              <p:cNvGrpSpPr/>
              <p:nvPr/>
            </p:nvGrpSpPr>
            <p:grpSpPr>
              <a:xfrm>
                <a:off x="2208" y="3120"/>
                <a:ext cx="182" cy="162"/>
                <a:chOff x="864" y="1536"/>
                <a:chExt cx="432" cy="384"/>
              </a:xfrm>
            </p:grpSpPr>
            <p:sp>
              <p:nvSpPr>
                <p:cNvPr id="84080" name="直接连接符 225392"/>
                <p:cNvSpPr/>
                <p:nvPr/>
              </p:nvSpPr>
              <p:spPr>
                <a:xfrm>
                  <a:off x="864" y="1728"/>
                  <a:ext cx="144" cy="0"/>
                </a:xfrm>
                <a:prstGeom prst="line">
                  <a:avLst/>
                </a:prstGeom>
                <a:ln w="28575" cap="flat" cmpd="sng">
                  <a:solidFill>
                    <a:schemeClr val="tx1"/>
                  </a:solidFill>
                  <a:prstDash val="solid"/>
                  <a:round/>
                  <a:headEnd type="none" w="med" len="med"/>
                  <a:tailEnd type="none" w="med" len="med"/>
                </a:ln>
              </p:spPr>
            </p:sp>
            <p:sp>
              <p:nvSpPr>
                <p:cNvPr id="84081" name="直接连接符 225393"/>
                <p:cNvSpPr/>
                <p:nvPr/>
              </p:nvSpPr>
              <p:spPr>
                <a:xfrm>
                  <a:off x="1008" y="1728"/>
                  <a:ext cx="0" cy="0"/>
                </a:xfrm>
                <a:prstGeom prst="line">
                  <a:avLst/>
                </a:prstGeom>
                <a:ln w="28575" cap="flat" cmpd="sng">
                  <a:solidFill>
                    <a:schemeClr val="tx1"/>
                  </a:solidFill>
                  <a:prstDash val="solid"/>
                  <a:round/>
                  <a:headEnd type="none" w="med" len="med"/>
                  <a:tailEnd type="none" w="med" len="med"/>
                </a:ln>
              </p:spPr>
            </p:sp>
            <p:sp>
              <p:nvSpPr>
                <p:cNvPr id="84082" name="直接连接符 225394"/>
                <p:cNvSpPr/>
                <p:nvPr/>
              </p:nvSpPr>
              <p:spPr>
                <a:xfrm>
                  <a:off x="1008" y="1536"/>
                  <a:ext cx="0" cy="384"/>
                </a:xfrm>
                <a:prstGeom prst="line">
                  <a:avLst/>
                </a:prstGeom>
                <a:ln w="28575" cap="flat" cmpd="sng">
                  <a:solidFill>
                    <a:schemeClr val="tx1"/>
                  </a:solidFill>
                  <a:prstDash val="solid"/>
                  <a:round/>
                  <a:headEnd type="none" w="med" len="med"/>
                  <a:tailEnd type="none" w="med" len="med"/>
                </a:ln>
              </p:spPr>
            </p:sp>
            <p:sp>
              <p:nvSpPr>
                <p:cNvPr id="84083" name="直接连接符 225395"/>
                <p:cNvSpPr/>
                <p:nvPr/>
              </p:nvSpPr>
              <p:spPr>
                <a:xfrm>
                  <a:off x="1296" y="1536"/>
                  <a:ext cx="0" cy="384"/>
                </a:xfrm>
                <a:prstGeom prst="line">
                  <a:avLst/>
                </a:prstGeom>
                <a:ln w="28575" cap="flat" cmpd="sng">
                  <a:solidFill>
                    <a:schemeClr val="tx1"/>
                  </a:solidFill>
                  <a:prstDash val="solid"/>
                  <a:round/>
                  <a:headEnd type="none" w="med" len="med"/>
                  <a:tailEnd type="none" w="med" len="med"/>
                </a:ln>
              </p:spPr>
            </p:sp>
          </p:grpSp>
          <p:sp>
            <p:nvSpPr>
              <p:cNvPr id="84084" name="直接连接符 225396"/>
              <p:cNvSpPr/>
              <p:nvPr/>
            </p:nvSpPr>
            <p:spPr>
              <a:xfrm>
                <a:off x="2390" y="3201"/>
                <a:ext cx="81" cy="0"/>
              </a:xfrm>
              <a:prstGeom prst="line">
                <a:avLst/>
              </a:prstGeom>
              <a:ln w="28575" cap="flat" cmpd="sng">
                <a:solidFill>
                  <a:schemeClr val="tx1"/>
                </a:solidFill>
                <a:prstDash val="solid"/>
                <a:round/>
                <a:headEnd type="none" w="med" len="med"/>
                <a:tailEnd type="none" w="med" len="med"/>
              </a:ln>
            </p:spPr>
          </p:sp>
        </p:grpSp>
        <p:grpSp>
          <p:nvGrpSpPr>
            <p:cNvPr id="84085" name="组合 225397"/>
            <p:cNvGrpSpPr/>
            <p:nvPr/>
          </p:nvGrpSpPr>
          <p:grpSpPr>
            <a:xfrm>
              <a:off x="2316" y="3454"/>
              <a:ext cx="263" cy="162"/>
              <a:chOff x="3360" y="3346"/>
              <a:chExt cx="624" cy="384"/>
            </a:xfrm>
          </p:grpSpPr>
          <p:grpSp>
            <p:nvGrpSpPr>
              <p:cNvPr id="84086" name="组合 225398"/>
              <p:cNvGrpSpPr/>
              <p:nvPr/>
            </p:nvGrpSpPr>
            <p:grpSpPr>
              <a:xfrm>
                <a:off x="3360" y="3346"/>
                <a:ext cx="624" cy="384"/>
                <a:chOff x="2976" y="3364"/>
                <a:chExt cx="624" cy="384"/>
              </a:xfrm>
            </p:grpSpPr>
            <p:grpSp>
              <p:nvGrpSpPr>
                <p:cNvPr id="84087" name="组合 225399"/>
                <p:cNvGrpSpPr/>
                <p:nvPr/>
              </p:nvGrpSpPr>
              <p:grpSpPr>
                <a:xfrm>
                  <a:off x="2976" y="3364"/>
                  <a:ext cx="432" cy="384"/>
                  <a:chOff x="864" y="1536"/>
                  <a:chExt cx="432" cy="384"/>
                </a:xfrm>
              </p:grpSpPr>
              <p:sp>
                <p:nvSpPr>
                  <p:cNvPr id="84088" name="直接连接符 225400"/>
                  <p:cNvSpPr/>
                  <p:nvPr/>
                </p:nvSpPr>
                <p:spPr>
                  <a:xfrm>
                    <a:off x="864" y="1728"/>
                    <a:ext cx="144" cy="0"/>
                  </a:xfrm>
                  <a:prstGeom prst="line">
                    <a:avLst/>
                  </a:prstGeom>
                  <a:ln w="28575" cap="flat" cmpd="sng">
                    <a:solidFill>
                      <a:schemeClr val="tx1"/>
                    </a:solidFill>
                    <a:prstDash val="solid"/>
                    <a:round/>
                    <a:headEnd type="none" w="med" len="med"/>
                    <a:tailEnd type="none" w="med" len="med"/>
                  </a:ln>
                </p:spPr>
              </p:sp>
              <p:sp>
                <p:nvSpPr>
                  <p:cNvPr id="84089" name="直接连接符 225401"/>
                  <p:cNvSpPr/>
                  <p:nvPr/>
                </p:nvSpPr>
                <p:spPr>
                  <a:xfrm>
                    <a:off x="1008" y="1728"/>
                    <a:ext cx="0" cy="0"/>
                  </a:xfrm>
                  <a:prstGeom prst="line">
                    <a:avLst/>
                  </a:prstGeom>
                  <a:ln w="28575" cap="flat" cmpd="sng">
                    <a:solidFill>
                      <a:schemeClr val="tx1"/>
                    </a:solidFill>
                    <a:prstDash val="solid"/>
                    <a:round/>
                    <a:headEnd type="none" w="med" len="med"/>
                    <a:tailEnd type="none" w="med" len="med"/>
                  </a:ln>
                </p:spPr>
              </p:sp>
              <p:sp>
                <p:nvSpPr>
                  <p:cNvPr id="84090" name="直接连接符 225402"/>
                  <p:cNvSpPr/>
                  <p:nvPr/>
                </p:nvSpPr>
                <p:spPr>
                  <a:xfrm>
                    <a:off x="1008" y="1536"/>
                    <a:ext cx="0" cy="384"/>
                  </a:xfrm>
                  <a:prstGeom prst="line">
                    <a:avLst/>
                  </a:prstGeom>
                  <a:ln w="28575" cap="flat" cmpd="sng">
                    <a:solidFill>
                      <a:schemeClr val="tx1"/>
                    </a:solidFill>
                    <a:prstDash val="solid"/>
                    <a:round/>
                    <a:headEnd type="none" w="med" len="med"/>
                    <a:tailEnd type="none" w="med" len="med"/>
                  </a:ln>
                </p:spPr>
              </p:sp>
              <p:sp>
                <p:nvSpPr>
                  <p:cNvPr id="84091" name="直接连接符 225403"/>
                  <p:cNvSpPr/>
                  <p:nvPr/>
                </p:nvSpPr>
                <p:spPr>
                  <a:xfrm>
                    <a:off x="1296" y="1536"/>
                    <a:ext cx="0" cy="384"/>
                  </a:xfrm>
                  <a:prstGeom prst="line">
                    <a:avLst/>
                  </a:prstGeom>
                  <a:ln w="28575" cap="flat" cmpd="sng">
                    <a:solidFill>
                      <a:schemeClr val="tx1"/>
                    </a:solidFill>
                    <a:prstDash val="solid"/>
                    <a:round/>
                    <a:headEnd type="none" w="med" len="med"/>
                    <a:tailEnd type="none" w="med" len="med"/>
                  </a:ln>
                </p:spPr>
              </p:sp>
            </p:grpSp>
            <p:sp>
              <p:nvSpPr>
                <p:cNvPr id="84092" name="直接连接符 225404"/>
                <p:cNvSpPr/>
                <p:nvPr/>
              </p:nvSpPr>
              <p:spPr>
                <a:xfrm>
                  <a:off x="3408" y="3556"/>
                  <a:ext cx="192" cy="0"/>
                </a:xfrm>
                <a:prstGeom prst="line">
                  <a:avLst/>
                </a:prstGeom>
                <a:ln w="28575" cap="flat" cmpd="sng">
                  <a:solidFill>
                    <a:schemeClr val="tx1"/>
                  </a:solidFill>
                  <a:prstDash val="solid"/>
                  <a:round/>
                  <a:headEnd type="none" w="med" len="med"/>
                  <a:tailEnd type="none" w="med" len="med"/>
                </a:ln>
              </p:spPr>
            </p:sp>
          </p:grpSp>
          <p:sp>
            <p:nvSpPr>
              <p:cNvPr id="84093" name="直接连接符 225405"/>
              <p:cNvSpPr/>
              <p:nvPr/>
            </p:nvSpPr>
            <p:spPr>
              <a:xfrm flipH="1">
                <a:off x="3536" y="3368"/>
                <a:ext cx="216" cy="341"/>
              </a:xfrm>
              <a:prstGeom prst="line">
                <a:avLst/>
              </a:prstGeom>
              <a:ln w="28575" cap="flat" cmpd="sng">
                <a:solidFill>
                  <a:schemeClr val="tx1"/>
                </a:solidFill>
                <a:prstDash val="solid"/>
                <a:round/>
                <a:headEnd type="none" w="med" len="med"/>
                <a:tailEnd type="none" w="med" len="med"/>
              </a:ln>
            </p:spPr>
          </p:sp>
        </p:grpSp>
        <p:sp>
          <p:nvSpPr>
            <p:cNvPr id="84094" name="直接连接符 225406"/>
            <p:cNvSpPr/>
            <p:nvPr/>
          </p:nvSpPr>
          <p:spPr>
            <a:xfrm>
              <a:off x="1151" y="3848"/>
              <a:ext cx="161" cy="1"/>
            </a:xfrm>
            <a:prstGeom prst="line">
              <a:avLst/>
            </a:prstGeom>
            <a:ln w="28575" cap="flat" cmpd="sng">
              <a:solidFill>
                <a:schemeClr val="tx1"/>
              </a:solidFill>
              <a:prstDash val="solid"/>
              <a:round/>
              <a:headEnd type="none" w="med" len="med"/>
              <a:tailEnd type="none" w="med" len="med"/>
            </a:ln>
          </p:spPr>
        </p:sp>
        <p:sp>
          <p:nvSpPr>
            <p:cNvPr id="84095" name="直接连接符 225407"/>
            <p:cNvSpPr/>
            <p:nvPr/>
          </p:nvSpPr>
          <p:spPr>
            <a:xfrm>
              <a:off x="1487" y="3848"/>
              <a:ext cx="161" cy="1"/>
            </a:xfrm>
            <a:prstGeom prst="line">
              <a:avLst/>
            </a:prstGeom>
            <a:ln w="28575" cap="flat" cmpd="sng">
              <a:solidFill>
                <a:schemeClr val="tx1"/>
              </a:solidFill>
              <a:prstDash val="solid"/>
              <a:round/>
              <a:headEnd type="none" w="med" len="med"/>
              <a:tailEnd type="none" w="med" len="med"/>
            </a:ln>
          </p:spPr>
        </p:sp>
        <p:sp>
          <p:nvSpPr>
            <p:cNvPr id="84096" name="矩形 225408"/>
            <p:cNvSpPr/>
            <p:nvPr/>
          </p:nvSpPr>
          <p:spPr>
            <a:xfrm>
              <a:off x="1312" y="3728"/>
              <a:ext cx="160" cy="240"/>
            </a:xfrm>
            <a:prstGeom prst="rect">
              <a:avLst/>
            </a:prstGeom>
            <a:noFill/>
            <a:ln w="28575" cap="flat" cmpd="sng">
              <a:solidFill>
                <a:schemeClr val="tx1"/>
              </a:solidFill>
              <a:prstDash val="solid"/>
              <a:miter/>
              <a:headEnd type="none" w="med" len="med"/>
              <a:tailEnd type="none" w="med" len="med"/>
            </a:ln>
          </p:spPr>
          <p:txBody>
            <a:bodyPr anchor="t" anchorCtr="0"/>
            <a:lstStyle/>
            <a:p>
              <a:endParaRPr lang="zh-CN" altLang="en-US" sz="1200" dirty="0">
                <a:latin typeface="Arial" panose="020B0604020202020204" pitchFamily="34" charset="0"/>
                <a:ea typeface="宋体" panose="02010600030101010101" pitchFamily="2" charset="-122"/>
              </a:endParaRPr>
            </a:p>
          </p:txBody>
        </p:sp>
        <p:sp>
          <p:nvSpPr>
            <p:cNvPr id="84097" name="文本框 225409"/>
            <p:cNvSpPr txBox="1"/>
            <p:nvPr/>
          </p:nvSpPr>
          <p:spPr>
            <a:xfrm>
              <a:off x="448" y="3171"/>
              <a:ext cx="576" cy="173"/>
            </a:xfrm>
            <a:prstGeom prst="rect">
              <a:avLst/>
            </a:prstGeom>
            <a:solidFill>
              <a:srgbClr val="FF9900"/>
            </a:solidFill>
            <a:ln w="9525">
              <a:noFill/>
            </a:ln>
          </p:spPr>
          <p:txBody>
            <a:bodyPr anchor="t" anchorCtr="0">
              <a:spAutoFit/>
            </a:bodyPr>
            <a:lstStyle/>
            <a:p>
              <a:pPr>
                <a:spcBef>
                  <a:spcPct val="50000"/>
                </a:spcBef>
              </a:pPr>
              <a:r>
                <a:rPr lang="zh-CN" altLang="en-US" sz="1200" dirty="0">
                  <a:solidFill>
                    <a:schemeClr val="accent2"/>
                  </a:solidFill>
                  <a:latin typeface="黑体" panose="02010609060101010101" pitchFamily="49" charset="-122"/>
                  <a:ea typeface="宋体" panose="02010600030101010101" pitchFamily="2" charset="-122"/>
                </a:rPr>
                <a:t>Ａ触</a:t>
              </a:r>
              <a:r>
                <a:rPr lang="ja-JP" altLang="en-US" sz="1200" dirty="0">
                  <a:solidFill>
                    <a:schemeClr val="accent2"/>
                  </a:solidFill>
                  <a:latin typeface="黑体" panose="02010609060101010101" pitchFamily="49" charset="-122"/>
                  <a:ea typeface="宋体" panose="02010600030101010101" pitchFamily="2" charset="-122"/>
                </a:rPr>
                <a:t>点</a:t>
              </a:r>
            </a:p>
          </p:txBody>
        </p:sp>
        <p:sp>
          <p:nvSpPr>
            <p:cNvPr id="84098" name="文本框 225410"/>
            <p:cNvSpPr txBox="1"/>
            <p:nvPr/>
          </p:nvSpPr>
          <p:spPr>
            <a:xfrm>
              <a:off x="448" y="3440"/>
              <a:ext cx="576" cy="173"/>
            </a:xfrm>
            <a:prstGeom prst="rect">
              <a:avLst/>
            </a:prstGeom>
            <a:solidFill>
              <a:srgbClr val="FF9900"/>
            </a:solidFill>
            <a:ln w="9525">
              <a:noFill/>
            </a:ln>
          </p:spPr>
          <p:txBody>
            <a:bodyPr anchor="t" anchorCtr="0">
              <a:spAutoFit/>
            </a:bodyPr>
            <a:lstStyle/>
            <a:p>
              <a:pPr>
                <a:spcBef>
                  <a:spcPct val="50000"/>
                </a:spcBef>
              </a:pPr>
              <a:r>
                <a:rPr lang="zh-CN" altLang="en-US" sz="1200" dirty="0">
                  <a:solidFill>
                    <a:schemeClr val="accent2"/>
                  </a:solidFill>
                  <a:latin typeface="黑体" panose="02010609060101010101" pitchFamily="49" charset="-122"/>
                  <a:ea typeface="宋体" panose="02010600030101010101" pitchFamily="2" charset="-122"/>
                </a:rPr>
                <a:t>Ｂ触</a:t>
              </a:r>
              <a:r>
                <a:rPr lang="ja-JP" altLang="en-US" sz="1200" dirty="0">
                  <a:solidFill>
                    <a:schemeClr val="accent2"/>
                  </a:solidFill>
                  <a:latin typeface="黑体" panose="02010609060101010101" pitchFamily="49" charset="-122"/>
                  <a:ea typeface="宋体" panose="02010600030101010101" pitchFamily="2" charset="-122"/>
                </a:rPr>
                <a:t>点</a:t>
              </a:r>
            </a:p>
          </p:txBody>
        </p:sp>
        <p:sp>
          <p:nvSpPr>
            <p:cNvPr id="84099" name="直接连接符 225411"/>
            <p:cNvSpPr/>
            <p:nvPr/>
          </p:nvSpPr>
          <p:spPr>
            <a:xfrm>
              <a:off x="2287" y="3881"/>
              <a:ext cx="81" cy="0"/>
            </a:xfrm>
            <a:prstGeom prst="line">
              <a:avLst/>
            </a:prstGeom>
            <a:ln w="28575" cap="flat" cmpd="sng">
              <a:solidFill>
                <a:schemeClr val="tx1"/>
              </a:solidFill>
              <a:prstDash val="solid"/>
              <a:round/>
              <a:headEnd type="none" w="med" len="med"/>
              <a:tailEnd type="none" w="med" len="med"/>
            </a:ln>
          </p:spPr>
        </p:sp>
        <p:sp>
          <p:nvSpPr>
            <p:cNvPr id="84100" name="直接连接符 225412"/>
            <p:cNvSpPr/>
            <p:nvPr/>
          </p:nvSpPr>
          <p:spPr>
            <a:xfrm>
              <a:off x="2512" y="3881"/>
              <a:ext cx="81" cy="0"/>
            </a:xfrm>
            <a:prstGeom prst="line">
              <a:avLst/>
            </a:prstGeom>
            <a:ln w="28575" cap="flat" cmpd="sng">
              <a:solidFill>
                <a:schemeClr val="tx1"/>
              </a:solidFill>
              <a:prstDash val="solid"/>
              <a:round/>
              <a:headEnd type="none" w="med" len="med"/>
              <a:tailEnd type="none" w="med" len="med"/>
            </a:ln>
          </p:spPr>
        </p:sp>
        <p:sp>
          <p:nvSpPr>
            <p:cNvPr id="84101" name="文本框 225413"/>
            <p:cNvSpPr txBox="1"/>
            <p:nvPr/>
          </p:nvSpPr>
          <p:spPr>
            <a:xfrm>
              <a:off x="448" y="3776"/>
              <a:ext cx="576" cy="173"/>
            </a:xfrm>
            <a:prstGeom prst="rect">
              <a:avLst/>
            </a:prstGeom>
            <a:solidFill>
              <a:srgbClr val="FF9900"/>
            </a:solidFill>
            <a:ln w="9525">
              <a:noFill/>
            </a:ln>
          </p:spPr>
          <p:txBody>
            <a:bodyPr anchor="t" anchorCtr="0">
              <a:spAutoFit/>
            </a:bodyPr>
            <a:lstStyle/>
            <a:p>
              <a:pPr>
                <a:spcBef>
                  <a:spcPct val="50000"/>
                </a:spcBef>
              </a:pPr>
              <a:r>
                <a:rPr lang="zh-CN" altLang="en-US" sz="1200" dirty="0">
                  <a:solidFill>
                    <a:schemeClr val="accent2"/>
                  </a:solidFill>
                  <a:latin typeface="黑体" panose="02010609060101010101" pitchFamily="49" charset="-122"/>
                  <a:ea typeface="宋体" panose="02010600030101010101" pitchFamily="2" charset="-122"/>
                </a:rPr>
                <a:t>线圈</a:t>
              </a:r>
            </a:p>
          </p:txBody>
        </p:sp>
        <p:sp>
          <p:nvSpPr>
            <p:cNvPr id="84102" name="右箭头 225414"/>
            <p:cNvSpPr/>
            <p:nvPr/>
          </p:nvSpPr>
          <p:spPr>
            <a:xfrm>
              <a:off x="1816" y="3184"/>
              <a:ext cx="336" cy="96"/>
            </a:xfrm>
            <a:prstGeom prst="rightArrow">
              <a:avLst>
                <a:gd name="adj1" fmla="val 50000"/>
                <a:gd name="adj2" fmla="val 87500"/>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sz="1200" dirty="0">
                <a:latin typeface="Arial" panose="020B0604020202020204" pitchFamily="34" charset="0"/>
                <a:ea typeface="宋体" panose="02010600030101010101" pitchFamily="2" charset="-122"/>
              </a:endParaRPr>
            </a:p>
          </p:txBody>
        </p:sp>
        <p:sp>
          <p:nvSpPr>
            <p:cNvPr id="84103" name="右箭头 225415"/>
            <p:cNvSpPr/>
            <p:nvPr/>
          </p:nvSpPr>
          <p:spPr>
            <a:xfrm>
              <a:off x="1816" y="3488"/>
              <a:ext cx="336" cy="96"/>
            </a:xfrm>
            <a:prstGeom prst="rightArrow">
              <a:avLst>
                <a:gd name="adj1" fmla="val 50000"/>
                <a:gd name="adj2" fmla="val 87500"/>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sz="1200" dirty="0">
                <a:latin typeface="Arial" panose="020B0604020202020204" pitchFamily="34" charset="0"/>
                <a:ea typeface="宋体" panose="02010600030101010101" pitchFamily="2" charset="-122"/>
              </a:endParaRPr>
            </a:p>
          </p:txBody>
        </p:sp>
        <p:sp>
          <p:nvSpPr>
            <p:cNvPr id="84104" name="右箭头 225416"/>
            <p:cNvSpPr/>
            <p:nvPr/>
          </p:nvSpPr>
          <p:spPr>
            <a:xfrm>
              <a:off x="1816" y="3824"/>
              <a:ext cx="336" cy="96"/>
            </a:xfrm>
            <a:prstGeom prst="rightArrow">
              <a:avLst>
                <a:gd name="adj1" fmla="val 50000"/>
                <a:gd name="adj2" fmla="val 87500"/>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sz="1200" dirty="0">
                <a:latin typeface="Arial" panose="020B0604020202020204" pitchFamily="34" charset="0"/>
                <a:ea typeface="宋体" panose="02010600030101010101" pitchFamily="2" charset="-122"/>
              </a:endParaRPr>
            </a:p>
          </p:txBody>
        </p:sp>
        <p:grpSp>
          <p:nvGrpSpPr>
            <p:cNvPr id="84105" name="组合 225417"/>
            <p:cNvGrpSpPr/>
            <p:nvPr/>
          </p:nvGrpSpPr>
          <p:grpSpPr>
            <a:xfrm flipH="1">
              <a:off x="2480" y="3808"/>
              <a:ext cx="32" cy="152"/>
              <a:chOff x="1896" y="1680"/>
              <a:chExt cx="32" cy="152"/>
            </a:xfrm>
          </p:grpSpPr>
          <p:sp>
            <p:nvSpPr>
              <p:cNvPr id="84106" name="直接连接符 225418"/>
              <p:cNvSpPr/>
              <p:nvPr/>
            </p:nvSpPr>
            <p:spPr>
              <a:xfrm>
                <a:off x="1904" y="1688"/>
                <a:ext cx="0" cy="144"/>
              </a:xfrm>
              <a:prstGeom prst="line">
                <a:avLst/>
              </a:prstGeom>
              <a:ln w="28575" cap="flat" cmpd="sng">
                <a:solidFill>
                  <a:schemeClr val="tx1"/>
                </a:solidFill>
                <a:prstDash val="solid"/>
                <a:round/>
                <a:headEnd type="none" w="med" len="med"/>
                <a:tailEnd type="none" w="med" len="med"/>
              </a:ln>
            </p:spPr>
          </p:sp>
          <p:sp>
            <p:nvSpPr>
              <p:cNvPr id="84107" name="直接连接符 225419"/>
              <p:cNvSpPr/>
              <p:nvPr/>
            </p:nvSpPr>
            <p:spPr>
              <a:xfrm>
                <a:off x="1896" y="1832"/>
                <a:ext cx="32" cy="0"/>
              </a:xfrm>
              <a:prstGeom prst="line">
                <a:avLst/>
              </a:prstGeom>
              <a:ln w="28575" cap="flat" cmpd="sng">
                <a:solidFill>
                  <a:schemeClr val="tx1"/>
                </a:solidFill>
                <a:prstDash val="solid"/>
                <a:round/>
                <a:headEnd type="none" w="med" len="med"/>
                <a:tailEnd type="none" w="med" len="med"/>
              </a:ln>
            </p:spPr>
          </p:sp>
          <p:sp>
            <p:nvSpPr>
              <p:cNvPr id="84108" name="直接连接符 225420"/>
              <p:cNvSpPr/>
              <p:nvPr/>
            </p:nvSpPr>
            <p:spPr>
              <a:xfrm>
                <a:off x="1896" y="1680"/>
                <a:ext cx="32" cy="0"/>
              </a:xfrm>
              <a:prstGeom prst="line">
                <a:avLst/>
              </a:prstGeom>
              <a:ln w="28575" cap="flat" cmpd="sng">
                <a:solidFill>
                  <a:schemeClr val="tx1"/>
                </a:solidFill>
                <a:prstDash val="solid"/>
                <a:round/>
                <a:headEnd type="none" w="med" len="med"/>
                <a:tailEnd type="none" w="med" len="med"/>
              </a:ln>
            </p:spPr>
          </p:sp>
        </p:grpSp>
        <p:grpSp>
          <p:nvGrpSpPr>
            <p:cNvPr id="84109" name="组合 225421"/>
            <p:cNvGrpSpPr/>
            <p:nvPr/>
          </p:nvGrpSpPr>
          <p:grpSpPr>
            <a:xfrm>
              <a:off x="2368" y="3808"/>
              <a:ext cx="32" cy="152"/>
              <a:chOff x="1896" y="1680"/>
              <a:chExt cx="32" cy="152"/>
            </a:xfrm>
          </p:grpSpPr>
          <p:sp>
            <p:nvSpPr>
              <p:cNvPr id="84110" name="直接连接符 225422"/>
              <p:cNvSpPr/>
              <p:nvPr/>
            </p:nvSpPr>
            <p:spPr>
              <a:xfrm>
                <a:off x="1904" y="1688"/>
                <a:ext cx="0" cy="144"/>
              </a:xfrm>
              <a:prstGeom prst="line">
                <a:avLst/>
              </a:prstGeom>
              <a:ln w="28575" cap="flat" cmpd="sng">
                <a:solidFill>
                  <a:schemeClr val="tx1"/>
                </a:solidFill>
                <a:prstDash val="solid"/>
                <a:round/>
                <a:headEnd type="none" w="med" len="med"/>
                <a:tailEnd type="none" w="med" len="med"/>
              </a:ln>
            </p:spPr>
          </p:sp>
          <p:sp>
            <p:nvSpPr>
              <p:cNvPr id="84111" name="直接连接符 225423"/>
              <p:cNvSpPr/>
              <p:nvPr/>
            </p:nvSpPr>
            <p:spPr>
              <a:xfrm>
                <a:off x="1896" y="1832"/>
                <a:ext cx="32" cy="0"/>
              </a:xfrm>
              <a:prstGeom prst="line">
                <a:avLst/>
              </a:prstGeom>
              <a:ln w="28575" cap="flat" cmpd="sng">
                <a:solidFill>
                  <a:schemeClr val="tx1"/>
                </a:solidFill>
                <a:prstDash val="solid"/>
                <a:round/>
                <a:headEnd type="none" w="med" len="med"/>
                <a:tailEnd type="none" w="med" len="med"/>
              </a:ln>
            </p:spPr>
          </p:sp>
          <p:sp>
            <p:nvSpPr>
              <p:cNvPr id="84112" name="直接连接符 225424"/>
              <p:cNvSpPr/>
              <p:nvPr/>
            </p:nvSpPr>
            <p:spPr>
              <a:xfrm>
                <a:off x="1896" y="1680"/>
                <a:ext cx="32" cy="0"/>
              </a:xfrm>
              <a:prstGeom prst="line">
                <a:avLst/>
              </a:prstGeom>
              <a:ln w="28575" cap="flat" cmpd="sng">
                <a:solidFill>
                  <a:schemeClr val="tx1"/>
                </a:solidFill>
                <a:prstDash val="solid"/>
                <a:round/>
                <a:headEnd type="none" w="med" len="med"/>
                <a:tailEnd type="none" w="med" len="med"/>
              </a:ln>
            </p:spPr>
          </p:sp>
        </p:grpSp>
      </p:grpSp>
      <p:grpSp>
        <p:nvGrpSpPr>
          <p:cNvPr id="84113" name="组合 225425"/>
          <p:cNvGrpSpPr/>
          <p:nvPr/>
        </p:nvGrpSpPr>
        <p:grpSpPr>
          <a:xfrm>
            <a:off x="4733925" y="1676400"/>
            <a:ext cx="1590675" cy="1770063"/>
            <a:chOff x="2982" y="1056"/>
            <a:chExt cx="1002" cy="1115"/>
          </a:xfrm>
        </p:grpSpPr>
        <p:sp>
          <p:nvSpPr>
            <p:cNvPr id="84114" name="文本框 225426"/>
            <p:cNvSpPr txBox="1"/>
            <p:nvPr/>
          </p:nvSpPr>
          <p:spPr>
            <a:xfrm>
              <a:off x="3066" y="1056"/>
              <a:ext cx="306" cy="288"/>
            </a:xfrm>
            <a:prstGeom prst="rect">
              <a:avLst/>
            </a:prstGeom>
            <a:noFill/>
            <a:ln w="9525">
              <a:noFill/>
            </a:ln>
          </p:spPr>
          <p:txBody>
            <a:bodyPr wrap="none" lIns="90000" tIns="46800" rIns="90000" bIns="46800" anchor="ctr" anchorCtr="0">
              <a:spAutoFit/>
            </a:bodyPr>
            <a:lstStyle/>
            <a:p>
              <a:pPr>
                <a:spcBef>
                  <a:spcPct val="50000"/>
                </a:spcBef>
              </a:pPr>
              <a:r>
                <a:rPr lang="zh-CN" altLang="en-US" sz="2400" dirty="0">
                  <a:latin typeface="黑体" panose="02010609060101010101" pitchFamily="49" charset="-122"/>
                  <a:ea typeface="宋体" panose="02010600030101010101" pitchFamily="2" charset="-122"/>
                </a:rPr>
                <a:t>按</a:t>
              </a:r>
              <a:endParaRPr lang="en-US" altLang="ja-JP" sz="2400" dirty="0">
                <a:latin typeface="黑体" panose="02010609060101010101" pitchFamily="49" charset="-122"/>
                <a:ea typeface="宋体" panose="02010600030101010101" pitchFamily="2" charset="-122"/>
              </a:endParaRPr>
            </a:p>
          </p:txBody>
        </p:sp>
        <p:sp>
          <p:nvSpPr>
            <p:cNvPr id="84115" name="矩形 225427"/>
            <p:cNvSpPr/>
            <p:nvPr/>
          </p:nvSpPr>
          <p:spPr>
            <a:xfrm>
              <a:off x="3147" y="1728"/>
              <a:ext cx="528" cy="281"/>
            </a:xfrm>
            <a:prstGeom prst="rect">
              <a:avLst/>
            </a:prstGeom>
            <a:solidFill>
              <a:srgbClr val="FFFF66"/>
            </a:solidFill>
            <a:ln w="28575" cap="flat" cmpd="sng">
              <a:solidFill>
                <a:schemeClr val="tx1"/>
              </a:solidFill>
              <a:prstDash val="solid"/>
              <a:miter/>
              <a:headEnd type="none" w="med" len="med"/>
              <a:tailEnd type="none" w="med" len="med"/>
            </a:ln>
          </p:spPr>
          <p:txBody>
            <a:bodyPr wrap="none" anchor="ctr" anchorCtr="0"/>
            <a:lstStyle/>
            <a:p>
              <a:endParaRPr lang="zh-CN" altLang="en-US" sz="2400" dirty="0">
                <a:latin typeface="黑体" panose="02010609060101010101" pitchFamily="49" charset="-122"/>
                <a:ea typeface="宋体" panose="02010600030101010101" pitchFamily="2" charset="-122"/>
              </a:endParaRPr>
            </a:p>
          </p:txBody>
        </p:sp>
        <p:grpSp>
          <p:nvGrpSpPr>
            <p:cNvPr id="84116" name="组合 225428"/>
            <p:cNvGrpSpPr/>
            <p:nvPr/>
          </p:nvGrpSpPr>
          <p:grpSpPr>
            <a:xfrm>
              <a:off x="3260" y="1440"/>
              <a:ext cx="301" cy="347"/>
              <a:chOff x="3535" y="489"/>
              <a:chExt cx="737" cy="847"/>
            </a:xfrm>
          </p:grpSpPr>
          <p:sp>
            <p:nvSpPr>
              <p:cNvPr id="84117" name="矩形 225429"/>
              <p:cNvSpPr/>
              <p:nvPr/>
            </p:nvSpPr>
            <p:spPr>
              <a:xfrm>
                <a:off x="3535" y="489"/>
                <a:ext cx="737" cy="257"/>
              </a:xfrm>
              <a:prstGeom prst="rect">
                <a:avLst/>
              </a:prstGeom>
              <a:solidFill>
                <a:srgbClr val="CCFF33"/>
              </a:solidFill>
              <a:ln w="28575" cap="flat" cmpd="sng">
                <a:solidFill>
                  <a:schemeClr val="tx1"/>
                </a:solidFill>
                <a:prstDash val="solid"/>
                <a:miter/>
                <a:headEnd type="none" w="med" len="med"/>
                <a:tailEnd type="none" w="med" len="med"/>
              </a:ln>
            </p:spPr>
            <p:txBody>
              <a:bodyPr anchor="t" anchorCtr="0"/>
              <a:lstStyle/>
              <a:p>
                <a:endParaRPr lang="zh-CN" altLang="en-US" sz="1200" dirty="0">
                  <a:latin typeface="Arial" panose="020B0604020202020204" pitchFamily="34" charset="0"/>
                  <a:ea typeface="宋体" panose="02010600030101010101" pitchFamily="2" charset="-122"/>
                </a:endParaRPr>
              </a:p>
            </p:txBody>
          </p:sp>
          <p:sp>
            <p:nvSpPr>
              <p:cNvPr id="84118" name="矩形 225430"/>
              <p:cNvSpPr/>
              <p:nvPr/>
            </p:nvSpPr>
            <p:spPr>
              <a:xfrm>
                <a:off x="3782" y="746"/>
                <a:ext cx="243" cy="590"/>
              </a:xfrm>
              <a:prstGeom prst="rect">
                <a:avLst/>
              </a:prstGeom>
              <a:solidFill>
                <a:srgbClr val="CCFF33"/>
              </a:solidFill>
              <a:ln w="28575" cap="flat" cmpd="sng">
                <a:solidFill>
                  <a:schemeClr val="tx1"/>
                </a:solidFill>
                <a:prstDash val="solid"/>
                <a:miter/>
                <a:headEnd type="none" w="med" len="med"/>
                <a:tailEnd type="none" w="med" len="med"/>
              </a:ln>
            </p:spPr>
            <p:txBody>
              <a:bodyPr anchor="t" anchorCtr="0"/>
              <a:lstStyle/>
              <a:p>
                <a:endParaRPr lang="zh-CN" altLang="en-US" sz="1200" dirty="0">
                  <a:latin typeface="Arial" panose="020B0604020202020204" pitchFamily="34" charset="0"/>
                  <a:ea typeface="宋体" panose="02010600030101010101" pitchFamily="2" charset="-122"/>
                </a:endParaRPr>
              </a:p>
            </p:txBody>
          </p:sp>
        </p:grpSp>
        <p:grpSp>
          <p:nvGrpSpPr>
            <p:cNvPr id="84119" name="组合 225431"/>
            <p:cNvGrpSpPr/>
            <p:nvPr/>
          </p:nvGrpSpPr>
          <p:grpSpPr>
            <a:xfrm flipH="1">
              <a:off x="3531" y="1932"/>
              <a:ext cx="309" cy="45"/>
              <a:chOff x="864" y="1384"/>
              <a:chExt cx="816" cy="96"/>
            </a:xfrm>
          </p:grpSpPr>
          <p:sp>
            <p:nvSpPr>
              <p:cNvPr id="84120" name="椭圆 225432"/>
              <p:cNvSpPr/>
              <p:nvPr/>
            </p:nvSpPr>
            <p:spPr>
              <a:xfrm>
                <a:off x="1584" y="1384"/>
                <a:ext cx="96" cy="96"/>
              </a:xfrm>
              <a:prstGeom prst="ellipse">
                <a:avLst/>
              </a:prstGeom>
              <a:noFill/>
              <a:ln w="38100" cap="flat" cmpd="sng">
                <a:solidFill>
                  <a:schemeClr val="tx1"/>
                </a:solidFill>
                <a:prstDash val="solid"/>
                <a:round/>
                <a:headEnd type="none" w="med" len="med"/>
                <a:tailEnd type="none" w="med" len="med"/>
              </a:ln>
            </p:spPr>
            <p:txBody>
              <a:bodyPr wrap="none" anchor="ctr" anchorCtr="0"/>
              <a:lstStyle/>
              <a:p>
                <a:endParaRPr lang="zh-CN" altLang="en-US" sz="2400" dirty="0">
                  <a:latin typeface="黑体" panose="02010609060101010101" pitchFamily="49" charset="-122"/>
                  <a:ea typeface="宋体" panose="02010600030101010101" pitchFamily="2" charset="-122"/>
                </a:endParaRPr>
              </a:p>
            </p:txBody>
          </p:sp>
          <p:sp>
            <p:nvSpPr>
              <p:cNvPr id="84121" name="直接连接符 225433"/>
              <p:cNvSpPr/>
              <p:nvPr/>
            </p:nvSpPr>
            <p:spPr>
              <a:xfrm>
                <a:off x="864" y="1432"/>
                <a:ext cx="720" cy="0"/>
              </a:xfrm>
              <a:prstGeom prst="line">
                <a:avLst/>
              </a:prstGeom>
              <a:ln w="38100" cap="flat" cmpd="sng">
                <a:solidFill>
                  <a:schemeClr val="tx1"/>
                </a:solidFill>
                <a:prstDash val="solid"/>
                <a:round/>
                <a:headEnd type="none" w="med" len="med"/>
                <a:tailEnd type="none" w="med" len="med"/>
              </a:ln>
            </p:spPr>
          </p:sp>
        </p:grpSp>
        <p:grpSp>
          <p:nvGrpSpPr>
            <p:cNvPr id="84122" name="组合 225434"/>
            <p:cNvGrpSpPr/>
            <p:nvPr/>
          </p:nvGrpSpPr>
          <p:grpSpPr>
            <a:xfrm flipH="1">
              <a:off x="3531" y="1767"/>
              <a:ext cx="309" cy="45"/>
              <a:chOff x="960" y="1480"/>
              <a:chExt cx="816" cy="96"/>
            </a:xfrm>
          </p:grpSpPr>
          <p:sp>
            <p:nvSpPr>
              <p:cNvPr id="84123" name="椭圆 225435"/>
              <p:cNvSpPr/>
              <p:nvPr/>
            </p:nvSpPr>
            <p:spPr>
              <a:xfrm>
                <a:off x="1680" y="1480"/>
                <a:ext cx="96" cy="96"/>
              </a:xfrm>
              <a:prstGeom prst="ellipse">
                <a:avLst/>
              </a:prstGeom>
              <a:noFill/>
              <a:ln w="38100" cap="flat" cmpd="sng">
                <a:solidFill>
                  <a:schemeClr val="tx1"/>
                </a:solidFill>
                <a:prstDash val="solid"/>
                <a:round/>
                <a:headEnd type="none" w="med" len="med"/>
                <a:tailEnd type="none" w="med" len="med"/>
              </a:ln>
            </p:spPr>
            <p:txBody>
              <a:bodyPr wrap="none" anchor="ctr" anchorCtr="0"/>
              <a:lstStyle/>
              <a:p>
                <a:endParaRPr lang="zh-CN" altLang="en-US" sz="2400" dirty="0">
                  <a:latin typeface="黑体" panose="02010609060101010101" pitchFamily="49" charset="-122"/>
                  <a:ea typeface="宋体" panose="02010600030101010101" pitchFamily="2" charset="-122"/>
                </a:endParaRPr>
              </a:p>
            </p:txBody>
          </p:sp>
          <p:sp>
            <p:nvSpPr>
              <p:cNvPr id="84124" name="直接连接符 225436"/>
              <p:cNvSpPr/>
              <p:nvPr/>
            </p:nvSpPr>
            <p:spPr>
              <a:xfrm>
                <a:off x="960" y="1528"/>
                <a:ext cx="720" cy="0"/>
              </a:xfrm>
              <a:prstGeom prst="line">
                <a:avLst/>
              </a:prstGeom>
              <a:ln w="38100" cap="flat" cmpd="sng">
                <a:solidFill>
                  <a:schemeClr val="tx1"/>
                </a:solidFill>
                <a:prstDash val="solid"/>
                <a:round/>
                <a:headEnd type="none" w="med" len="med"/>
                <a:tailEnd type="none" w="med" len="med"/>
              </a:ln>
            </p:spPr>
          </p:sp>
        </p:grpSp>
        <p:grpSp>
          <p:nvGrpSpPr>
            <p:cNvPr id="84125" name="组合 225437"/>
            <p:cNvGrpSpPr/>
            <p:nvPr/>
          </p:nvGrpSpPr>
          <p:grpSpPr>
            <a:xfrm>
              <a:off x="2982" y="1860"/>
              <a:ext cx="309" cy="45"/>
              <a:chOff x="864" y="1384"/>
              <a:chExt cx="816" cy="96"/>
            </a:xfrm>
          </p:grpSpPr>
          <p:sp>
            <p:nvSpPr>
              <p:cNvPr id="84126" name="椭圆 225438"/>
              <p:cNvSpPr/>
              <p:nvPr/>
            </p:nvSpPr>
            <p:spPr>
              <a:xfrm>
                <a:off x="1584" y="1384"/>
                <a:ext cx="96" cy="96"/>
              </a:xfrm>
              <a:prstGeom prst="ellipse">
                <a:avLst/>
              </a:prstGeom>
              <a:noFill/>
              <a:ln w="38100" cap="flat" cmpd="sng">
                <a:solidFill>
                  <a:schemeClr val="tx1"/>
                </a:solidFill>
                <a:prstDash val="solid"/>
                <a:round/>
                <a:headEnd type="none" w="med" len="med"/>
                <a:tailEnd type="none" w="med" len="med"/>
              </a:ln>
            </p:spPr>
            <p:txBody>
              <a:bodyPr wrap="none" anchor="ctr" anchorCtr="0"/>
              <a:lstStyle/>
              <a:p>
                <a:endParaRPr lang="zh-CN" altLang="en-US" sz="2400" dirty="0">
                  <a:latin typeface="黑体" panose="02010609060101010101" pitchFamily="49" charset="-122"/>
                  <a:ea typeface="宋体" panose="02010600030101010101" pitchFamily="2" charset="-122"/>
                </a:endParaRPr>
              </a:p>
            </p:txBody>
          </p:sp>
          <p:sp>
            <p:nvSpPr>
              <p:cNvPr id="84127" name="直接连接符 225439"/>
              <p:cNvSpPr/>
              <p:nvPr/>
            </p:nvSpPr>
            <p:spPr>
              <a:xfrm>
                <a:off x="864" y="1432"/>
                <a:ext cx="720" cy="0"/>
              </a:xfrm>
              <a:prstGeom prst="line">
                <a:avLst/>
              </a:prstGeom>
              <a:ln w="38100" cap="flat" cmpd="sng">
                <a:solidFill>
                  <a:schemeClr val="tx1"/>
                </a:solidFill>
                <a:prstDash val="solid"/>
                <a:round/>
                <a:headEnd type="none" w="med" len="med"/>
                <a:tailEnd type="none" w="med" len="med"/>
              </a:ln>
            </p:spPr>
          </p:sp>
        </p:grpSp>
        <p:sp>
          <p:nvSpPr>
            <p:cNvPr id="84128" name="直接连接符 225440"/>
            <p:cNvSpPr/>
            <p:nvPr/>
          </p:nvSpPr>
          <p:spPr>
            <a:xfrm flipV="1">
              <a:off x="3291" y="1806"/>
              <a:ext cx="288" cy="78"/>
            </a:xfrm>
            <a:prstGeom prst="line">
              <a:avLst/>
            </a:prstGeom>
            <a:ln w="19050" cap="flat" cmpd="sng">
              <a:solidFill>
                <a:schemeClr val="tx1"/>
              </a:solidFill>
              <a:prstDash val="solid"/>
              <a:round/>
              <a:headEnd type="none" w="med" len="med"/>
              <a:tailEnd type="none" w="med" len="med"/>
            </a:ln>
          </p:spPr>
        </p:sp>
        <p:sp>
          <p:nvSpPr>
            <p:cNvPr id="84129" name="上箭头 225441"/>
            <p:cNvSpPr/>
            <p:nvPr/>
          </p:nvSpPr>
          <p:spPr>
            <a:xfrm>
              <a:off x="3840" y="1584"/>
              <a:ext cx="144" cy="144"/>
            </a:xfrm>
            <a:prstGeom prst="upArrow">
              <a:avLst>
                <a:gd name="adj1" fmla="val 50000"/>
                <a:gd name="adj2" fmla="val 25000"/>
              </a:avLst>
            </a:prstGeom>
            <a:solidFill>
              <a:srgbClr val="FF9900"/>
            </a:solidFill>
            <a:ln w="9525" cap="flat" cmpd="sng">
              <a:solidFill>
                <a:schemeClr val="tx1"/>
              </a:solidFill>
              <a:prstDash val="solid"/>
              <a:miter/>
              <a:headEnd type="none" w="med" len="med"/>
              <a:tailEnd type="none" w="med" len="med"/>
            </a:ln>
          </p:spPr>
          <p:txBody>
            <a:bodyPr anchor="t" anchorCtr="0"/>
            <a:lstStyle/>
            <a:p>
              <a:endParaRPr lang="zh-CN" altLang="en-US" sz="1200" dirty="0">
                <a:latin typeface="Arial" panose="020B0604020202020204" pitchFamily="34" charset="0"/>
                <a:ea typeface="宋体" panose="02010600030101010101" pitchFamily="2" charset="-122"/>
              </a:endParaRPr>
            </a:p>
          </p:txBody>
        </p:sp>
        <p:sp>
          <p:nvSpPr>
            <p:cNvPr id="84130" name="上箭头 225442"/>
            <p:cNvSpPr/>
            <p:nvPr/>
          </p:nvSpPr>
          <p:spPr>
            <a:xfrm flipV="1">
              <a:off x="3840" y="1968"/>
              <a:ext cx="144" cy="144"/>
            </a:xfrm>
            <a:prstGeom prst="upArrow">
              <a:avLst>
                <a:gd name="adj1" fmla="val 50000"/>
                <a:gd name="adj2" fmla="val 25000"/>
              </a:avLst>
            </a:prstGeom>
            <a:solidFill>
              <a:srgbClr val="FF9900"/>
            </a:solidFill>
            <a:ln w="9525" cap="flat" cmpd="sng">
              <a:solidFill>
                <a:schemeClr val="tx1"/>
              </a:solidFill>
              <a:prstDash val="solid"/>
              <a:miter/>
              <a:headEnd type="none" w="med" len="med"/>
              <a:tailEnd type="none" w="med" len="med"/>
            </a:ln>
          </p:spPr>
          <p:txBody>
            <a:bodyPr anchor="t" anchorCtr="0"/>
            <a:lstStyle/>
            <a:p>
              <a:endParaRPr lang="zh-CN" altLang="en-US" sz="1200" dirty="0">
                <a:latin typeface="Arial" panose="020B0604020202020204" pitchFamily="34" charset="0"/>
                <a:ea typeface="宋体" panose="02010600030101010101" pitchFamily="2" charset="-122"/>
              </a:endParaRPr>
            </a:p>
          </p:txBody>
        </p:sp>
        <p:sp>
          <p:nvSpPr>
            <p:cNvPr id="84131" name="文本框 225443"/>
            <p:cNvSpPr txBox="1"/>
            <p:nvPr/>
          </p:nvSpPr>
          <p:spPr>
            <a:xfrm>
              <a:off x="3464" y="1547"/>
              <a:ext cx="392" cy="192"/>
            </a:xfrm>
            <a:prstGeom prst="rect">
              <a:avLst/>
            </a:prstGeom>
            <a:noFill/>
            <a:ln w="9525">
              <a:noFill/>
            </a:ln>
          </p:spPr>
          <p:txBody>
            <a:bodyPr wrap="none" lIns="90000" tIns="46800" rIns="90000" bIns="46800" anchor="ctr" anchorCtr="0">
              <a:spAutoFit/>
            </a:bodyPr>
            <a:lstStyle/>
            <a:p>
              <a:pPr>
                <a:spcBef>
                  <a:spcPct val="50000"/>
                </a:spcBef>
              </a:pPr>
              <a:r>
                <a:rPr lang="zh-CN" altLang="en-US" sz="1400" dirty="0">
                  <a:latin typeface="黑体" panose="02010609060101010101" pitchFamily="49" charset="-122"/>
                  <a:ea typeface="宋体" panose="02010600030101010101" pitchFamily="2" charset="-122"/>
                </a:rPr>
                <a:t>B触点</a:t>
              </a:r>
              <a:endParaRPr lang="en-US" altLang="ja-JP" sz="1400" dirty="0">
                <a:latin typeface="黑体" panose="02010609060101010101" pitchFamily="49" charset="-122"/>
                <a:ea typeface="宋体" panose="02010600030101010101" pitchFamily="2" charset="-122"/>
              </a:endParaRPr>
            </a:p>
          </p:txBody>
        </p:sp>
        <p:sp>
          <p:nvSpPr>
            <p:cNvPr id="84132" name="文本框 225444"/>
            <p:cNvSpPr txBox="1"/>
            <p:nvPr/>
          </p:nvSpPr>
          <p:spPr>
            <a:xfrm>
              <a:off x="3467" y="1979"/>
              <a:ext cx="392" cy="192"/>
            </a:xfrm>
            <a:prstGeom prst="rect">
              <a:avLst/>
            </a:prstGeom>
            <a:noFill/>
            <a:ln w="9525">
              <a:noFill/>
            </a:ln>
          </p:spPr>
          <p:txBody>
            <a:bodyPr wrap="none" lIns="90000" tIns="46800" rIns="90000" bIns="46800" anchor="ctr" anchorCtr="0">
              <a:spAutoFit/>
            </a:bodyPr>
            <a:lstStyle/>
            <a:p>
              <a:pPr>
                <a:spcBef>
                  <a:spcPct val="50000"/>
                </a:spcBef>
              </a:pPr>
              <a:r>
                <a:rPr lang="zh-CN" altLang="en-US" sz="1400" dirty="0">
                  <a:latin typeface="黑体" panose="02010609060101010101" pitchFamily="49" charset="-122"/>
                  <a:ea typeface="宋体" panose="02010600030101010101" pitchFamily="2" charset="-122"/>
                </a:rPr>
                <a:t>A触</a:t>
              </a:r>
              <a:r>
                <a:rPr lang="ja-JP" altLang="en-US" sz="1400" dirty="0">
                  <a:latin typeface="黑体" panose="02010609060101010101" pitchFamily="49" charset="-122"/>
                  <a:ea typeface="宋体" panose="02010600030101010101" pitchFamily="2" charset="-122"/>
                </a:rPr>
                <a:t>点</a:t>
              </a:r>
            </a:p>
          </p:txBody>
        </p:sp>
        <p:sp>
          <p:nvSpPr>
            <p:cNvPr id="84133" name="下箭头 225445"/>
            <p:cNvSpPr/>
            <p:nvPr/>
          </p:nvSpPr>
          <p:spPr>
            <a:xfrm>
              <a:off x="3330" y="1164"/>
              <a:ext cx="150" cy="228"/>
            </a:xfrm>
            <a:prstGeom prst="downArrow">
              <a:avLst>
                <a:gd name="adj1" fmla="val 50000"/>
                <a:gd name="adj2" fmla="val 38000"/>
              </a:avLst>
            </a:prstGeom>
            <a:gradFill rotWithShape="0">
              <a:gsLst>
                <a:gs pos="0">
                  <a:schemeClr val="accent1"/>
                </a:gs>
                <a:gs pos="100000">
                  <a:srgbClr val="005E47"/>
                </a:gs>
              </a:gsLst>
              <a:lin ang="5400000" scaled="1"/>
              <a:tileRect/>
            </a:gradFill>
            <a:ln w="9525" cap="flat" cmpd="sng">
              <a:solidFill>
                <a:schemeClr val="tx1"/>
              </a:solidFill>
              <a:prstDash val="solid"/>
              <a:miter/>
              <a:headEnd type="none" w="med" len="med"/>
              <a:tailEnd type="none" w="med" len="med"/>
            </a:ln>
          </p:spPr>
          <p:txBody>
            <a:bodyPr anchor="t" anchorCtr="0"/>
            <a:lstStyle/>
            <a:p>
              <a:endParaRPr lang="zh-CN" altLang="en-US" sz="1200" dirty="0">
                <a:latin typeface="Arial" panose="020B0604020202020204" pitchFamily="34" charset="0"/>
                <a:ea typeface="宋体" panose="02010600030101010101" pitchFamily="2" charset="-122"/>
              </a:endParaRPr>
            </a:p>
          </p:txBody>
        </p:sp>
      </p:grpSp>
      <p:sp>
        <p:nvSpPr>
          <p:cNvPr id="84134" name="文本框 225446"/>
          <p:cNvSpPr txBox="1"/>
          <p:nvPr/>
        </p:nvSpPr>
        <p:spPr>
          <a:xfrm>
            <a:off x="5734050" y="3586163"/>
            <a:ext cx="2808288" cy="633412"/>
          </a:xfrm>
          <a:prstGeom prst="rect">
            <a:avLst/>
          </a:prstGeom>
          <a:noFill/>
          <a:ln w="9525" cap="flat" cmpd="sng">
            <a:solidFill>
              <a:schemeClr val="tx1"/>
            </a:solidFill>
            <a:prstDash val="solid"/>
            <a:miter/>
            <a:headEnd type="none" w="med" len="med"/>
            <a:tailEnd type="none" w="med" len="med"/>
          </a:ln>
        </p:spPr>
        <p:txBody>
          <a:bodyPr lIns="90000" tIns="46800" rIns="90000" bIns="46800" anchor="ctr" anchorCtr="1">
            <a:spAutoFit/>
          </a:bodyPr>
          <a:lstStyle/>
          <a:p>
            <a:pPr>
              <a:lnSpc>
                <a:spcPct val="70000"/>
              </a:lnSpc>
              <a:spcBef>
                <a:spcPct val="50000"/>
              </a:spcBef>
            </a:pPr>
            <a:r>
              <a:rPr lang="zh-CN" altLang="en-US" sz="1200" dirty="0">
                <a:latin typeface="黑体" panose="02010609060101010101" pitchFamily="49" charset="-122"/>
                <a:ea typeface="宋体" panose="02010600030101010101" pitchFamily="2" charset="-122"/>
              </a:rPr>
              <a:t>按下后变为</a:t>
            </a:r>
            <a:r>
              <a:rPr lang="en-US" altLang="ja-JP" sz="1200" dirty="0">
                <a:latin typeface="黑体" panose="02010609060101010101" pitchFamily="49" charset="-122"/>
                <a:ea typeface="宋体" panose="02010600030101010101" pitchFamily="2" charset="-122"/>
              </a:rPr>
              <a:t>ON</a:t>
            </a:r>
            <a:r>
              <a:rPr lang="ja-JP" altLang="en-US" sz="1200" dirty="0">
                <a:latin typeface="黑体" panose="02010609060101010101" pitchFamily="49" charset="-122"/>
                <a:ea typeface="宋体" panose="02010600030101010101" pitchFamily="2" charset="-122"/>
              </a:rPr>
              <a:t>　　　　　　　　　　　　</a:t>
            </a:r>
          </a:p>
          <a:p>
            <a:pPr>
              <a:lnSpc>
                <a:spcPct val="60000"/>
              </a:lnSpc>
              <a:spcBef>
                <a:spcPct val="50000"/>
              </a:spcBef>
            </a:pPr>
            <a:r>
              <a:rPr lang="zh-CN" altLang="ja-JP" sz="1200" dirty="0">
                <a:latin typeface="黑体" panose="02010609060101010101" pitchFamily="49" charset="-122"/>
                <a:ea typeface="宋体" panose="02010600030101010101" pitchFamily="2" charset="-122"/>
              </a:rPr>
              <a:t>  </a:t>
            </a:r>
            <a:r>
              <a:rPr lang="zh-CN" altLang="en-US" sz="1200" dirty="0">
                <a:latin typeface="黑体" panose="02010609060101010101" pitchFamily="49" charset="-122"/>
                <a:ea typeface="宋体" panose="02010600030101010101" pitchFamily="2" charset="-122"/>
              </a:rPr>
              <a:t>称为A型触</a:t>
            </a:r>
            <a:r>
              <a:rPr lang="ja-JP" altLang="en-US" sz="1200" dirty="0">
                <a:latin typeface="黑体" panose="02010609060101010101" pitchFamily="49" charset="-122"/>
                <a:ea typeface="宋体" panose="02010600030101010101" pitchFamily="2" charset="-122"/>
              </a:rPr>
              <a:t>点</a:t>
            </a:r>
            <a:r>
              <a:rPr lang="zh-CN" altLang="en-US" sz="1200" dirty="0">
                <a:latin typeface="黑体" panose="02010609060101010101" pitchFamily="49" charset="-122"/>
                <a:ea typeface="宋体" panose="02010600030101010101" pitchFamily="2" charset="-122"/>
              </a:rPr>
              <a:t>(MAKE触</a:t>
            </a:r>
            <a:r>
              <a:rPr lang="ja-JP" altLang="en-US" sz="1200" dirty="0">
                <a:latin typeface="黑体" panose="02010609060101010101" pitchFamily="49" charset="-122"/>
                <a:ea typeface="宋体" panose="02010600030101010101" pitchFamily="2" charset="-122"/>
              </a:rPr>
              <a:t>点</a:t>
            </a:r>
            <a:r>
              <a:rPr lang="zh-CN" altLang="en-US" sz="1200" dirty="0">
                <a:latin typeface="黑体" panose="02010609060101010101" pitchFamily="49" charset="-122"/>
                <a:ea typeface="宋体" panose="02010600030101010101" pitchFamily="2" charset="-122"/>
              </a:rPr>
              <a:t>)或</a:t>
            </a:r>
            <a:endParaRPr lang="ja-JP" altLang="en-US" sz="1200" dirty="0">
              <a:latin typeface="黑体" panose="02010609060101010101" pitchFamily="49" charset="-122"/>
              <a:ea typeface="宋体" panose="02010600030101010101" pitchFamily="2" charset="-122"/>
            </a:endParaRPr>
          </a:p>
          <a:p>
            <a:pPr>
              <a:lnSpc>
                <a:spcPct val="60000"/>
              </a:lnSpc>
              <a:spcBef>
                <a:spcPct val="50000"/>
              </a:spcBef>
            </a:pPr>
            <a:r>
              <a:rPr lang="zh-CN" altLang="en-US" sz="1200" dirty="0">
                <a:solidFill>
                  <a:srgbClr val="FF0000"/>
                </a:solidFill>
                <a:latin typeface="黑体" panose="02010609060101010101" pitchFamily="49" charset="-122"/>
                <a:ea typeface="宋体" panose="02010600030101010101" pitchFamily="2" charset="-122"/>
              </a:rPr>
              <a:t>  常开触点</a:t>
            </a:r>
            <a:r>
              <a:rPr lang="zh-CN" altLang="en-US" sz="1200" dirty="0">
                <a:latin typeface="黑体" panose="02010609060101010101" pitchFamily="49" charset="-122"/>
                <a:ea typeface="宋体" panose="02010600030101010101" pitchFamily="2" charset="-122"/>
              </a:rPr>
              <a:t>、NO触</a:t>
            </a:r>
            <a:r>
              <a:rPr lang="ja-JP" altLang="en-US" sz="1200" dirty="0">
                <a:latin typeface="黑体" panose="02010609060101010101" pitchFamily="49" charset="-122"/>
                <a:ea typeface="宋体" panose="02010600030101010101" pitchFamily="2" charset="-122"/>
              </a:rPr>
              <a:t>点</a:t>
            </a:r>
            <a:r>
              <a:rPr lang="en-US" altLang="zh-CN" sz="1200" dirty="0">
                <a:latin typeface="黑体" panose="02010609060101010101" pitchFamily="49" charset="-122"/>
                <a:ea typeface="宋体" panose="02010600030101010101" pitchFamily="2" charset="-122"/>
              </a:rPr>
              <a:t>(NORMAL OPEN)</a:t>
            </a:r>
          </a:p>
        </p:txBody>
      </p:sp>
    </p:spTree>
  </p:cSld>
  <p:clrMapOvr>
    <a:masterClrMapping/>
  </p:clrMapOvr>
  <p:transition spd="med">
    <p:zo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3" name="图片 1"/>
          <p:cNvPicPr>
            <a:picLocks noChangeAspect="1"/>
          </p:cNvPicPr>
          <p:nvPr/>
        </p:nvPicPr>
        <p:blipFill>
          <a:blip r:embed="rId2"/>
          <a:stretch>
            <a:fillRect/>
          </a:stretch>
        </p:blipFill>
        <p:spPr>
          <a:xfrm>
            <a:off x="711200" y="1651000"/>
            <a:ext cx="4114800" cy="2551113"/>
          </a:xfrm>
          <a:prstGeom prst="rect">
            <a:avLst/>
          </a:prstGeom>
          <a:noFill/>
          <a:ln w="9525">
            <a:noFill/>
          </a:ln>
        </p:spPr>
      </p:pic>
      <p:pic>
        <p:nvPicPr>
          <p:cNvPr id="84994" name="图片 2"/>
          <p:cNvPicPr>
            <a:picLocks noChangeAspect="1"/>
          </p:cNvPicPr>
          <p:nvPr/>
        </p:nvPicPr>
        <p:blipFill>
          <a:blip r:embed="rId3"/>
          <a:srcRect t="17604"/>
          <a:stretch>
            <a:fillRect/>
          </a:stretch>
        </p:blipFill>
        <p:spPr>
          <a:xfrm>
            <a:off x="5064125" y="2301875"/>
            <a:ext cx="3338513" cy="2066925"/>
          </a:xfrm>
          <a:prstGeom prst="rect">
            <a:avLst/>
          </a:prstGeom>
          <a:noFill/>
          <a:ln w="9525">
            <a:noFill/>
          </a:ln>
        </p:spPr>
      </p:pic>
      <p:pic>
        <p:nvPicPr>
          <p:cNvPr id="84995" name="图片 3"/>
          <p:cNvPicPr>
            <a:picLocks noChangeAspect="1"/>
          </p:cNvPicPr>
          <p:nvPr/>
        </p:nvPicPr>
        <p:blipFill>
          <a:blip r:embed="rId4"/>
          <a:srcRect l="28128" t="2380" r="22426" b="22011"/>
          <a:stretch>
            <a:fillRect/>
          </a:stretch>
        </p:blipFill>
        <p:spPr>
          <a:xfrm>
            <a:off x="4005263" y="4621213"/>
            <a:ext cx="4090987" cy="1814512"/>
          </a:xfrm>
          <a:prstGeom prst="rect">
            <a:avLst/>
          </a:prstGeom>
          <a:noFill/>
          <a:ln w="9525">
            <a:noFill/>
          </a:ln>
        </p:spPr>
      </p:pic>
      <p:sp>
        <p:nvSpPr>
          <p:cNvPr id="84996" name="Rectangle 2"/>
          <p:cNvSpPr>
            <a:spLocks noGrp="1"/>
          </p:cNvSpPr>
          <p:nvPr/>
        </p:nvSpPr>
        <p:spPr>
          <a:xfrm>
            <a:off x="457200" y="533400"/>
            <a:ext cx="8229600" cy="5592763"/>
          </a:xfrm>
          <a:prstGeom prst="rect">
            <a:avLst/>
          </a:prstGeom>
          <a:noFill/>
          <a:ln w="9525">
            <a:noFill/>
          </a:ln>
        </p:spPr>
        <p:txBody>
          <a:bodyPr anchor="t" anchorCtr="0"/>
          <a:lstStyle/>
          <a:p>
            <a:pPr marL="342900" indent="-342900">
              <a:spcBef>
                <a:spcPct val="20000"/>
              </a:spcBef>
              <a:buClr>
                <a:schemeClr val="bg2"/>
              </a:buClr>
              <a:buSzPct val="75000"/>
            </a:pPr>
            <a:r>
              <a:rPr lang="zh-CN" altLang="zh-CN" sz="3200" b="1" dirty="0">
                <a:latin typeface="Times New Roman" panose="02020603050405020304" pitchFamily="18" charset="0"/>
                <a:ea typeface="宋体" panose="02010600030101010101" pitchFamily="2" charset="-122"/>
              </a:rPr>
              <a:t>思考题：</a:t>
            </a: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p:cNvSpPr>
          <p:nvPr>
            <p:ph idx="1"/>
          </p:nvPr>
        </p:nvSpPr>
        <p:spPr>
          <a:xfrm>
            <a:off x="457200" y="533400"/>
            <a:ext cx="8229600" cy="5592763"/>
          </a:xfrm>
        </p:spPr>
        <p:txBody>
          <a:bodyPr vert="horz" wrap="square" lIns="91440" tIns="45720" rIns="91440" bIns="45720" anchor="t" anchorCtr="0"/>
          <a:lstStyle/>
          <a:p>
            <a:pPr eaLnBrk="1" hangingPunct="1">
              <a:buNone/>
            </a:pPr>
            <a:r>
              <a:rPr lang="en-US" altLang="zh-CN" b="1" dirty="0"/>
              <a:t>           </a:t>
            </a:r>
            <a:r>
              <a:rPr lang="zh-CN" altLang="en-US" b="1" dirty="0"/>
              <a:t>梯形图中的各元素是按自上而下，从左到右的顺序进行排列，最左边竖线称为起始母线，也叫左母线，其中的各触点是根据一定的控制要求进行连接，最后以继电器线圈结束。梯形图中通常有若干逻辑行，形似阶梯，梯形图由此而得名。</a:t>
            </a:r>
            <a:r>
              <a:rPr lang="zh-CN" altLang="en-US" b="1" dirty="0">
                <a:solidFill>
                  <a:srgbClr val="FF0000"/>
                </a:solidFill>
              </a:rPr>
              <a:t>梯形图是按自上而下，从左到右的顺序执行，全部程序执行完后又返回到开始进行循环。</a:t>
            </a:r>
          </a:p>
          <a:p>
            <a:pPr eaLnBrk="1" hangingPunct="1">
              <a:buNone/>
            </a:pPr>
            <a:endParaRPr lang="zh-CN" altLang="en-US" b="1" dirty="0"/>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p:cNvSpPr>
          <p:nvPr>
            <p:ph idx="1"/>
          </p:nvPr>
        </p:nvSpPr>
        <p:spPr>
          <a:xfrm>
            <a:off x="457200" y="533400"/>
            <a:ext cx="8229600" cy="5592763"/>
          </a:xfrm>
        </p:spPr>
        <p:txBody>
          <a:bodyPr vert="horz" wrap="square" lIns="91440" tIns="45720" rIns="91440" bIns="45720" anchor="t" anchorCtr="0"/>
          <a:lstStyle/>
          <a:p>
            <a:pPr eaLnBrk="1" hangingPunct="1">
              <a:buNone/>
            </a:pPr>
            <a:r>
              <a:rPr lang="en-US" altLang="zh-CN" b="1" dirty="0"/>
              <a:t>       </a:t>
            </a:r>
            <a:r>
              <a:rPr lang="zh-CN" altLang="en-US" b="1" dirty="0">
                <a:solidFill>
                  <a:srgbClr val="FF0000"/>
                </a:solidFill>
              </a:rPr>
              <a:t>能流：</a:t>
            </a:r>
            <a:r>
              <a:rPr lang="zh-CN" altLang="en-US" b="1" dirty="0"/>
              <a:t>梯形图中，为了分析各个元器件间的输入与输出的关系，就会假想一个概念电流，也称为能流。认为电流按照从左到右的方向流动。</a:t>
            </a:r>
          </a:p>
          <a:p>
            <a:pPr eaLnBrk="1" hangingPunct="1">
              <a:buNone/>
            </a:pPr>
            <a:r>
              <a:rPr lang="zh-CN" altLang="en-US" b="1" dirty="0"/>
              <a:t>讨论：</a:t>
            </a:r>
          </a:p>
        </p:txBody>
      </p:sp>
      <p:pic>
        <p:nvPicPr>
          <p:cNvPr id="87042" name="图片 -2147482598" descr="1598152820(1)"/>
          <p:cNvPicPr>
            <a:picLocks noChangeAspect="1"/>
          </p:cNvPicPr>
          <p:nvPr/>
        </p:nvPicPr>
        <p:blipFill>
          <a:blip r:embed="rId2">
            <a:lum bright="6000" contrast="54000"/>
          </a:blip>
          <a:stretch>
            <a:fillRect/>
          </a:stretch>
        </p:blipFill>
        <p:spPr>
          <a:xfrm>
            <a:off x="2149475" y="2873375"/>
            <a:ext cx="4043363" cy="2706688"/>
          </a:xfrm>
          <a:prstGeom prst="rect">
            <a:avLst/>
          </a:prstGeom>
          <a:noFill/>
          <a:ln w="9525">
            <a:noFill/>
          </a:ln>
        </p:spPr>
      </p:pic>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p:cNvSpPr>
          <p:nvPr>
            <p:ph idx="1"/>
          </p:nvPr>
        </p:nvSpPr>
        <p:spPr>
          <a:xfrm>
            <a:off x="395288" y="476250"/>
            <a:ext cx="8229600" cy="4724400"/>
          </a:xfrm>
        </p:spPr>
        <p:txBody>
          <a:bodyPr wrap="square" lIns="91440" tIns="45720" rIns="91440" bIns="45720" anchor="t"/>
          <a:lstStyle/>
          <a:p>
            <a:pPr marL="342900" marR="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3200" b="1" i="0" u="none" strike="noStrike" kern="0" cap="none" spc="0" normalizeH="0" baseline="0" noProof="1">
                <a:solidFill>
                  <a:schemeClr val="tx1"/>
                </a:solidFill>
                <a:latin typeface="Times New Roman" panose="02020603050405020304" pitchFamily="18" charset="0"/>
                <a:ea typeface="+mn-ea"/>
                <a:cs typeface="+mn-cs"/>
              </a:rPr>
              <a:t>5.2 Logic Functions</a:t>
            </a:r>
          </a:p>
          <a:p>
            <a:pPr marL="342900" marR="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3200" b="1" i="0" u="none" strike="noStrike" kern="0" cap="none" spc="0" normalizeH="0" baseline="0" noProof="1">
                <a:solidFill>
                  <a:schemeClr val="tx1"/>
                </a:solidFill>
                <a:latin typeface="Times New Roman" panose="02020603050405020304" pitchFamily="18" charset="0"/>
                <a:ea typeface="+mn-ea"/>
                <a:cs typeface="+mn-cs"/>
              </a:rPr>
              <a:t>5.2.1 AND</a:t>
            </a:r>
          </a:p>
          <a:p>
            <a:pPr marL="342900" marR="0" indent="-342900" algn="l" defTabSz="914400" rtl="0" eaLnBrk="1" fontAlgn="base" latinLnBrk="0" hangingPunct="1">
              <a:lnSpc>
                <a:spcPct val="110000"/>
              </a:lnSpc>
              <a:spcBef>
                <a:spcPct val="20000"/>
              </a:spcBef>
              <a:spcAft>
                <a:spcPct val="0"/>
              </a:spcAft>
              <a:buClr>
                <a:schemeClr val="bg2"/>
              </a:buClr>
              <a:buSzPct val="75000"/>
              <a:buFont typeface="Wingdings" panose="05000000000000000000" pitchFamily="2" charset="2"/>
              <a:buChar char="n"/>
            </a:pPr>
            <a:endParaRPr kumimoji="0" lang="en-US" altLang="zh-CN" sz="3200" b="1" i="0" u="none" strike="noStrike" kern="0" cap="none" spc="0" normalizeH="0" baseline="0" noProof="1">
              <a:solidFill>
                <a:schemeClr val="tx1"/>
              </a:solidFill>
              <a:latin typeface="Times New Roman" panose="02020603050405020304" pitchFamily="18" charset="0"/>
              <a:ea typeface="+mn-ea"/>
              <a:cs typeface="+mn-cs"/>
            </a:endParaRPr>
          </a:p>
          <a:p>
            <a:pPr marL="0" marR="0" indent="0" algn="l" defTabSz="914400" rtl="0" eaLnBrk="1" fontAlgn="base" latinLnBrk="0" hangingPunct="1">
              <a:lnSpc>
                <a:spcPct val="110000"/>
              </a:lnSpc>
              <a:spcBef>
                <a:spcPct val="20000"/>
              </a:spcBef>
              <a:spcAft>
                <a:spcPct val="0"/>
              </a:spcAft>
              <a:buClr>
                <a:schemeClr val="bg2"/>
              </a:buClr>
              <a:buSzPct val="75000"/>
              <a:buFont typeface="Wingdings" panose="05000000000000000000" pitchFamily="2" charset="2"/>
              <a:buNone/>
            </a:pPr>
            <a:endParaRPr kumimoji="0" lang="en-US" altLang="zh-CN" sz="3200" b="1" i="0" u="none" strike="noStrike" kern="0" cap="none" spc="0" normalizeH="0" baseline="0" noProof="1">
              <a:solidFill>
                <a:schemeClr val="tx1"/>
              </a:solidFill>
              <a:latin typeface="Times New Roman" panose="02020603050405020304" pitchFamily="18" charset="0"/>
              <a:ea typeface="+mn-ea"/>
              <a:cs typeface="+mn-cs"/>
            </a:endParaRPr>
          </a:p>
          <a:p>
            <a:pPr marL="342900" marR="0" indent="-342900" algn="l" defTabSz="914400" rtl="0" eaLnBrk="1" fontAlgn="base" latinLnBrk="0" hangingPunct="1">
              <a:lnSpc>
                <a:spcPct val="110000"/>
              </a:lnSpc>
              <a:spcBef>
                <a:spcPct val="20000"/>
              </a:spcBef>
              <a:spcAft>
                <a:spcPct val="0"/>
              </a:spcAft>
              <a:buClr>
                <a:schemeClr val="bg2"/>
              </a:buClr>
              <a:buSzPct val="75000"/>
              <a:buFont typeface="Wingdings" panose="05000000000000000000" pitchFamily="2" charset="2"/>
              <a:buChar char="n"/>
            </a:pPr>
            <a:endParaRPr kumimoji="0" lang="en-US" altLang="zh-CN" sz="3200" b="1" i="0" u="none" strike="noStrike" kern="0" cap="none" spc="0" normalizeH="0" baseline="0" noProof="1">
              <a:solidFill>
                <a:schemeClr val="tx1"/>
              </a:solidFill>
              <a:latin typeface="Times New Roman" panose="02020603050405020304" pitchFamily="18" charset="0"/>
              <a:ea typeface="+mn-ea"/>
              <a:cs typeface="+mn-cs"/>
            </a:endParaRPr>
          </a:p>
          <a:p>
            <a:pPr marL="342900" marR="0" indent="-342900" algn="l" defTabSz="914400" rtl="0" eaLnBrk="1" fontAlgn="base" latinLnBrk="0" hangingPunct="1">
              <a:lnSpc>
                <a:spcPct val="110000"/>
              </a:lnSpc>
              <a:spcBef>
                <a:spcPct val="20000"/>
              </a:spcBef>
              <a:spcAft>
                <a:spcPct val="0"/>
              </a:spcAft>
              <a:buClr>
                <a:schemeClr val="bg2"/>
              </a:buClr>
              <a:buSzPct val="75000"/>
              <a:buFont typeface="Wingdings" panose="05000000000000000000" pitchFamily="2" charset="2"/>
              <a:buChar char="n"/>
            </a:pPr>
            <a:endParaRPr kumimoji="0" lang="en-US" altLang="zh-CN" sz="3200" b="1" i="0" u="none" strike="noStrike" kern="0" cap="none" spc="0" normalizeH="0" baseline="0" noProof="1">
              <a:solidFill>
                <a:schemeClr val="tx1"/>
              </a:solidFill>
              <a:latin typeface="Times New Roman" panose="02020603050405020304" pitchFamily="18" charset="0"/>
              <a:ea typeface="+mn-ea"/>
              <a:cs typeface="+mn-cs"/>
            </a:endParaRPr>
          </a:p>
          <a:p>
            <a:pPr marL="0" marR="0" indent="0" algn="l" defTabSz="914400" rtl="0" eaLnBrk="1" fontAlgn="base" latinLnBrk="0" hangingPunct="1">
              <a:lnSpc>
                <a:spcPct val="110000"/>
              </a:lnSpc>
              <a:spcBef>
                <a:spcPct val="20000"/>
              </a:spcBef>
              <a:spcAft>
                <a:spcPct val="0"/>
              </a:spcAft>
              <a:buClr>
                <a:schemeClr val="bg2"/>
              </a:buClr>
              <a:buSzPct val="75000"/>
              <a:buFont typeface="Wingdings" panose="05000000000000000000" pitchFamily="2" charset="2"/>
              <a:buNone/>
            </a:pPr>
            <a:endParaRPr kumimoji="0" lang="en-US" altLang="zh-CN" sz="3200" b="1" i="0" u="none" strike="noStrike" kern="0" cap="none" spc="0" normalizeH="0" baseline="0" noProof="1">
              <a:solidFill>
                <a:schemeClr val="tx1"/>
              </a:solidFill>
              <a:latin typeface="Times New Roman" panose="02020603050405020304" pitchFamily="18" charset="0"/>
              <a:ea typeface="+mn-ea"/>
              <a:cs typeface="+mn-cs"/>
            </a:endParaRPr>
          </a:p>
          <a:p>
            <a:pPr marL="342900" marR="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3200" b="1" i="0" u="none" strike="noStrike" kern="0" cap="none" spc="0" normalizeH="0" baseline="0" noProof="1">
                <a:solidFill>
                  <a:schemeClr val="tx1"/>
                </a:solidFill>
                <a:latin typeface="Times New Roman" panose="02020603050405020304" pitchFamily="18" charset="0"/>
                <a:ea typeface="+mn-ea"/>
                <a:cs typeface="+mn-cs"/>
              </a:rPr>
              <a:t>      </a:t>
            </a:r>
            <a:endParaRPr kumimoji="0" lang="en-US" altLang="zh-CN" sz="3200" b="1" i="0" u="none" strike="noStrike" kern="0" cap="none" spc="0" normalizeH="0" baseline="0" noProof="1">
              <a:solidFill>
                <a:schemeClr val="tx1"/>
              </a:solidFill>
              <a:latin typeface="Times New Roman" panose="02020603050405020304" pitchFamily="18" charset="0"/>
              <a:ea typeface="+mn-ea"/>
              <a:cs typeface="+mn-cs"/>
            </a:endParaRPr>
          </a:p>
        </p:txBody>
      </p:sp>
      <p:pic>
        <p:nvPicPr>
          <p:cNvPr id="28674" name="图片 3"/>
          <p:cNvPicPr>
            <a:picLocks noChangeAspect="1"/>
          </p:cNvPicPr>
          <p:nvPr/>
        </p:nvPicPr>
        <p:blipFill>
          <a:blip r:embed="rId2"/>
          <a:stretch>
            <a:fillRect/>
          </a:stretch>
        </p:blipFill>
        <p:spPr>
          <a:xfrm>
            <a:off x="5314950" y="738188"/>
            <a:ext cx="2662238" cy="2239962"/>
          </a:xfrm>
          <a:prstGeom prst="rect">
            <a:avLst/>
          </a:prstGeom>
          <a:noFill/>
          <a:ln w="9525">
            <a:noFill/>
          </a:ln>
        </p:spPr>
      </p:pic>
      <p:pic>
        <p:nvPicPr>
          <p:cNvPr id="28675" name="图片 4"/>
          <p:cNvPicPr>
            <a:picLocks noChangeAspect="1"/>
          </p:cNvPicPr>
          <p:nvPr/>
        </p:nvPicPr>
        <p:blipFill>
          <a:blip r:embed="rId3"/>
          <a:stretch>
            <a:fillRect/>
          </a:stretch>
        </p:blipFill>
        <p:spPr>
          <a:xfrm>
            <a:off x="590550" y="3365500"/>
            <a:ext cx="7962900" cy="2971800"/>
          </a:xfrm>
          <a:prstGeom prst="rect">
            <a:avLst/>
          </a:prstGeom>
          <a:noFill/>
          <a:ln w="9525">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p:cNvSpPr>
          <p:nvPr>
            <p:ph idx="1"/>
          </p:nvPr>
        </p:nvSpPr>
        <p:spPr>
          <a:xfrm>
            <a:off x="395288" y="476250"/>
            <a:ext cx="8229600" cy="4724400"/>
          </a:xfrm>
        </p:spPr>
        <p:txBody>
          <a:bodyPr wrap="square" lIns="91440" tIns="45720" rIns="91440" bIns="45720" anchor="t" anchorCtr="0"/>
          <a:lstStyle/>
          <a:p>
            <a:pPr eaLnBrk="1" hangingPunct="1">
              <a:buNone/>
            </a:pPr>
            <a:endParaRPr lang="en-US" altLang="zh-CN" b="1" dirty="0">
              <a:latin typeface="Times New Roman" panose="02020603050405020304" pitchFamily="18" charset="0"/>
            </a:endParaRPr>
          </a:p>
          <a:p>
            <a:pPr eaLnBrk="1" hangingPunct="1">
              <a:buNone/>
            </a:pPr>
            <a:r>
              <a:rPr lang="zh-CN" altLang="en-US" b="1" dirty="0">
                <a:latin typeface="Times New Roman" panose="02020603050405020304" pitchFamily="18" charset="0"/>
              </a:rPr>
              <a:t>      </a:t>
            </a:r>
            <a:endParaRPr lang="en-US" altLang="zh-CN" b="1" dirty="0">
              <a:latin typeface="Times New Roman" panose="02020603050405020304" pitchFamily="18" charset="0"/>
            </a:endParaRPr>
          </a:p>
        </p:txBody>
      </p:sp>
      <p:pic>
        <p:nvPicPr>
          <p:cNvPr id="29698" name="图片 3"/>
          <p:cNvPicPr>
            <a:picLocks noChangeAspect="1"/>
          </p:cNvPicPr>
          <p:nvPr/>
        </p:nvPicPr>
        <p:blipFill>
          <a:blip r:embed="rId2"/>
          <a:stretch>
            <a:fillRect/>
          </a:stretch>
        </p:blipFill>
        <p:spPr>
          <a:xfrm>
            <a:off x="750888" y="3536950"/>
            <a:ext cx="7518400" cy="2647950"/>
          </a:xfrm>
          <a:prstGeom prst="rect">
            <a:avLst/>
          </a:prstGeom>
          <a:noFill/>
          <a:ln w="9525">
            <a:noFill/>
          </a:ln>
        </p:spPr>
      </p:pic>
      <p:pic>
        <p:nvPicPr>
          <p:cNvPr id="29699" name="图片 4"/>
          <p:cNvPicPr>
            <a:picLocks noChangeAspect="1"/>
          </p:cNvPicPr>
          <p:nvPr/>
        </p:nvPicPr>
        <p:blipFill>
          <a:blip r:embed="rId3"/>
          <a:stretch>
            <a:fillRect/>
          </a:stretch>
        </p:blipFill>
        <p:spPr>
          <a:xfrm>
            <a:off x="2724150" y="1222375"/>
            <a:ext cx="2701925" cy="1546225"/>
          </a:xfrm>
          <a:prstGeom prst="rect">
            <a:avLst/>
          </a:prstGeom>
          <a:noFill/>
          <a:ln w="9525">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p:cNvSpPr>
          <p:nvPr>
            <p:ph idx="1"/>
          </p:nvPr>
        </p:nvSpPr>
        <p:spPr>
          <a:xfrm>
            <a:off x="395288" y="476250"/>
            <a:ext cx="8229600" cy="4724400"/>
          </a:xfrm>
        </p:spPr>
        <p:txBody>
          <a:bodyPr wrap="square" lIns="91440" tIns="45720" rIns="91440" bIns="45720" anchor="t"/>
          <a:lstStyle/>
          <a:p>
            <a:pPr marL="342900" marR="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3200" b="1" i="0" u="none" strike="noStrike" kern="0" cap="none" spc="0" normalizeH="0" baseline="0" noProof="1">
                <a:solidFill>
                  <a:schemeClr val="tx1"/>
                </a:solidFill>
                <a:latin typeface="Times New Roman" panose="02020603050405020304" pitchFamily="18" charset="0"/>
                <a:ea typeface="+mn-ea"/>
                <a:cs typeface="+mn-cs"/>
              </a:rPr>
              <a:t>5.2.2 OR</a:t>
            </a:r>
          </a:p>
          <a:p>
            <a:pPr marL="17780" marR="0" indent="-342900" algn="l" defTabSz="914400" rtl="0" eaLnBrk="1" fontAlgn="base" latinLnBrk="0" hangingPunct="1">
              <a:lnSpc>
                <a:spcPct val="100000"/>
              </a:lnSpc>
              <a:spcBef>
                <a:spcPts val="0"/>
              </a:spcBef>
              <a:spcAft>
                <a:spcPct val="0"/>
              </a:spcAft>
              <a:buClr>
                <a:schemeClr val="bg2"/>
              </a:buClr>
              <a:buSzPct val="75000"/>
              <a:buFont typeface="Wingdings" panose="05000000000000000000" pitchFamily="2" charset="2"/>
              <a:buNone/>
            </a:pPr>
            <a:endParaRPr kumimoji="0" lang="en-US" altLang="zh-CN" sz="3200" b="1" i="0" u="none" strike="noStrike" kern="0" cap="none" spc="0" normalizeH="0" baseline="0" noProof="1">
              <a:solidFill>
                <a:schemeClr val="tx1"/>
              </a:solidFill>
              <a:latin typeface="Times New Roman" panose="02020603050405020304" pitchFamily="18" charset="0"/>
              <a:ea typeface="+mn-ea"/>
              <a:cs typeface="+mn-cs"/>
            </a:endParaRPr>
          </a:p>
          <a:p>
            <a:pPr marL="342900" marR="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3200" b="1" i="0" u="none" strike="noStrike" kern="0" cap="none" spc="0" normalizeH="0" baseline="0" noProof="1">
                <a:solidFill>
                  <a:schemeClr val="tx1"/>
                </a:solidFill>
                <a:latin typeface="Times New Roman" panose="02020603050405020304" pitchFamily="18" charset="0"/>
                <a:ea typeface="+mn-ea"/>
                <a:cs typeface="+mn-cs"/>
              </a:rPr>
              <a:t>      </a:t>
            </a:r>
            <a:endParaRPr kumimoji="0" lang="en-US" altLang="zh-CN" sz="3200" b="1" i="0" u="none" strike="noStrike" kern="0" cap="none" spc="0" normalizeH="0" baseline="0" noProof="1">
              <a:solidFill>
                <a:schemeClr val="tx1"/>
              </a:solidFill>
              <a:latin typeface="Times New Roman" panose="02020603050405020304" pitchFamily="18" charset="0"/>
              <a:ea typeface="+mn-ea"/>
              <a:cs typeface="+mn-cs"/>
            </a:endParaRPr>
          </a:p>
        </p:txBody>
      </p:sp>
      <p:pic>
        <p:nvPicPr>
          <p:cNvPr id="30722" name="图片 3"/>
          <p:cNvPicPr>
            <a:picLocks noChangeAspect="1"/>
          </p:cNvPicPr>
          <p:nvPr/>
        </p:nvPicPr>
        <p:blipFill>
          <a:blip r:embed="rId2"/>
          <a:stretch>
            <a:fillRect/>
          </a:stretch>
        </p:blipFill>
        <p:spPr>
          <a:xfrm>
            <a:off x="4597400" y="377825"/>
            <a:ext cx="3003550" cy="2400300"/>
          </a:xfrm>
          <a:prstGeom prst="rect">
            <a:avLst/>
          </a:prstGeom>
          <a:noFill/>
          <a:ln w="9525">
            <a:noFill/>
          </a:ln>
        </p:spPr>
      </p:pic>
      <p:pic>
        <p:nvPicPr>
          <p:cNvPr id="30723" name="图片 4"/>
          <p:cNvPicPr>
            <a:picLocks noChangeAspect="1"/>
          </p:cNvPicPr>
          <p:nvPr/>
        </p:nvPicPr>
        <p:blipFill>
          <a:blip r:embed="rId3"/>
          <a:stretch>
            <a:fillRect/>
          </a:stretch>
        </p:blipFill>
        <p:spPr>
          <a:xfrm>
            <a:off x="657225" y="3230563"/>
            <a:ext cx="7829550" cy="2347912"/>
          </a:xfrm>
          <a:prstGeom prst="rect">
            <a:avLst/>
          </a:prstGeom>
          <a:noFill/>
          <a:ln w="9525">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5" name="内容占位符 3"/>
          <p:cNvPicPr>
            <a:picLocks noGrp="1" noChangeAspect="1"/>
          </p:cNvPicPr>
          <p:nvPr>
            <p:ph idx="1"/>
          </p:nvPr>
        </p:nvPicPr>
        <p:blipFill>
          <a:blip r:embed="rId2"/>
          <a:stretch>
            <a:fillRect/>
          </a:stretch>
        </p:blipFill>
        <p:spPr>
          <a:xfrm>
            <a:off x="912813" y="792163"/>
            <a:ext cx="6972300" cy="4954587"/>
          </a:xfr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p:cNvSpPr>
          <p:nvPr>
            <p:ph idx="1"/>
          </p:nvPr>
        </p:nvSpPr>
        <p:spPr>
          <a:xfrm>
            <a:off x="395288" y="476250"/>
            <a:ext cx="8229600" cy="4724400"/>
          </a:xfrm>
        </p:spPr>
        <p:txBody>
          <a:bodyPr wrap="square" lIns="91440" tIns="45720" rIns="91440" bIns="45720" anchor="t" anchorCtr="0"/>
          <a:lstStyle/>
          <a:p>
            <a:pPr eaLnBrk="1" hangingPunct="1">
              <a:buNone/>
            </a:pPr>
            <a:r>
              <a:rPr lang="en-US" altLang="zh-CN" b="1" dirty="0">
                <a:latin typeface="Times New Roman" panose="02020603050405020304" pitchFamily="18" charset="0"/>
              </a:rPr>
              <a:t>5.2.3 Not</a:t>
            </a:r>
          </a:p>
          <a:p>
            <a:pPr eaLnBrk="1" hangingPunct="1">
              <a:buNone/>
            </a:pPr>
            <a:r>
              <a:rPr lang="zh-CN" altLang="en-US" b="1" dirty="0">
                <a:latin typeface="Times New Roman" panose="02020603050405020304" pitchFamily="18" charset="0"/>
              </a:rPr>
              <a:t>      </a:t>
            </a:r>
            <a:endParaRPr lang="en-US" altLang="zh-CN" b="1" dirty="0">
              <a:latin typeface="Times New Roman" panose="02020603050405020304" pitchFamily="18" charset="0"/>
            </a:endParaRPr>
          </a:p>
        </p:txBody>
      </p:sp>
      <p:pic>
        <p:nvPicPr>
          <p:cNvPr id="32770" name="图片 3"/>
          <p:cNvPicPr>
            <a:picLocks noChangeAspect="1"/>
          </p:cNvPicPr>
          <p:nvPr/>
        </p:nvPicPr>
        <p:blipFill>
          <a:blip r:embed="rId2"/>
          <a:stretch>
            <a:fillRect/>
          </a:stretch>
        </p:blipFill>
        <p:spPr>
          <a:xfrm>
            <a:off x="5059363" y="727075"/>
            <a:ext cx="2676525" cy="1939925"/>
          </a:xfrm>
          <a:prstGeom prst="rect">
            <a:avLst/>
          </a:prstGeom>
          <a:noFill/>
          <a:ln w="9525">
            <a:noFill/>
          </a:ln>
        </p:spPr>
      </p:pic>
      <p:pic>
        <p:nvPicPr>
          <p:cNvPr id="32771" name="图片 4"/>
          <p:cNvPicPr>
            <a:picLocks noChangeAspect="1"/>
          </p:cNvPicPr>
          <p:nvPr/>
        </p:nvPicPr>
        <p:blipFill>
          <a:blip r:embed="rId3"/>
          <a:stretch>
            <a:fillRect/>
          </a:stretch>
        </p:blipFill>
        <p:spPr>
          <a:xfrm>
            <a:off x="889000" y="2667000"/>
            <a:ext cx="7366000" cy="3392488"/>
          </a:xfrm>
          <a:prstGeom prst="rect">
            <a:avLst/>
          </a:prstGeom>
          <a:noFill/>
          <a:ln w="9525">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p:cNvSpPr>
          <p:nvPr>
            <p:ph idx="1"/>
          </p:nvPr>
        </p:nvSpPr>
        <p:spPr>
          <a:xfrm>
            <a:off x="395288" y="476250"/>
            <a:ext cx="8229600" cy="4724400"/>
          </a:xfrm>
        </p:spPr>
        <p:txBody>
          <a:bodyPr wrap="square" lIns="91440" tIns="45720" rIns="91440" bIns="45720" anchor="t" anchorCtr="0"/>
          <a:lstStyle/>
          <a:p>
            <a:pPr eaLnBrk="1" hangingPunct="1">
              <a:buNone/>
            </a:pPr>
            <a:r>
              <a:rPr lang="zh-CN" altLang="en-US" b="1" dirty="0">
                <a:latin typeface="Times New Roman" panose="02020603050405020304" pitchFamily="18" charset="0"/>
              </a:rPr>
              <a:t> </a:t>
            </a:r>
            <a:r>
              <a:rPr lang="en-US" altLang="zh-CN" b="1" dirty="0">
                <a:latin typeface="Times New Roman" panose="02020603050405020304" pitchFamily="18" charset="0"/>
              </a:rPr>
              <a:t>Exercise</a:t>
            </a:r>
          </a:p>
          <a:p>
            <a:pPr eaLnBrk="1" hangingPunct="1">
              <a:buNone/>
            </a:pPr>
            <a:endParaRPr lang="en-US" altLang="zh-CN" b="1" dirty="0">
              <a:latin typeface="Times New Roman" panose="02020603050405020304" pitchFamily="18" charset="0"/>
            </a:endParaRPr>
          </a:p>
        </p:txBody>
      </p:sp>
      <p:pic>
        <p:nvPicPr>
          <p:cNvPr id="33794" name="图片 3"/>
          <p:cNvPicPr>
            <a:picLocks noChangeAspect="1"/>
          </p:cNvPicPr>
          <p:nvPr/>
        </p:nvPicPr>
        <p:blipFill>
          <a:blip r:embed="rId2"/>
          <a:stretch>
            <a:fillRect/>
          </a:stretch>
        </p:blipFill>
        <p:spPr>
          <a:xfrm>
            <a:off x="1287463" y="1514475"/>
            <a:ext cx="3052762" cy="2387600"/>
          </a:xfrm>
          <a:prstGeom prst="rect">
            <a:avLst/>
          </a:prstGeom>
          <a:noFill/>
          <a:ln w="9525">
            <a:noFill/>
          </a:ln>
        </p:spPr>
      </p:pic>
      <p:pic>
        <p:nvPicPr>
          <p:cNvPr id="33795" name="图片 4"/>
          <p:cNvPicPr>
            <a:picLocks noChangeAspect="1"/>
          </p:cNvPicPr>
          <p:nvPr/>
        </p:nvPicPr>
        <p:blipFill>
          <a:blip r:embed="rId3"/>
          <a:stretch>
            <a:fillRect/>
          </a:stretch>
        </p:blipFill>
        <p:spPr>
          <a:xfrm>
            <a:off x="5276850" y="3322638"/>
            <a:ext cx="3028950" cy="2370137"/>
          </a:xfrm>
          <a:prstGeom prst="rect">
            <a:avLst/>
          </a:prstGeom>
          <a:noFill/>
          <a:ln w="9525">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sym typeface="+mn-ea"/>
              </a:rPr>
              <a:t>右边表格描述的逻辑关系？</a:t>
            </a:r>
            <a:endParaRPr lang="zh-CN" altLang="en-US" sz="2600">
              <a:solidFill>
                <a:srgbClr val="000000"/>
              </a:solidFill>
              <a:latin typeface="微软雅黑" panose="020B0503020204020204" pitchFamily="34" charset="-122"/>
              <a:ea typeface="微软雅黑" panose="020B0503020204020204" pitchFamily="34" charset="-122"/>
            </a:endParaRPr>
          </a:p>
          <a:p>
            <a:pPr lvl="0" algn="l">
              <a:buNone/>
            </a:pPr>
            <a:endParaRPr lang="zh-CN" altLang="en-US" sz="260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p:cNvSpPr txBox="1"/>
              <p:nvPr>
                <p:custDataLst>
                  <p:tags r:id="rId3"/>
                </p:custDataLst>
              </p:nvPr>
            </p:nvSpPr>
            <p:spPr>
              <a:xfrm>
                <a:off x="1828800" y="2780665"/>
                <a:ext cx="6400800" cy="642620"/>
              </a:xfrm>
              <a:prstGeom prst="rect">
                <a:avLst/>
              </a:prstGeom>
              <a:noFill/>
            </p:spPr>
            <p:txBody>
              <a:bodyPr wrap="square" rtlCol="0" anchor="ctr" anchorCtr="0">
                <a:noAutofit/>
              </a:bodyPr>
              <a:lstStyle/>
              <a:p>
                <a:pPr lvl="0" algn="l">
                  <a:buNone/>
                </a:pPr>
                <a14:m>
                  <m:oMathPara xmlns:m="http://schemas.openxmlformats.org/officeDocument/2006/math">
                    <m:oMathParaPr>
                      <m:jc m:val="left"/>
                    </m:oMathParaPr>
                    <m:oMath xmlns:m="http://schemas.openxmlformats.org/officeDocument/2006/math">
                      <m:acc>
                        <m:accPr>
                          <m:chr m:val="̅"/>
                          <m:ctrlPr>
                            <a:rPr lang="en-US" altLang="zh-CN" sz="2600" i="1">
                              <a:solidFill>
                                <a:srgbClr val="000000"/>
                              </a:solidFill>
                              <a:latin typeface="Cambria Math" panose="02040503050406030204" pitchFamily="18" charset="0"/>
                              <a:ea typeface="微软雅黑" panose="020B0503020204020204" pitchFamily="34" charset="-122"/>
                              <a:cs typeface="Cambria Math" panose="02040503050406030204" charset="0"/>
                            </a:rPr>
                          </m:ctrlPr>
                        </m:accPr>
                        <m:e>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𝐴</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 </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𝑜𝑟</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 </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𝐵</m:t>
                          </m:r>
                        </m:e>
                      </m:acc>
                    </m:oMath>
                  </m:oMathPara>
                </a14:m>
                <a:endParaRPr lang="en-US" altLang="zh-CN" sz="2600">
                  <a:solidFill>
                    <a:srgbClr val="000000"/>
                  </a:solidFill>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custDataLst>
                  <p:tags r:id="rId19"/>
                </p:custDataLst>
              </p:nvPr>
            </p:nvSpPr>
            <p:spPr>
              <a:xfrm>
                <a:off x="1828800" y="2780665"/>
                <a:ext cx="6400800" cy="642620"/>
              </a:xfrm>
              <a:prstGeom prst="rect">
                <a:avLst/>
              </a:prstGeom>
              <a:blipFill rotWithShape="1">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custDataLst>
                  <p:tags r:id="rId4"/>
                </p:custDataLst>
              </p:nvPr>
            </p:nvSpPr>
            <p:spPr>
              <a:xfrm>
                <a:off x="1835785" y="3642995"/>
                <a:ext cx="6400800" cy="642620"/>
              </a:xfrm>
              <a:prstGeom prst="rect">
                <a:avLst/>
              </a:prstGeom>
              <a:noFill/>
            </p:spPr>
            <p:txBody>
              <a:bodyPr wrap="square" rtlCol="0" anchor="ctr" anchorCtr="0">
                <a:noAutofit/>
              </a:bodyPr>
              <a:lstStyle/>
              <a:p>
                <a:pPr lvl="0" algn="l">
                  <a:buNone/>
                </a:pPr>
                <a14:m>
                  <m:oMathPara xmlns:m="http://schemas.openxmlformats.org/officeDocument/2006/math">
                    <m:oMathParaPr>
                      <m:jc m:val="left"/>
                    </m:oMathParaPr>
                    <m:oMath xmlns:m="http://schemas.openxmlformats.org/officeDocument/2006/math">
                      <m:acc>
                        <m:accPr>
                          <m:chr m:val="̅"/>
                          <m:ctrlPr>
                            <a:rPr lang="en-US" altLang="zh-CN" sz="2600" i="1">
                              <a:solidFill>
                                <a:srgbClr val="000000"/>
                              </a:solidFill>
                              <a:latin typeface="Cambria Math" panose="02040503050406030204" pitchFamily="18" charset="0"/>
                              <a:ea typeface="微软雅黑" panose="020B0503020204020204" pitchFamily="34" charset="-122"/>
                              <a:cs typeface="Cambria Math" panose="02040503050406030204" charset="0"/>
                            </a:rPr>
                          </m:ctrlPr>
                        </m:accPr>
                        <m:e>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𝐴</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 </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𝑎𝑛𝑑</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 </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𝐵</m:t>
                          </m:r>
                        </m:e>
                      </m:acc>
                    </m:oMath>
                  </m:oMathPara>
                </a14:m>
                <a:endParaRPr lang="zh-CN" altLang="en-US" sz="2600">
                  <a:solidFill>
                    <a:srgbClr val="000000"/>
                  </a:solidFill>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custDataLst>
                  <p:tags r:id="rId21"/>
                </p:custDataLst>
              </p:nvPr>
            </p:nvSpPr>
            <p:spPr>
              <a:xfrm>
                <a:off x="1835785" y="3642995"/>
                <a:ext cx="6400800" cy="642620"/>
              </a:xfrm>
              <a:prstGeom prst="rect">
                <a:avLst/>
              </a:prstGeom>
              <a:blipFill rotWithShape="1">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custDataLst>
                  <p:tags r:id="rId5"/>
                </p:custDataLst>
              </p:nvPr>
            </p:nvSpPr>
            <p:spPr>
              <a:xfrm>
                <a:off x="1828800" y="4500245"/>
                <a:ext cx="6400800" cy="642620"/>
              </a:xfrm>
              <a:prstGeom prst="rect">
                <a:avLst/>
              </a:prstGeom>
              <a:noFill/>
            </p:spPr>
            <p:txBody>
              <a:bodyPr wrap="square" rtlCol="0" anchor="ctr" anchorCtr="0">
                <a:noAutofit/>
              </a:bodyPr>
              <a:lstStyle/>
              <a:p>
                <a:pPr lvl="0" algn="l">
                  <a:buNone/>
                </a:pPr>
                <a14:m>
                  <m:oMathPara xmlns:m="http://schemas.openxmlformats.org/officeDocument/2006/math">
                    <m:oMathParaPr>
                      <m:jc m:val="left"/>
                    </m:oMathParaPr>
                    <m:oMath xmlns:m="http://schemas.openxmlformats.org/officeDocument/2006/math">
                      <m:acc>
                        <m:accPr>
                          <m:chr m:val="̅"/>
                          <m:ctrlPr>
                            <a:rPr lang="en-US" altLang="zh-CN" sz="2600" i="1">
                              <a:solidFill>
                                <a:srgbClr val="000000"/>
                              </a:solidFill>
                              <a:latin typeface="Cambria Math" panose="02040503050406030204" pitchFamily="18" charset="0"/>
                              <a:ea typeface="微软雅黑" panose="020B0503020204020204" pitchFamily="34" charset="-122"/>
                              <a:cs typeface="Cambria Math" panose="02040503050406030204" charset="0"/>
                            </a:rPr>
                          </m:ctrlPr>
                        </m:accPr>
                        <m:e>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𝐴</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 </m:t>
                          </m:r>
                        </m:e>
                      </m:acc>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𝑜𝑟</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 </m:t>
                      </m:r>
                      <m:acc>
                        <m:accPr>
                          <m:chr m:val="̅"/>
                          <m:ctrlPr>
                            <a:rPr lang="en-US" altLang="zh-CN" sz="2600" i="1">
                              <a:solidFill>
                                <a:srgbClr val="000000"/>
                              </a:solidFill>
                              <a:latin typeface="Cambria Math" panose="02040503050406030204" pitchFamily="18" charset="0"/>
                              <a:ea typeface="微软雅黑" panose="020B0503020204020204" pitchFamily="34" charset="-122"/>
                              <a:cs typeface="Cambria Math" panose="02040503050406030204" charset="0"/>
                            </a:rPr>
                          </m:ctrlPr>
                        </m:accPr>
                        <m:e>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𝐵</m:t>
                          </m:r>
                        </m:e>
                      </m:acc>
                    </m:oMath>
                  </m:oMathPara>
                </a14:m>
                <a:endParaRPr lang="zh-CN" altLang="en-US" sz="2600">
                  <a:solidFill>
                    <a:srgbClr val="000000"/>
                  </a:solidFill>
                  <a:latin typeface="微软雅黑" panose="020B0503020204020204" pitchFamily="34" charset="-122"/>
                  <a:ea typeface="微软雅黑"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custDataLst>
                  <p:tags r:id="rId23"/>
                </p:custDataLst>
              </p:nvPr>
            </p:nvSpPr>
            <p:spPr>
              <a:xfrm>
                <a:off x="1828800" y="4500245"/>
                <a:ext cx="6400800" cy="642620"/>
              </a:xfrm>
              <a:prstGeom prst="rect">
                <a:avLst/>
              </a:prstGeom>
              <a:blipFill rotWithShape="1">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custDataLst>
                  <p:tags r:id="rId6"/>
                </p:custDataLst>
              </p:nvPr>
            </p:nvSpPr>
            <p:spPr>
              <a:xfrm>
                <a:off x="1828800" y="5357495"/>
                <a:ext cx="6400800" cy="642620"/>
              </a:xfrm>
              <a:prstGeom prst="rect">
                <a:avLst/>
              </a:prstGeom>
              <a:noFill/>
            </p:spPr>
            <p:txBody>
              <a:bodyPr wrap="square" rtlCol="0" anchor="ctr" anchorCtr="0">
                <a:noAutofit/>
              </a:bodyPr>
              <a:lstStyle/>
              <a:p>
                <a:pPr lvl="0" algn="l">
                  <a:buNone/>
                </a:pPr>
                <a14:m>
                  <m:oMathPara xmlns:m="http://schemas.openxmlformats.org/officeDocument/2006/math">
                    <m:oMathParaPr>
                      <m:jc m:val="left"/>
                    </m:oMathParaPr>
                    <m:oMath xmlns:m="http://schemas.openxmlformats.org/officeDocument/2006/math">
                      <m:acc>
                        <m:accPr>
                          <m:chr m:val="̅"/>
                          <m:ctrlPr>
                            <a:rPr lang="en-US" altLang="zh-CN" sz="2600" i="1">
                              <a:solidFill>
                                <a:srgbClr val="000000"/>
                              </a:solidFill>
                              <a:latin typeface="Cambria Math" panose="02040503050406030204" pitchFamily="18" charset="0"/>
                              <a:ea typeface="微软雅黑" panose="020B0503020204020204" pitchFamily="34" charset="-122"/>
                              <a:cs typeface="Cambria Math" panose="02040503050406030204" charset="0"/>
                            </a:rPr>
                          </m:ctrlPr>
                        </m:accPr>
                        <m:e>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𝐴</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 </m:t>
                          </m:r>
                        </m:e>
                      </m:acc>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𝑎𝑛𝑑</m:t>
                      </m:r>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 </m:t>
                      </m:r>
                      <m:acc>
                        <m:accPr>
                          <m:chr m:val="̅"/>
                          <m:ctrlPr>
                            <a:rPr lang="en-US" altLang="zh-CN" sz="2600" i="1">
                              <a:solidFill>
                                <a:srgbClr val="000000"/>
                              </a:solidFill>
                              <a:latin typeface="Cambria Math" panose="02040503050406030204" pitchFamily="18" charset="0"/>
                              <a:ea typeface="微软雅黑" panose="020B0503020204020204" pitchFamily="34" charset="-122"/>
                              <a:cs typeface="Cambria Math" panose="02040503050406030204" charset="0"/>
                            </a:rPr>
                          </m:ctrlPr>
                        </m:accPr>
                        <m:e>
                          <m:r>
                            <a:rPr lang="en-US" altLang="zh-CN" sz="2600" i="1">
                              <a:solidFill>
                                <a:srgbClr val="000000"/>
                              </a:solidFill>
                              <a:latin typeface="Cambria Math" panose="02040503050406030204" charset="0"/>
                              <a:ea typeface="微软雅黑" panose="020B0503020204020204" pitchFamily="34" charset="-122"/>
                              <a:cs typeface="Cambria Math" panose="02040503050406030204" charset="0"/>
                            </a:rPr>
                            <m:t>𝐵</m:t>
                          </m:r>
                        </m:e>
                      </m:acc>
                    </m:oMath>
                  </m:oMathPara>
                </a14:m>
                <a:endParaRPr lang="zh-CN" altLang="en-US" sz="2600">
                  <a:solidFill>
                    <a:srgbClr val="000000"/>
                  </a:solidFill>
                  <a:latin typeface="微软雅黑" panose="020B0503020204020204" pitchFamily="34" charset="-122"/>
                  <a:ea typeface="微软雅黑" panose="020B0503020204020204" pitchFamily="34" charset="-122"/>
                </a:endParaRPr>
              </a:p>
            </p:txBody>
          </p:sp>
        </mc:Choice>
        <mc:Fallback xmlns="">
          <p:sp>
            <p:nvSpPr>
              <p:cNvPr id="7" name="文本框 6"/>
              <p:cNvSpPr txBox="1">
                <a:spLocks noRot="1" noChangeAspect="1" noMove="1" noResize="1" noEditPoints="1" noAdjustHandles="1" noChangeArrowheads="1" noChangeShapeType="1" noTextEdit="1"/>
              </p:cNvSpPr>
              <p:nvPr>
                <p:custDataLst>
                  <p:tags r:id="rId25"/>
                </p:custDataLst>
              </p:nvPr>
            </p:nvSpPr>
            <p:spPr>
              <a:xfrm>
                <a:off x="1828800" y="5357495"/>
                <a:ext cx="6400800" cy="642620"/>
              </a:xfrm>
              <a:prstGeom prst="rect">
                <a:avLst/>
              </a:prstGeom>
              <a:blipFill rotWithShape="1">
                <a:blip r:embed="rId26"/>
                <a:stretch>
                  <a:fillRect/>
                </a:stretch>
              </a:blipFill>
            </p:spPr>
            <p:txBody>
              <a:bodyPr/>
              <a:lstStyle/>
              <a:p>
                <a:r>
                  <a:rPr lang="zh-CN" altLang="en-US">
                    <a:noFill/>
                  </a:rPr>
                  <a:t> </a:t>
                </a:r>
              </a:p>
            </p:txBody>
          </p:sp>
        </mc:Fallback>
      </mc:AlternateContent>
      <p:sp>
        <p:nvSpPr>
          <p:cNvPr id="8" name="矩形 7"/>
          <p:cNvSpPr>
            <a:spLocks noChangeAspect="1"/>
          </p:cNvSpPr>
          <p:nvPr>
            <p:custDataLst>
              <p:tags r:id="rId7"/>
            </p:custDataLst>
          </p:nvPr>
        </p:nvSpPr>
        <p:spPr>
          <a:xfrm>
            <a:off x="1114425" y="28498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p>
        </p:txBody>
      </p:sp>
      <p:sp>
        <p:nvSpPr>
          <p:cNvPr id="9" name="矩形 8"/>
          <p:cNvSpPr>
            <a:spLocks noChangeAspect="1"/>
          </p:cNvSpPr>
          <p:nvPr>
            <p:custDataLst>
              <p:tags r:id="rId8"/>
            </p:custDataLst>
          </p:nvPr>
        </p:nvSpPr>
        <p:spPr>
          <a:xfrm>
            <a:off x="1114425" y="3707130"/>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p>
        </p:txBody>
      </p:sp>
      <p:sp>
        <p:nvSpPr>
          <p:cNvPr id="10" name="矩形 9"/>
          <p:cNvSpPr>
            <a:spLocks noChangeAspect="1"/>
          </p:cNvSpPr>
          <p:nvPr>
            <p:custDataLst>
              <p:tags r:id="rId9"/>
            </p:custDataLst>
          </p:nvPr>
        </p:nvSpPr>
        <p:spPr>
          <a:xfrm>
            <a:off x="1114425" y="4564380"/>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p>
        </p:txBody>
      </p:sp>
      <p:sp>
        <p:nvSpPr>
          <p:cNvPr id="11" name="矩形 10"/>
          <p:cNvSpPr>
            <a:spLocks noChangeAspect="1"/>
          </p:cNvSpPr>
          <p:nvPr>
            <p:custDataLst>
              <p:tags r:id="rId10"/>
            </p:custDataLst>
          </p:nvPr>
        </p:nvSpPr>
        <p:spPr>
          <a:xfrm>
            <a:off x="1114425" y="54216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p>
        </p:txBody>
      </p:sp>
      <p:sp>
        <p:nvSpPr>
          <p:cNvPr id="12" name="圆角矩形 1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p>
        </p:txBody>
      </p:sp>
      <p:pic>
        <p:nvPicPr>
          <p:cNvPr id="33795" name="图片 4"/>
          <p:cNvPicPr>
            <a:picLocks noChangeAspect="1"/>
          </p:cNvPicPr>
          <p:nvPr/>
        </p:nvPicPr>
        <p:blipFill>
          <a:blip r:embed="rId27"/>
          <a:stretch>
            <a:fillRect/>
          </a:stretch>
        </p:blipFill>
        <p:spPr>
          <a:xfrm>
            <a:off x="5652135" y="1340168"/>
            <a:ext cx="3028950" cy="2370137"/>
          </a:xfrm>
          <a:prstGeom prst="rect">
            <a:avLst/>
          </a:prstGeom>
          <a:noFill/>
          <a:ln w="9525">
            <a:noFill/>
          </a:ln>
        </p:spPr>
      </p:pic>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4"/>
              </p:custDataLst>
            </p:nvPr>
          </p:nvSpPr>
          <p:spPr>
            <a:xfrm>
              <a:off x="0" y="0"/>
              <a:ext cx="1440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多选题</a:t>
              </a:r>
            </a:p>
          </p:txBody>
        </p:sp>
        <p:sp>
          <p:nvSpPr>
            <p:cNvPr id="16" name="TipText"/>
            <p:cNvSpPr txBox="1"/>
            <p:nvPr>
              <p:custDataLst>
                <p:tags r:id="rId17"/>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2分</a:t>
              </a:r>
            </a:p>
          </p:txBody>
        </p:sp>
      </p:grpSp>
      <p:pic>
        <p:nvPicPr>
          <p:cNvPr id="2" name="图片 1" descr="tmp4412"/>
          <p:cNvPicPr>
            <a:picLocks noChangeAspect="1"/>
          </p:cNvPicPr>
          <p:nvPr>
            <p:custDataLst>
              <p:tags r:id="rId13"/>
            </p:custDataLst>
          </p:nvPr>
        </p:nvPicPr>
        <p:blipFill>
          <a:blip r:embed="rId28"/>
          <a:stretch>
            <a:fillRect/>
          </a:stretch>
        </p:blipFill>
        <p:spPr>
          <a:xfrm>
            <a:off x="7594600" y="63500"/>
            <a:ext cx="1422400" cy="508000"/>
          </a:xfrm>
          <a:prstGeom prst="rect">
            <a:avLst/>
          </a:prstGeom>
        </p:spPr>
      </p:pic>
    </p:spTree>
    <p:custDataLst>
      <p:tags r:id="rId1"/>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652463" y="2903538"/>
            <a:ext cx="7315200" cy="2143125"/>
          </a:xfrm>
          <a:prstGeom prst="rect">
            <a:avLst/>
          </a:prstGeom>
          <a:noFill/>
        </p:spPr>
        <p:txBody>
          <a:bodyPr vert="horz" wrap="square" rtlCol="0" anchor="ctr" anchorCtr="0">
            <a:noAutofit/>
          </a:bodyPr>
          <a:lstStyle/>
          <a:p>
            <a:pPr marR="0" defTabSz="914400">
              <a:buClrTx/>
              <a:buSzTx/>
              <a:buFontTx/>
              <a:buNone/>
              <a:defRPr/>
            </a:pPr>
            <a:r>
              <a:rPr kumimoji="0" lang="en-US" altLang="zh-CN" sz="2600" kern="1200" cap="none" spc="0" normalizeH="0" baseline="0" noProof="0" dirty="0">
                <a:solidFill>
                  <a:srgbClr val="000000"/>
                </a:solidFill>
                <a:latin typeface="微软雅黑" panose="020B0503020204020204" pitchFamily="34" charset="-122"/>
                <a:ea typeface="微软雅黑" panose="020B0503020204020204" pitchFamily="34" charset="-122"/>
                <a:cs typeface="+mn-cs"/>
                <a:sym typeface="微软雅黑" panose="020B0503020204020204" pitchFamily="34" charset="-122"/>
              </a:rPr>
              <a:t>X1     X2   M0     Y0</a:t>
            </a:r>
          </a:p>
          <a:p>
            <a:pPr marL="514350" marR="0" indent="-514350" defTabSz="914400">
              <a:buClrTx/>
              <a:buSzTx/>
              <a:buFontTx/>
              <a:buAutoNum type="arabicPlain"/>
              <a:defRPr/>
            </a:pPr>
            <a:r>
              <a:rPr kumimoji="0" lang="en-US" altLang="zh-CN" sz="2600" kern="1200" cap="none" spc="0" normalizeH="0" baseline="0" noProof="0" dirty="0">
                <a:solidFill>
                  <a:srgbClr val="000000"/>
                </a:solidFill>
                <a:latin typeface="微软雅黑" panose="020B0503020204020204" pitchFamily="34" charset="-122"/>
                <a:ea typeface="微软雅黑" panose="020B0503020204020204" pitchFamily="34" charset="-122"/>
                <a:cs typeface="+mn-cs"/>
                <a:sym typeface="微软雅黑" panose="020B0503020204020204" pitchFamily="34" charset="-122"/>
              </a:rPr>
              <a:t>     0      0     </a:t>
            </a:r>
            <a:r>
              <a:rPr kumimoji="0" lang="zh-CN" altLang="en-US" sz="2600" kern="1200" cap="none" spc="0" normalizeH="0" baseline="0" noProof="0" dirty="0">
                <a:solidFill>
                  <a:srgbClr val="639EF4"/>
                </a:solidFill>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en-US" altLang="zh-CN" sz="2600" kern="1200" cap="none" spc="0" normalizeH="0" baseline="0" noProof="0" dirty="0">
                <a:solidFill>
                  <a:srgbClr val="639EF4"/>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kumimoji="0" lang="zh-CN" altLang="en-US" sz="2600" kern="1200" cap="none" spc="0" normalizeH="0" baseline="0" noProof="0" dirty="0">
                <a:solidFill>
                  <a:srgbClr val="639EF4"/>
                </a:solidFill>
                <a:latin typeface="微软雅黑" panose="020B0503020204020204" pitchFamily="34" charset="-122"/>
                <a:ea typeface="微软雅黑" panose="020B0503020204020204" pitchFamily="34" charset="-122"/>
                <a:cs typeface="+mn-cs"/>
                <a:sym typeface="微软雅黑" panose="020B0503020204020204" pitchFamily="34" charset="-122"/>
              </a:rPr>
              <a:t>填空</a:t>
            </a:r>
            <a:r>
              <a:rPr kumimoji="0" lang="en-US" altLang="zh-CN" sz="2600" kern="1200" cap="none" spc="0" normalizeH="0" baseline="0" noProof="0" dirty="0">
                <a:solidFill>
                  <a:srgbClr val="639EF4"/>
                </a:solidFill>
                <a:latin typeface="微软雅黑" panose="020B0503020204020204" pitchFamily="34" charset="-122"/>
                <a:ea typeface="微软雅黑" panose="020B0503020204020204" pitchFamily="34" charset="-122"/>
                <a:cs typeface="+mn-cs"/>
                <a:sym typeface="微软雅黑" panose="020B0503020204020204" pitchFamily="34" charset="-122"/>
              </a:rPr>
              <a:t>1]</a:t>
            </a:r>
          </a:p>
          <a:p>
            <a:pPr marR="0" defTabSz="914400">
              <a:buClrTx/>
              <a:buSzTx/>
              <a:buFontTx/>
              <a:buNone/>
              <a:defRPr/>
            </a:pPr>
            <a:r>
              <a:rPr kumimoji="0" lang="en-US" altLang="zh-CN" sz="2600" kern="1200" cap="none" spc="0" normalizeH="0" baseline="0" noProof="0" dirty="0">
                <a:solidFill>
                  <a:srgbClr val="000000"/>
                </a:solidFill>
                <a:latin typeface="微软雅黑" panose="020B0503020204020204" pitchFamily="34" charset="-122"/>
                <a:ea typeface="微软雅黑" panose="020B0503020204020204" pitchFamily="34" charset="-122"/>
                <a:cs typeface="+mn-cs"/>
                <a:sym typeface="微软雅黑" panose="020B0503020204020204" pitchFamily="34" charset="-122"/>
              </a:rPr>
              <a:t>1        1      1      </a:t>
            </a:r>
            <a:r>
              <a:rPr kumimoji="0" lang="en-US" altLang="zh-CN" sz="2600" kern="1200" cap="none" spc="0" normalizeH="0" baseline="0" noProof="0" dirty="0">
                <a:solidFill>
                  <a:srgbClr val="639EF4"/>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kumimoji="0" lang="zh-CN" altLang="en-US" sz="2600" kern="1200" cap="none" spc="0" normalizeH="0" baseline="0" noProof="0" dirty="0">
                <a:solidFill>
                  <a:srgbClr val="639EF4"/>
                </a:solidFill>
                <a:latin typeface="微软雅黑" panose="020B0503020204020204" pitchFamily="34" charset="-122"/>
                <a:ea typeface="微软雅黑" panose="020B0503020204020204" pitchFamily="34" charset="-122"/>
                <a:cs typeface="+mn-cs"/>
                <a:sym typeface="微软雅黑" panose="020B0503020204020204" pitchFamily="34" charset="-122"/>
              </a:rPr>
              <a:t>填空</a:t>
            </a:r>
            <a:r>
              <a:rPr kumimoji="0" lang="en-US" altLang="zh-CN" sz="2600" kern="1200" cap="none" spc="0" normalizeH="0" baseline="0" noProof="0" dirty="0">
                <a:solidFill>
                  <a:srgbClr val="639EF4"/>
                </a:solidFill>
                <a:latin typeface="微软雅黑" panose="020B0503020204020204" pitchFamily="34" charset="-122"/>
                <a:ea typeface="微软雅黑" panose="020B0503020204020204" pitchFamily="34" charset="-122"/>
                <a:cs typeface="+mn-cs"/>
                <a:sym typeface="微软雅黑" panose="020B0503020204020204" pitchFamily="34" charset="-122"/>
              </a:rPr>
              <a:t>2]</a:t>
            </a:r>
          </a:p>
          <a:p>
            <a:pPr marR="0" defTabSz="914400">
              <a:buClrTx/>
              <a:buSzTx/>
              <a:buFontTx/>
              <a:buNone/>
              <a:defRPr/>
            </a:pPr>
            <a:r>
              <a:rPr kumimoji="0" lang="en-US" altLang="zh-CN" sz="2600" kern="1200" cap="none" spc="0" normalizeH="0" baseline="0" noProof="0" dirty="0">
                <a:solidFill>
                  <a:srgbClr val="000000"/>
                </a:solidFill>
                <a:latin typeface="微软雅黑" panose="020B0503020204020204" pitchFamily="34" charset="-122"/>
                <a:ea typeface="微软雅黑" panose="020B0503020204020204" pitchFamily="34" charset="-122"/>
                <a:cs typeface="+mn-cs"/>
                <a:sym typeface="微软雅黑" panose="020B0503020204020204" pitchFamily="34" charset="-122"/>
              </a:rPr>
              <a:t>0        0      1      </a:t>
            </a:r>
            <a:r>
              <a:rPr kumimoji="0" lang="en-US" altLang="zh-CN" sz="2600" kern="1200" cap="none" spc="0" normalizeH="0" baseline="0" noProof="0" dirty="0">
                <a:solidFill>
                  <a:srgbClr val="639EF4"/>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kumimoji="0" lang="zh-CN" altLang="en-US" sz="2600" kern="1200" cap="none" spc="0" normalizeH="0" baseline="0" noProof="0" dirty="0">
                <a:solidFill>
                  <a:srgbClr val="639EF4"/>
                </a:solidFill>
                <a:latin typeface="微软雅黑" panose="020B0503020204020204" pitchFamily="34" charset="-122"/>
                <a:ea typeface="微软雅黑" panose="020B0503020204020204" pitchFamily="34" charset="-122"/>
                <a:cs typeface="+mn-cs"/>
                <a:sym typeface="微软雅黑" panose="020B0503020204020204" pitchFamily="34" charset="-122"/>
              </a:rPr>
              <a:t>填空</a:t>
            </a:r>
            <a:r>
              <a:rPr kumimoji="0" lang="en-US" altLang="zh-CN" sz="2600" kern="1200" cap="none" spc="0" normalizeH="0" baseline="0" noProof="0" dirty="0">
                <a:solidFill>
                  <a:srgbClr val="639EF4"/>
                </a:solidFill>
                <a:latin typeface="微软雅黑" panose="020B0503020204020204" pitchFamily="34" charset="-122"/>
                <a:ea typeface="微软雅黑" panose="020B0503020204020204" pitchFamily="34" charset="-122"/>
                <a:cs typeface="+mn-cs"/>
                <a:sym typeface="微软雅黑" panose="020B0503020204020204" pitchFamily="34" charset="-122"/>
              </a:rPr>
              <a:t>3]</a:t>
            </a:r>
            <a:r>
              <a:rPr kumimoji="0" lang="en-US" altLang="zh-CN" sz="2600" kern="1200" cap="none" spc="0" normalizeH="0" baseline="0" noProof="0" dirty="0">
                <a:solidFill>
                  <a:srgbClr val="000000"/>
                </a:solidFill>
                <a:latin typeface="微软雅黑" panose="020B0503020204020204" pitchFamily="34" charset="-122"/>
                <a:ea typeface="微软雅黑" panose="020B0503020204020204" pitchFamily="34" charset="-122"/>
                <a:cs typeface="+mn-cs"/>
                <a:sym typeface="微软雅黑" panose="020B0503020204020204" pitchFamily="34" charset="-122"/>
              </a:rPr>
              <a:t> </a:t>
            </a:r>
            <a:endParaRPr kumimoji="0" lang="zh-CN" altLang="en-US" sz="2600" kern="1200" cap="none" spc="0" normalizeH="0" baseline="0" noProof="0" dirty="0">
              <a:solidFill>
                <a:srgbClr val="000000"/>
              </a:solidFill>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圆角矩形 5"/>
          <p:cNvSpPr/>
          <p:nvPr>
            <p:custDataLst>
              <p:tags r:id="rId3"/>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作答</a:t>
            </a:r>
          </a:p>
        </p:txBody>
      </p:sp>
      <p:sp>
        <p:nvSpPr>
          <p:cNvPr id="12" name="矩形 11"/>
          <p:cNvSpPr/>
          <p:nvPr>
            <p:custDataLst>
              <p:tags r:id="rId4"/>
            </p:custDataLst>
          </p:nvPr>
        </p:nvSpPr>
        <p:spPr>
          <a:xfrm>
            <a:off x="0" y="5849938"/>
            <a:ext cx="9144000" cy="365125"/>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1" forceAA="0" compatLnSpc="1">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rgbClr val="F84F4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正常使用填空题需</a:t>
            </a:r>
            <a:r>
              <a:rPr kumimoji="0" lang="en-US" altLang="zh-CN" sz="1200" b="0" i="0" u="none" strike="noStrike" kern="1200" cap="none" spc="0" normalizeH="0" baseline="0" noProof="0">
                <a:ln>
                  <a:noFill/>
                </a:ln>
                <a:solidFill>
                  <a:srgbClr val="F84F4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3.0</a:t>
            </a:r>
            <a:r>
              <a:rPr kumimoji="0" lang="zh-CN" altLang="en-US" sz="1200" b="0" i="0" u="none" strike="noStrike" kern="1200" cap="none" spc="0" normalizeH="0" baseline="0" noProof="0">
                <a:ln>
                  <a:noFill/>
                </a:ln>
                <a:solidFill>
                  <a:srgbClr val="F84F4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以上版本雨课堂</a:t>
            </a:r>
          </a:p>
        </p:txBody>
      </p:sp>
      <p:pic>
        <p:nvPicPr>
          <p:cNvPr id="88068" name="图片 -2147482598" descr="1598152820(1)"/>
          <p:cNvPicPr>
            <a:picLocks noChangeAspect="1"/>
          </p:cNvPicPr>
          <p:nvPr/>
        </p:nvPicPr>
        <p:blipFill>
          <a:blip r:embed="rId11">
            <a:lum bright="6000" contrast="54000"/>
          </a:blip>
          <a:stretch>
            <a:fillRect/>
          </a:stretch>
        </p:blipFill>
        <p:spPr>
          <a:xfrm>
            <a:off x="684213" y="798513"/>
            <a:ext cx="2459037" cy="1646237"/>
          </a:xfrm>
          <a:prstGeom prst="rect">
            <a:avLst/>
          </a:prstGeom>
          <a:noFill/>
          <a:ln w="9525">
            <a:noFill/>
          </a:ln>
        </p:spPr>
      </p:pic>
      <p:grpSp>
        <p:nvGrpSpPr>
          <p:cNvPr id="88069" name="组合 10"/>
          <p:cNvGrpSpPr/>
          <p:nvPr/>
        </p:nvGrpSpPr>
        <p:grpSpPr>
          <a:xfrm>
            <a:off x="0" y="0"/>
            <a:ext cx="9144000" cy="635000"/>
            <a:chOff x="0" y="0"/>
            <a:chExt cx="9144000" cy="635000"/>
          </a:xfrm>
        </p:grpSpPr>
        <p:sp>
          <p:nvSpPr>
            <p:cNvPr id="7"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8072" name="TypeText"/>
            <p:cNvSpPr txBox="1"/>
            <p:nvPr>
              <p:custDataLst>
                <p:tags r:id="rId8"/>
              </p:custDataLst>
            </p:nvPr>
          </p:nvSpPr>
          <p:spPr>
            <a:xfrm>
              <a:off x="254000" y="0"/>
              <a:ext cx="1905000" cy="635000"/>
            </a:xfrm>
            <a:prstGeom prst="rect">
              <a:avLst/>
            </a:prstGeom>
            <a:noFill/>
            <a:ln w="9525">
              <a:noFill/>
            </a:ln>
          </p:spPr>
          <p:txBody>
            <a:bodyPr wrap="none" anchor="ctr" anchorCtr="0"/>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p>
          </p:txBody>
        </p:sp>
        <p:sp>
          <p:nvSpPr>
            <p:cNvPr id="88073" name="TipText"/>
            <p:cNvSpPr txBox="1"/>
            <p:nvPr>
              <p:custDataLst>
                <p:tags r:id="rId9"/>
              </p:custDataLst>
            </p:nvPr>
          </p:nvSpPr>
          <p:spPr>
            <a:xfrm>
              <a:off x="1427480" y="109220"/>
              <a:ext cx="2286000" cy="508000"/>
            </a:xfrm>
            <a:prstGeom prst="rect">
              <a:avLst/>
            </a:prstGeom>
            <a:noFill/>
            <a:ln w="9525">
              <a:noFill/>
            </a:ln>
          </p:spPr>
          <p:txBody>
            <a:bodyPr wrap="none" anchor="ctr" anchorCtr="0"/>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88074" name="图片 3"/>
          <p:cNvPicPr/>
          <p:nvPr>
            <p:custDataLst>
              <p:tags r:id="rId5"/>
            </p:custDataLst>
          </p:nvPr>
        </p:nvPicPr>
        <p:blipFill>
          <a:blip r:embed="rId12"/>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5"/>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 val="FillBlank"/>
  <p:tag name="PROBLEMSCORE" val="1.0"/>
  <p:tag name="PROBLEMBLANK" val="[{&quot;Num&quot;:1,&quot;Score&quot;:0.5,&quot;Answers&quot;:[&quot;RAM&quot;],&quot;CaseSensitive&quot;:false,&quot;FuzzyMatch&quot;:false},{&quot;Num&quot;:2,&quot;Score&quot;:0.5,&quot;Answers&quot;:[&quot;RAM&quot;],&quot;CaseSensitive&quot;:false,&quot;FuzzyMatch&quot;:false}]"/>
  <p:tag name="PROBLEMBLANKKEYWORD" val="填空"/>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5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 val="FillBlank"/>
  <p:tag name="PROBLEMSCORE" val="1.0"/>
  <p:tag name="PROBLEMBLANK" val="[{&quot;Num&quot;:1,&quot;Score&quot;:1.0,&quot;Answers&quot;:[&quot;分时操作&quot;,&quot;分时&quot;],&quot;CaseSensitive&quot;:false,&quot;FuzzyMatch&quot;:true}]"/>
  <p:tag name="PROBLEMBLANKKEYWORD" val="填空"/>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6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3.0"/>
  <p:tag name="PROBLEMBLANK" val="[{&quot;Num&quot;:1,&quot;Score&quot;:1.0,&quot;Answers&quot;:[&quot;输入采样&quot;,&quot;输入处理&quot;],&quot;CaseSensitive&quot;:false,&quot;FuzzyMatch&quot;:false},{&quot;Num&quot;:2,&quot;Score&quot;:1.0,&quot;Answers&quot;:[&quot;程序执行&quot;,&quot;程序处理&quot;],&quot;CaseSensitive&quot;:false,&quot;FuzzyMatch&quot;:false},{&quot;Num&quot;:3,&quot;Score&quot;:1.0,&quot;Answers&quot;:[&quot;输出刷新&quot;,&quot;输出处理&quot;],&quot;CaseSensitive&quot;:false,&quot;FuzzyMatch&quot;:false}]"/>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7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7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5"/>
</p:tagLst>
</file>

<file path=ppt/tags/tag7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3.0"/>
  <p:tag name="PROBLEMBLANK" val="[{&quot;Num&quot;:1,&quot;Score&quot;:1.0,&quot;Answers&quot;:[&quot;1&quot;],&quot;CaseSensitive&quot;:false,&quot;FuzzyMatch&quot;:false},{&quot;Num&quot;:2,&quot;Score&quot;:1.0,&quot;Answers&quot;:[&quot;0&quot;],&quot;CaseSensitive&quot;:false,&quot;FuzzyMatch&quot;:false},{&quot;Num&quot;:3,&quot;Score&quot;:1.0,&quot;Answers&quot;:[&quot;1&quot;],&quot;CaseSensitive&quot;:false,&quot;FuzzyMatch&quot;:false}]"/>
</p:tagLst>
</file>

<file path=ppt/tags/tag9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98.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9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0.xml><?xml version="1.0" encoding="utf-8"?>
<p:tagLst xmlns:p="http://schemas.openxmlformats.org/presentationml/2006/main">
  <p:tag name="RAINPROBLEM" val="ProblemItem"/>
</p:tagLst>
</file>

<file path=ppt/tags/tag910.xml><?xml version="1.0" encoding="utf-8"?>
<p:tagLst xmlns:p="http://schemas.openxmlformats.org/presentationml/2006/main">
  <p:tag name="RAINPROBLEM" val="ProblemItem"/>
</p:tagLst>
</file>

<file path=ppt/tags/tag930.xml><?xml version="1.0" encoding="utf-8"?>
<p:tagLst xmlns:p="http://schemas.openxmlformats.org/presentationml/2006/main">
  <p:tag name="RAINPROBLEM" val="ProblemItem"/>
</p:tagLst>
</file>

<file path=ppt/tags/tag950.xml><?xml version="1.0" encoding="utf-8"?>
<p:tagLst xmlns:p="http://schemas.openxmlformats.org/presentationml/2006/main">
  <p:tag name="RAINPROBLEM" val="ProblemItem"/>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40</TotalTime>
  <Words>4951</Words>
  <Application>Microsoft Office PowerPoint</Application>
  <PresentationFormat>全屏显示(4:3)</PresentationFormat>
  <Paragraphs>341</Paragraphs>
  <Slides>89</Slides>
  <Notes>0</Notes>
  <HiddenSlides>0</HiddenSlides>
  <MMClips>0</MMClips>
  <ScaleCrop>false</ScaleCrop>
  <HeadingPairs>
    <vt:vector size="8" baseType="variant">
      <vt:variant>
        <vt:lpstr>已用的字体</vt:lpstr>
      </vt:variant>
      <vt:variant>
        <vt:i4>8</vt:i4>
      </vt:variant>
      <vt:variant>
        <vt:lpstr>主题</vt:lpstr>
      </vt:variant>
      <vt:variant>
        <vt:i4>4</vt:i4>
      </vt:variant>
      <vt:variant>
        <vt:lpstr>嵌入 OLE 服务器</vt:lpstr>
      </vt:variant>
      <vt:variant>
        <vt:i4>2</vt:i4>
      </vt:variant>
      <vt:variant>
        <vt:lpstr>幻灯片标题</vt:lpstr>
      </vt:variant>
      <vt:variant>
        <vt:i4>89</vt:i4>
      </vt:variant>
    </vt:vector>
  </HeadingPairs>
  <TitlesOfParts>
    <vt:vector size="103" baseType="lpstr">
      <vt:lpstr>黑体</vt:lpstr>
      <vt:lpstr>宋体</vt:lpstr>
      <vt:lpstr>微软雅黑</vt:lpstr>
      <vt:lpstr>Arial</vt:lpstr>
      <vt:lpstr>Arial Black</vt:lpstr>
      <vt:lpstr>Cambria Math</vt:lpstr>
      <vt:lpstr>Times New Roman</vt:lpstr>
      <vt:lpstr>Wingdings</vt:lpstr>
      <vt:lpstr>Pixel</vt:lpstr>
      <vt:lpstr>1_Pixel</vt:lpstr>
      <vt:lpstr>2_Pixel</vt:lpstr>
      <vt:lpstr>4_Pixel</vt:lpstr>
      <vt:lpstr>Paintbrush Picture</vt:lpstr>
      <vt:lpstr>Photoshop.Image.7</vt:lpstr>
      <vt:lpstr>第2章   可编程序控制器的基础知识</vt:lpstr>
      <vt:lpstr>第2章   可编程序控制器的基础知识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liuml</dc:creator>
  <cp:lastModifiedBy>翟晓东</cp:lastModifiedBy>
  <cp:revision>74</cp:revision>
  <dcterms:created xsi:type="dcterms:W3CDTF">2005-11-29T07:24:00Z</dcterms:created>
  <dcterms:modified xsi:type="dcterms:W3CDTF">2025-09-09T09:28:57Z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ICV">
    <vt:lpwstr>18ED01B04EFE44DC80F425701039E8B4</vt:lpwstr>
  </property>
</Properties>
</file>